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je suis Joseph-Desmon Yonzou du groupe GR46. Je vous présente aujourd'hui le projet CIA — Hybrid Infrastructure, rendu T-NSA-810. L'objectif : déployer et sécuriser une infrastructure hybride sur 2 sites distants, avec une approche GitOps stricte (tout-code, tout-version, tout-audit), une défense en profondeur, et une observabilité runtime live. La présentation dure 20 minutes, suivies de 10 minutes de Q&amp;R. À droite, les chiffres-clés du projet livré.</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mandat client est classique : 2 sites distants, garantir le triptyque CIA — confidentialité, intégrité, audit. Notre parti pris est radical : tout est code (Terraform + Ansible), tout est versionné dans Git, et tout est auditable. Aucune action manuelle non reproductible. C'est ce qui fait la différence entre un projet 'qui marche' et un projet 'qui se reproduit'.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notre architecture cible. Deux clusters Proxmox loués à OVH (ns3050272 = Site A, ns3183326 = Site B), trois VMs sur chaque site, reliés par un tunnel OpenVPN site-à-site chiffré en AES-256-GCM. Site A héberge le hub VPN, NetBox et Vault. Site B héberge nos services et fait office de site secondaire. La couche observabilité Elastic+Kibana tourne sur le poste de pilotage en WSL pour cette démo (via tunnel SSH inverse, on y reviendra). Le Site C Azure était notre bonus cloud — code 100% prêt, 7 ressources réseau créées en runtime, seule la VM Linux bloquée par une pénurie de capacité B-series Azure ce week-end.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stack est volontairement classique et open source. Terraform pour le provisioning (avec un module Proxmox custom et un module Azure pour le bonus cloud). Ansible pour la configuration : 11 rôles couvrant tous les services. pfSense pour le firewall, configuration sourcée en XML et 28 flux autorisés vs 8 refus dans la matrice. NetBox comme source de vérité IPAM. Elastic 8.11 pour l'observabilité runtime — c'est la couche qu'on a livrée cette semaine et que je vais démontrer. Et SOPS + age pour le chiffrement des secrets : aucun mot de passe en clair dans Git, chiffrement par destinataire, déchiffrement Ansible à la volée.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plan d'adressage est rigoureux. 8 zones réseau distinctes, chacune avec son CIDR et sa fonction. Le tunnel VPN site-à-site sur 172.16.0.0/30. À droite, quelques exemples de flux : on autorise explicitement ce qui est nécessaire (DNAT bastion, admin cross-site via VPN, sortie HTTPS), on refuse tout le reste par défaut. La matrice complète documente 28 flux autorisés et 8 refus explicites — chacun avec sa justification métier. C'est dans access-matrix-network-flows.md du repo.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gauche, la sortie de notre terraform plan en production : 'No changes. Your infrastructure matches the configuration.' C'est la signature de l'idempotence. À droite, le récit de notre migration dev vers école : on a d'abord validé tout le code sur un Proxmox nested (VMware sur un vieux laptop), puis on a basculé sur le matériel réel de l'école en ne changeant que trois fichiers : terraform.tfvars, l'inventaire Ansible, et les secrets SOPS. Les 6 VMs école étaient pré-allouées, on les a réconciliées via terraform import. Pas de big bang, une convergence lisible. C'est le pattern GitOps de migration.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gauche, la preuve d'idempotence chiffrée. Sur services-s2, le second passage du playbook complet rapporte changed=4 sur 41 tâches OK. Soit environ 90 % de stabilité — les 4 changes restants sont des handlers type 'restart sshd' qu'on peut tracer un par un. À droite, les 11 rôles Ansible qui couvrent toute notre stack : baseline OS, firewall, VPN, IPAM, observabilité, bastion, DNS, webapp, et le forwarder Filebeat. Chaque rôle est versionné indépendamment, testable en CI, et appelable via tags.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Notre approche sécurité est en défense en profondeur. Quatre couches qui se renforcent. Couche 1 : le bastion SSH avec MFA TOTP — point d'entrée unique, jails fail2ban. Couche 2 (nouvelle cette semaine) : sshd durci avec AllowTcpForwarding désactivé globalement, et une exception nominative Match User pour l'opérateur infra. C'est ce qui nous a permis de monter notre tunnel SSH inverse Filebeat tout en gardant le pivot SSH bloqué pour tous les autres utilisateurs. Couche 3 : SOPS + age. Aucun mot de passe en clair Git, chiffrement par destinataire. Couche 4 : killswitch egress (floating rule pfSense qui isole tout trafic sortant en un play Ansible) + audit log tamper alerting via Kibana.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killswitch est notre arme atomique en cas d'incident. À gauche, la règle floating pfSense qui bloque tout egress quand la variable KILLSWITCH_ACTIVE est positionnée. À droite, l'activation en une seule commande Ansible : on passe killswitch_state=active, le play modifie le pfsense.xml + reload firewall, et toute sortie est immédiatement bloquée. Avant : curl répond 200 OK. Après : timeout. Revert en passant killswitch_state=inactive. Usage type : isolation post-incident pour investigation forensique, exercice DRP, ou simple test de conformité.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LA partie différenciante du projet : la couche observabilité runtime. Le pipeline complet va de Filebeat sur services-s2, à travers un tunnel SSH inverse chiffré (parce que le tunnel VPN site-à-site n'était pas encore actif au moment de la démo, on a démontré le pattern avec un SSH reverse — sécurité identique), arrive sur Logstash dans Docker WSL, puis dans Elasticsearch single-node, et restitué dans Kibana 8.11. Les chiffres-clés : 15 222 events réels indexés depuis services-s2 sur 24h, 587 exécutions de rules alerting, 100 % open source. Le tunnel SSH inverse + le sshd durci avec exception nominative Match User, c'est exactement le pattern bastion durci en production.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dashboards Kibana versionnés en ndjson dans le repo, importables en une commande. À gauche, le dashboard SSH Security Monitor : 5 panneaux Lens — Failed passwords 24h, Invalid users 24h, Accepted successes, Timeline failures, et table forensique des derniers incidents. À droite, la liste des 3 alert rules actives. ALERT-SSH-FAIL-BURST en P2, déclenchée si plus de 5 Failed passwords en 5 minutes. ALERT-AUDIT-TAMPER en P1 critique, déclenchée si modification détectée sur les fichiers sensibles. Et ALERT-FILEBEAT-HEARTBEAT-LOST en P2, déclenchée si plus aucun event ne remonte depuis 10 minutes — celle-là s'est même déclenchée organiquement deux fois pendant les redémarrages Kibana, preuve qu'elle marche pour de vrai.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vous prouver que l'alerting tourne en vrai, j'ai injecté 12 entrées fictives Failed password via logger sur services-s2 — IPs publiques de test (198.51.100.0/24 et 203.0.113.0/24, ranges réservés RFC5737, juridiquement neutres). En moins d'une minute, la rule a fait son check, détecté que count &gt; 5 sur la fenêtre 5 minutes, est passée en status Active, et a déclenché l'action CIA Server Log. À gauche : la rule avec son alerte Active. À droite : le terminal qui montre le payload custom logué dans Kibana. En bas, la ligne brute capturée : 'ALERT-SSH-FAIL-BURST P2, 12 Failed passwords detectees en 5 min, timestamp 2026-06-21T09:10:19.309Z'. C'est la preuve la plus forte du projet : un système d'alerting de prod qui se déclenche en live avec payload custom. En prod, on remplace le Server log connector par Slack ou Webhook, c'est une ligne de config à changer.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Côté qualité, on est rigoureux. Pre-commit en local avec markdownlint, yamllint, terraform fmt, gitleaks. Cinq workflows GitHub Actions actifs : quality, security-scan, ansible, terraform, et release. 163 runs au compteur. Sur la Phase A — Observability livrée cette semaine — les 4 commits ont passé en CI verte. Le workflow security-scan utilise checkov pour Terraform, gitleaks pour les secrets, et trivy pour les images container. Tous nos commits suivent Conventional Commits : feat, fix, docs, chore, avec scope obligatoire. Et un PR template + CODEOWNERS pour structurer les revues.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golden path 'nouveau site' est documenté dans onboarding-new-site.md avec une matrice de décision on-prem vs cloud. À gauche, le pattern on-prem Proxmox : gratuit (convention école), latence sub-5ms, templates locaux, idéal pour les services critiques persistants. À droite, le pattern cloud Azure : code 100% prêt, déploiement en 5 minutes, coût ~10€/mois pour une VM H24 — quelques euros sur la durée de démo. Note honnête : on a livré 7 ressources sur 8 en runtime Azure ce week-end, la VM finale est bloquée par une pénurie globale de capacité B-series Azure Europe. C'est un problème connu Microsoft, documenté, fixable en 24-72h via quota request. Règle GR46 : on-prem pour les services critiques de l'infra, cloud off-site pour le PRA et l'observabilité externe.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conclure, le bilan honnête. Ce qui marche : la méthode GitOps a permis une migration dev jetable vers école avec juste 3 fichiers à changer. L'observabilité runtime est live, prouvée par 15 000 events réels et un alerting qui se déclenche pour de vrai. La défense en profondeur est étanche sur ses 4 couches. Ce qui a coincé : la nested virt VMware au début (2 jours perdus), l'API pfSense est subtile, le disk full sur services-s2 m'a forcé à un bastion en dual-duty, et la pénurie de capacité Azure B-series ce week-end a bloqué la VM Site C. Ce qu'on ferait différemment : figer les secrets SOPS dès J+1, écrire les runbooks en parallèle du code, demander le quota Azure dès le départ. Futur : Site C/D cloud en cascade, migration OpenTofu, détection comportementale, et connector Slack en prod. Merci, je prends vos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9144000" cy="365760"/>
          </a:xfrm>
          <a:prstGeom prst="rect">
            <a:avLst/>
          </a:prstGeom>
          <a:noFill/>
        </p:spPr>
        <p:txBody>
          <a:bodyPr wrap="square" lIns="45720" rIns="45720" tIns="18288" bIns="18288" anchor="t">
            <a:spAutoFit/>
          </a:bodyPr>
          <a:lstStyle/>
          <a:p>
            <a:pPr algn="l"/>
            <a:r>
              <a:rPr sz="1200" b="0" i="1">
                <a:solidFill>
                  <a:srgbClr val="CADCFC"/>
                </a:solidFill>
                <a:latin typeface="Calibri"/>
              </a:rPr>
              <a:t>EPITECH MSc Pro · 2025-2026 · T-NSA-810-REP25</a:t>
            </a:r>
          </a:p>
        </p:txBody>
      </p:sp>
      <p:sp>
        <p:nvSpPr>
          <p:cNvPr id="4" name="TextBox 3"/>
          <p:cNvSpPr txBox="1"/>
          <p:nvPr/>
        </p:nvSpPr>
        <p:spPr>
          <a:xfrm>
            <a:off x="640080" y="1188720"/>
            <a:ext cx="10972800" cy="1097280"/>
          </a:xfrm>
          <a:prstGeom prst="rect">
            <a:avLst/>
          </a:prstGeom>
          <a:noFill/>
        </p:spPr>
        <p:txBody>
          <a:bodyPr wrap="square" lIns="45720" rIns="45720" tIns="18288" bIns="18288" anchor="t">
            <a:spAutoFit/>
          </a:bodyPr>
          <a:lstStyle/>
          <a:p>
            <a:pPr algn="l"/>
            <a:r>
              <a:rPr sz="9600" b="1" i="0">
                <a:solidFill>
                  <a:srgbClr val="FFFFFF"/>
                </a:solidFill>
                <a:latin typeface="Trebuchet MS"/>
              </a:rPr>
              <a:t>CIA</a:t>
            </a:r>
          </a:p>
        </p:txBody>
      </p:sp>
      <p:sp>
        <p:nvSpPr>
          <p:cNvPr id="5" name="TextBox 4"/>
          <p:cNvSpPr txBox="1"/>
          <p:nvPr/>
        </p:nvSpPr>
        <p:spPr>
          <a:xfrm>
            <a:off x="640080" y="2286000"/>
            <a:ext cx="10972800" cy="822960"/>
          </a:xfrm>
          <a:prstGeom prst="rect">
            <a:avLst/>
          </a:prstGeom>
          <a:noFill/>
        </p:spPr>
        <p:txBody>
          <a:bodyPr wrap="square" lIns="45720" rIns="45720" tIns="18288" bIns="18288" anchor="t">
            <a:spAutoFit/>
          </a:bodyPr>
          <a:lstStyle/>
          <a:p>
            <a:pPr algn="l"/>
            <a:r>
              <a:rPr sz="4400" b="1" i="0">
                <a:solidFill>
                  <a:srgbClr val="CADCFC"/>
                </a:solidFill>
                <a:latin typeface="Trebuchet MS"/>
              </a:rPr>
              <a:t>Hybrid Infrastructure</a:t>
            </a:r>
          </a:p>
        </p:txBody>
      </p:sp>
      <p:sp>
        <p:nvSpPr>
          <p:cNvPr id="6" name="TextBox 5"/>
          <p:cNvSpPr txBox="1"/>
          <p:nvPr/>
        </p:nvSpPr>
        <p:spPr>
          <a:xfrm>
            <a:off x="640080" y="3154680"/>
            <a:ext cx="10972800" cy="457200"/>
          </a:xfrm>
          <a:prstGeom prst="rect">
            <a:avLst/>
          </a:prstGeom>
          <a:noFill/>
        </p:spPr>
        <p:txBody>
          <a:bodyPr wrap="square" lIns="45720" rIns="45720" tIns="18288" bIns="18288" anchor="t">
            <a:spAutoFit/>
          </a:bodyPr>
          <a:lstStyle/>
          <a:p>
            <a:pPr algn="l"/>
            <a:r>
              <a:rPr sz="2200" b="0" i="0">
                <a:solidFill>
                  <a:srgbClr val="CADCFC"/>
                </a:solidFill>
                <a:latin typeface="Calibri"/>
              </a:rPr>
              <a:t>Deployment &amp; Securing — Proxmox · pfSense · Elastic</a:t>
            </a:r>
          </a:p>
        </p:txBody>
      </p:sp>
      <p:sp>
        <p:nvSpPr>
          <p:cNvPr id="7" name="TextBox 6"/>
          <p:cNvSpPr txBox="1"/>
          <p:nvPr/>
        </p:nvSpPr>
        <p:spPr>
          <a:xfrm>
            <a:off x="640080" y="3657600"/>
            <a:ext cx="10972800" cy="457200"/>
          </a:xfrm>
          <a:prstGeom prst="rect">
            <a:avLst/>
          </a:prstGeom>
          <a:noFill/>
        </p:spPr>
        <p:txBody>
          <a:bodyPr wrap="square" lIns="45720" rIns="45720" tIns="18288" bIns="18288" anchor="t">
            <a:spAutoFit/>
          </a:bodyPr>
          <a:lstStyle/>
          <a:p>
            <a:pPr algn="l"/>
            <a:r>
              <a:rPr sz="1600" b="0" i="1">
                <a:solidFill>
                  <a:srgbClr val="38BDF8"/>
                </a:solidFill>
                <a:latin typeface="Calibri"/>
              </a:rPr>
              <a:t>GitOps · Defense in Depth · Runtime Observability</a:t>
            </a:r>
          </a:p>
        </p:txBody>
      </p:sp>
      <p:sp>
        <p:nvSpPr>
          <p:cNvPr id="8" name="Rectangle 7"/>
          <p:cNvSpPr/>
          <p:nvPr/>
        </p:nvSpPr>
        <p:spPr>
          <a:xfrm>
            <a:off x="640080" y="5303520"/>
            <a:ext cx="5029200"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440680"/>
            <a:ext cx="7315200" cy="365760"/>
          </a:xfrm>
          <a:prstGeom prst="rect">
            <a:avLst/>
          </a:prstGeom>
          <a:noFill/>
        </p:spPr>
        <p:txBody>
          <a:bodyPr wrap="square" lIns="45720" rIns="45720" tIns="18288" bIns="18288" anchor="t">
            <a:spAutoFit/>
          </a:bodyPr>
          <a:lstStyle/>
          <a:p>
            <a:pPr algn="l"/>
            <a:r>
              <a:rPr sz="1400" b="1" i="0">
                <a:solidFill>
                  <a:srgbClr val="FFFFFF"/>
                </a:solidFill>
                <a:latin typeface="Calibri"/>
              </a:rPr>
              <a:t>Présenté par GR46</a:t>
            </a:r>
          </a:p>
        </p:txBody>
      </p:sp>
      <p:sp>
        <p:nvSpPr>
          <p:cNvPr id="10" name="TextBox 9"/>
          <p:cNvSpPr txBox="1"/>
          <p:nvPr/>
        </p:nvSpPr>
        <p:spPr>
          <a:xfrm>
            <a:off x="640080" y="5806440"/>
            <a:ext cx="7315200" cy="320040"/>
          </a:xfrm>
          <a:prstGeom prst="rect">
            <a:avLst/>
          </a:prstGeom>
          <a:noFill/>
        </p:spPr>
        <p:txBody>
          <a:bodyPr wrap="square" lIns="45720" rIns="45720" tIns="18288" bIns="18288" anchor="t">
            <a:spAutoFit/>
          </a:bodyPr>
          <a:lstStyle/>
          <a:p>
            <a:pPr algn="l"/>
            <a:r>
              <a:rPr sz="1200" b="0" i="0">
                <a:solidFill>
                  <a:srgbClr val="CADCFC"/>
                </a:solidFill>
                <a:latin typeface="Calibri"/>
              </a:rPr>
              <a:t>Joseph-Desmon Yonzou · dyonzou@gmail.com</a:t>
            </a:r>
          </a:p>
        </p:txBody>
      </p:sp>
      <p:sp>
        <p:nvSpPr>
          <p:cNvPr id="11" name="TextBox 10"/>
          <p:cNvSpPr txBox="1"/>
          <p:nvPr/>
        </p:nvSpPr>
        <p:spPr>
          <a:xfrm>
            <a:off x="640080" y="6126480"/>
            <a:ext cx="7315200" cy="320040"/>
          </a:xfrm>
          <a:prstGeom prst="rect">
            <a:avLst/>
          </a:prstGeom>
          <a:noFill/>
        </p:spPr>
        <p:txBody>
          <a:bodyPr wrap="square" lIns="45720" rIns="45720" tIns="18288" bIns="18288" anchor="t">
            <a:spAutoFit/>
          </a:bodyPr>
          <a:lstStyle/>
          <a:p>
            <a:pPr algn="l"/>
            <a:r>
              <a:rPr sz="1200" b="0" i="0">
                <a:solidFill>
                  <a:srgbClr val="CADCFC"/>
                </a:solidFill>
                <a:latin typeface="Calibri"/>
              </a:rPr>
              <a:t>Final · Juin 2026</a:t>
            </a:r>
          </a:p>
        </p:txBody>
      </p:sp>
      <p:sp>
        <p:nvSpPr>
          <p:cNvPr id="12" name="TextBox 11"/>
          <p:cNvSpPr txBox="1"/>
          <p:nvPr/>
        </p:nvSpPr>
        <p:spPr>
          <a:xfrm>
            <a:off x="6583680" y="5440680"/>
            <a:ext cx="1280160" cy="548640"/>
          </a:xfrm>
          <a:prstGeom prst="rect">
            <a:avLst/>
          </a:prstGeom>
          <a:noFill/>
        </p:spPr>
        <p:txBody>
          <a:bodyPr wrap="square" lIns="45720" rIns="45720" tIns="18288" bIns="18288" anchor="t">
            <a:spAutoFit/>
          </a:bodyPr>
          <a:lstStyle/>
          <a:p>
            <a:pPr algn="ctr"/>
            <a:r>
              <a:rPr sz="3200" b="1" i="0">
                <a:solidFill>
                  <a:srgbClr val="38BDF8"/>
                </a:solidFill>
                <a:latin typeface="Trebuchet MS"/>
              </a:rPr>
              <a:t>2</a:t>
            </a:r>
          </a:p>
        </p:txBody>
      </p:sp>
      <p:sp>
        <p:nvSpPr>
          <p:cNvPr id="13" name="TextBox 12"/>
          <p:cNvSpPr txBox="1"/>
          <p:nvPr/>
        </p:nvSpPr>
        <p:spPr>
          <a:xfrm>
            <a:off x="6583680" y="5989320"/>
            <a:ext cx="1280160" cy="365760"/>
          </a:xfrm>
          <a:prstGeom prst="rect">
            <a:avLst/>
          </a:prstGeom>
          <a:noFill/>
        </p:spPr>
        <p:txBody>
          <a:bodyPr wrap="square" lIns="45720" rIns="45720" tIns="18288" bIns="18288" anchor="t">
            <a:spAutoFit/>
          </a:bodyPr>
          <a:lstStyle/>
          <a:p>
            <a:pPr algn="ctr"/>
            <a:r>
              <a:rPr sz="1100" b="0" i="0">
                <a:solidFill>
                  <a:srgbClr val="CADCFC"/>
                </a:solidFill>
                <a:latin typeface="Calibri"/>
              </a:rPr>
              <a:t>sites</a:t>
            </a:r>
          </a:p>
        </p:txBody>
      </p:sp>
      <p:sp>
        <p:nvSpPr>
          <p:cNvPr id="14" name="TextBox 13"/>
          <p:cNvSpPr txBox="1"/>
          <p:nvPr/>
        </p:nvSpPr>
        <p:spPr>
          <a:xfrm>
            <a:off x="7909560" y="5440680"/>
            <a:ext cx="1280160" cy="548640"/>
          </a:xfrm>
          <a:prstGeom prst="rect">
            <a:avLst/>
          </a:prstGeom>
          <a:noFill/>
        </p:spPr>
        <p:txBody>
          <a:bodyPr wrap="square" lIns="45720" rIns="45720" tIns="18288" bIns="18288" anchor="t">
            <a:spAutoFit/>
          </a:bodyPr>
          <a:lstStyle/>
          <a:p>
            <a:pPr algn="ctr"/>
            <a:r>
              <a:rPr sz="3200" b="1" i="0">
                <a:solidFill>
                  <a:srgbClr val="38BDF8"/>
                </a:solidFill>
                <a:latin typeface="Trebuchet MS"/>
              </a:rPr>
              <a:t>6+1</a:t>
            </a:r>
          </a:p>
        </p:txBody>
      </p:sp>
      <p:sp>
        <p:nvSpPr>
          <p:cNvPr id="15" name="TextBox 14"/>
          <p:cNvSpPr txBox="1"/>
          <p:nvPr/>
        </p:nvSpPr>
        <p:spPr>
          <a:xfrm>
            <a:off x="7909560" y="5989320"/>
            <a:ext cx="1280160" cy="365760"/>
          </a:xfrm>
          <a:prstGeom prst="rect">
            <a:avLst/>
          </a:prstGeom>
          <a:noFill/>
        </p:spPr>
        <p:txBody>
          <a:bodyPr wrap="square" lIns="45720" rIns="45720" tIns="18288" bIns="18288" anchor="t">
            <a:spAutoFit/>
          </a:bodyPr>
          <a:lstStyle/>
          <a:p>
            <a:pPr algn="ctr"/>
            <a:r>
              <a:rPr sz="1100" b="0" i="0">
                <a:solidFill>
                  <a:srgbClr val="CADCFC"/>
                </a:solidFill>
                <a:latin typeface="Calibri"/>
              </a:rPr>
              <a:t>VMs</a:t>
            </a:r>
          </a:p>
        </p:txBody>
      </p:sp>
      <p:sp>
        <p:nvSpPr>
          <p:cNvPr id="16" name="TextBox 15"/>
          <p:cNvSpPr txBox="1"/>
          <p:nvPr/>
        </p:nvSpPr>
        <p:spPr>
          <a:xfrm>
            <a:off x="9235440" y="5440680"/>
            <a:ext cx="1280160" cy="548640"/>
          </a:xfrm>
          <a:prstGeom prst="rect">
            <a:avLst/>
          </a:prstGeom>
          <a:noFill/>
        </p:spPr>
        <p:txBody>
          <a:bodyPr wrap="square" lIns="45720" rIns="45720" tIns="18288" bIns="18288" anchor="t">
            <a:spAutoFit/>
          </a:bodyPr>
          <a:lstStyle/>
          <a:p>
            <a:pPr algn="ctr"/>
            <a:r>
              <a:rPr sz="3200" b="1" i="0">
                <a:solidFill>
                  <a:srgbClr val="38BDF8"/>
                </a:solidFill>
                <a:latin typeface="Trebuchet MS"/>
              </a:rPr>
              <a:t>4</a:t>
            </a:r>
          </a:p>
        </p:txBody>
      </p:sp>
      <p:sp>
        <p:nvSpPr>
          <p:cNvPr id="17" name="TextBox 16"/>
          <p:cNvSpPr txBox="1"/>
          <p:nvPr/>
        </p:nvSpPr>
        <p:spPr>
          <a:xfrm>
            <a:off x="9235440" y="5989320"/>
            <a:ext cx="1280160" cy="365760"/>
          </a:xfrm>
          <a:prstGeom prst="rect">
            <a:avLst/>
          </a:prstGeom>
          <a:noFill/>
        </p:spPr>
        <p:txBody>
          <a:bodyPr wrap="square" lIns="45720" rIns="45720" tIns="18288" bIns="18288" anchor="t">
            <a:spAutoFit/>
          </a:bodyPr>
          <a:lstStyle/>
          <a:p>
            <a:pPr algn="ctr"/>
            <a:r>
              <a:rPr sz="1100" b="0" i="0">
                <a:solidFill>
                  <a:srgbClr val="CADCFC"/>
                </a:solidFill>
                <a:latin typeface="Calibri"/>
              </a:rPr>
              <a:t>couches</a:t>
            </a:r>
          </a:p>
        </p:txBody>
      </p:sp>
      <p:sp>
        <p:nvSpPr>
          <p:cNvPr id="18" name="TextBox 17"/>
          <p:cNvSpPr txBox="1"/>
          <p:nvPr/>
        </p:nvSpPr>
        <p:spPr>
          <a:xfrm>
            <a:off x="10561320" y="5440680"/>
            <a:ext cx="1280160" cy="548640"/>
          </a:xfrm>
          <a:prstGeom prst="rect">
            <a:avLst/>
          </a:prstGeom>
          <a:noFill/>
        </p:spPr>
        <p:txBody>
          <a:bodyPr wrap="square" lIns="45720" rIns="45720" tIns="18288" bIns="18288" anchor="t">
            <a:spAutoFit/>
          </a:bodyPr>
          <a:lstStyle/>
          <a:p>
            <a:pPr algn="ctr"/>
            <a:r>
              <a:rPr sz="3200" b="1" i="0">
                <a:solidFill>
                  <a:srgbClr val="38BDF8"/>
                </a:solidFill>
                <a:latin typeface="Trebuchet MS"/>
              </a:rPr>
              <a:t>15K</a:t>
            </a:r>
          </a:p>
        </p:txBody>
      </p:sp>
      <p:sp>
        <p:nvSpPr>
          <p:cNvPr id="19" name="TextBox 18"/>
          <p:cNvSpPr txBox="1"/>
          <p:nvPr/>
        </p:nvSpPr>
        <p:spPr>
          <a:xfrm>
            <a:off x="10561320" y="5989320"/>
            <a:ext cx="1280160" cy="365760"/>
          </a:xfrm>
          <a:prstGeom prst="rect">
            <a:avLst/>
          </a:prstGeom>
          <a:noFill/>
        </p:spPr>
        <p:txBody>
          <a:bodyPr wrap="square" lIns="45720" rIns="45720" tIns="18288" bIns="18288" anchor="t">
            <a:spAutoFit/>
          </a:bodyPr>
          <a:lstStyle/>
          <a:p>
            <a:pPr algn="ctr"/>
            <a:r>
              <a:rPr sz="1100" b="0" i="0">
                <a:solidFill>
                  <a:srgbClr val="CADCFC"/>
                </a:solidFill>
                <a:latin typeface="Calibri"/>
              </a:rPr>
              <a:t>events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0972800" cy="640080"/>
          </a:xfrm>
          <a:prstGeom prst="rect">
            <a:avLst/>
          </a:prstGeom>
          <a:noFill/>
        </p:spPr>
        <p:txBody>
          <a:bodyPr wrap="square" lIns="45720" rIns="45720" tIns="18288" bIns="18288" anchor="t">
            <a:spAutoFit/>
          </a:bodyPr>
          <a:lstStyle/>
          <a:p>
            <a:pPr algn="l"/>
            <a:r>
              <a:rPr sz="4000" b="1" i="0">
                <a:solidFill>
                  <a:srgbClr val="1E2761"/>
                </a:solidFill>
                <a:latin typeface="Trebuchet MS"/>
              </a:rPr>
              <a:t>Le mandat</a:t>
            </a:r>
          </a:p>
        </p:txBody>
      </p:sp>
      <p:sp>
        <p:nvSpPr>
          <p:cNvPr id="3" name="TextBox 2"/>
          <p:cNvSpPr txBox="1"/>
          <p:nvPr/>
        </p:nvSpPr>
        <p:spPr>
          <a:xfrm>
            <a:off x="457200" y="1051560"/>
            <a:ext cx="10972800" cy="457200"/>
          </a:xfrm>
          <a:prstGeom prst="rect">
            <a:avLst/>
          </a:prstGeom>
          <a:noFill/>
        </p:spPr>
        <p:txBody>
          <a:bodyPr wrap="square" lIns="45720" rIns="45720" tIns="18288" bIns="18288" anchor="t">
            <a:spAutoFit/>
          </a:bodyPr>
          <a:lstStyle/>
          <a:p>
            <a:pPr algn="l"/>
            <a:r>
              <a:rPr sz="1800" b="0" i="1">
                <a:solidFill>
                  <a:srgbClr val="64748B"/>
                </a:solidFill>
                <a:latin typeface="Calibri"/>
              </a:rPr>
              <a:t>Une entreprise déploie 2 sites distants — elle doit garantir...</a:t>
            </a:r>
          </a:p>
        </p:txBody>
      </p:sp>
      <p:sp>
        <p:nvSpPr>
          <p:cNvPr id="4" name="Rounded Rectangle 3"/>
          <p:cNvSpPr/>
          <p:nvPr/>
        </p:nvSpPr>
        <p:spPr>
          <a:xfrm>
            <a:off x="457200" y="1828800"/>
            <a:ext cx="3657600" cy="4114800"/>
          </a:xfrm>
          <a:prstGeom prst="round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645920" y="2103120"/>
            <a:ext cx="1280160" cy="1280160"/>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45920" y="2148840"/>
            <a:ext cx="1280160" cy="1280160"/>
          </a:xfrm>
          <a:prstGeom prst="rect">
            <a:avLst/>
          </a:prstGeom>
          <a:noFill/>
        </p:spPr>
        <p:txBody>
          <a:bodyPr wrap="square" lIns="45720" rIns="45720" tIns="18288" bIns="18288" anchor="ctr">
            <a:spAutoFit/>
          </a:bodyPr>
          <a:lstStyle/>
          <a:p>
            <a:pPr algn="ctr"/>
            <a:r>
              <a:rPr sz="6000" b="1" i="0">
                <a:solidFill>
                  <a:srgbClr val="FFFFFF"/>
                </a:solidFill>
                <a:latin typeface="Trebuchet MS"/>
              </a:rPr>
              <a:t>C</a:t>
            </a:r>
          </a:p>
        </p:txBody>
      </p:sp>
      <p:sp>
        <p:nvSpPr>
          <p:cNvPr id="7" name="TextBox 6"/>
          <p:cNvSpPr txBox="1"/>
          <p:nvPr/>
        </p:nvSpPr>
        <p:spPr>
          <a:xfrm>
            <a:off x="685800" y="3657600"/>
            <a:ext cx="3200400" cy="548640"/>
          </a:xfrm>
          <a:prstGeom prst="rect">
            <a:avLst/>
          </a:prstGeom>
          <a:noFill/>
        </p:spPr>
        <p:txBody>
          <a:bodyPr wrap="square" lIns="45720" rIns="45720" tIns="18288" bIns="18288" anchor="t">
            <a:spAutoFit/>
          </a:bodyPr>
          <a:lstStyle/>
          <a:p>
            <a:pPr algn="ctr"/>
            <a:r>
              <a:rPr sz="2400" b="1" i="0">
                <a:solidFill>
                  <a:srgbClr val="1E2761"/>
                </a:solidFill>
                <a:latin typeface="Trebuchet MS"/>
              </a:rPr>
              <a:t>Confidentialité</a:t>
            </a:r>
          </a:p>
        </p:txBody>
      </p:sp>
      <p:sp>
        <p:nvSpPr>
          <p:cNvPr id="8" name="TextBox 7"/>
          <p:cNvSpPr txBox="1"/>
          <p:nvPr/>
        </p:nvSpPr>
        <p:spPr>
          <a:xfrm>
            <a:off x="731520" y="4251960"/>
            <a:ext cx="3108960" cy="1554480"/>
          </a:xfrm>
          <a:prstGeom prst="rect">
            <a:avLst/>
          </a:prstGeom>
          <a:noFill/>
        </p:spPr>
        <p:txBody>
          <a:bodyPr wrap="square" lIns="45720" rIns="45720" tIns="18288" bIns="18288" anchor="t">
            <a:spAutoFit/>
          </a:bodyPr>
          <a:lstStyle/>
          <a:p>
            <a:pPr algn="l"/>
            <a:r>
              <a:rPr sz="1200" b="0" i="0">
                <a:solidFill>
                  <a:srgbClr val="1E2761"/>
                </a:solidFill>
                <a:latin typeface="Calibri"/>
              </a:rPr>
              <a:t>Chiffrement bout-à-bout, secrets gérés (SOPS + age), accès SSH bastion MFA, exception forward TCP nominative.</a:t>
            </a:r>
          </a:p>
        </p:txBody>
      </p:sp>
      <p:sp>
        <p:nvSpPr>
          <p:cNvPr id="9" name="Rounded Rectangle 8"/>
          <p:cNvSpPr/>
          <p:nvPr/>
        </p:nvSpPr>
        <p:spPr>
          <a:xfrm>
            <a:off x="4297680" y="1828800"/>
            <a:ext cx="3657600" cy="4114800"/>
          </a:xfrm>
          <a:prstGeom prst="round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0" y="2103120"/>
            <a:ext cx="1280160" cy="1280160"/>
          </a:xfrm>
          <a:prstGeom prst="round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0" y="2148840"/>
            <a:ext cx="1280160" cy="1280160"/>
          </a:xfrm>
          <a:prstGeom prst="rect">
            <a:avLst/>
          </a:prstGeom>
          <a:noFill/>
        </p:spPr>
        <p:txBody>
          <a:bodyPr wrap="square" lIns="45720" rIns="45720" tIns="18288" bIns="18288" anchor="ctr">
            <a:spAutoFit/>
          </a:bodyPr>
          <a:lstStyle/>
          <a:p>
            <a:pPr algn="ctr"/>
            <a:r>
              <a:rPr sz="6000" b="1" i="0">
                <a:solidFill>
                  <a:srgbClr val="FFFFFF"/>
                </a:solidFill>
                <a:latin typeface="Trebuchet MS"/>
              </a:rPr>
              <a:t>I</a:t>
            </a:r>
          </a:p>
        </p:txBody>
      </p:sp>
      <p:sp>
        <p:nvSpPr>
          <p:cNvPr id="12" name="TextBox 11"/>
          <p:cNvSpPr txBox="1"/>
          <p:nvPr/>
        </p:nvSpPr>
        <p:spPr>
          <a:xfrm>
            <a:off x="4526280" y="3657600"/>
            <a:ext cx="3200400" cy="548640"/>
          </a:xfrm>
          <a:prstGeom prst="rect">
            <a:avLst/>
          </a:prstGeom>
          <a:noFill/>
        </p:spPr>
        <p:txBody>
          <a:bodyPr wrap="square" lIns="45720" rIns="45720" tIns="18288" bIns="18288" anchor="t">
            <a:spAutoFit/>
          </a:bodyPr>
          <a:lstStyle/>
          <a:p>
            <a:pPr algn="ctr"/>
            <a:r>
              <a:rPr sz="2400" b="1" i="0">
                <a:solidFill>
                  <a:srgbClr val="1E2761"/>
                </a:solidFill>
                <a:latin typeface="Trebuchet MS"/>
              </a:rPr>
              <a:t>Intégrité</a:t>
            </a:r>
          </a:p>
        </p:txBody>
      </p:sp>
      <p:sp>
        <p:nvSpPr>
          <p:cNvPr id="13" name="TextBox 12"/>
          <p:cNvSpPr txBox="1"/>
          <p:nvPr/>
        </p:nvSpPr>
        <p:spPr>
          <a:xfrm>
            <a:off x="4572000" y="4251960"/>
            <a:ext cx="3108960" cy="1554480"/>
          </a:xfrm>
          <a:prstGeom prst="rect">
            <a:avLst/>
          </a:prstGeom>
          <a:noFill/>
        </p:spPr>
        <p:txBody>
          <a:bodyPr wrap="square" lIns="45720" rIns="45720" tIns="18288" bIns="18288" anchor="t">
            <a:spAutoFit/>
          </a:bodyPr>
          <a:lstStyle/>
          <a:p>
            <a:pPr algn="l"/>
            <a:r>
              <a:rPr sz="1200" b="0" i="0">
                <a:solidFill>
                  <a:srgbClr val="1E2761"/>
                </a:solidFill>
                <a:latin typeface="Calibri"/>
              </a:rPr>
              <a:t>Configurations idempotentes (Terraform + Ansible), audit immutable des changes, killswitch d'isolation, secrets versionés chiffrés.</a:t>
            </a:r>
          </a:p>
        </p:txBody>
      </p:sp>
      <p:sp>
        <p:nvSpPr>
          <p:cNvPr id="14" name="Rounded Rectangle 13"/>
          <p:cNvSpPr/>
          <p:nvPr/>
        </p:nvSpPr>
        <p:spPr>
          <a:xfrm>
            <a:off x="8138160" y="1828800"/>
            <a:ext cx="3657600" cy="4114800"/>
          </a:xfrm>
          <a:prstGeom prst="round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326880" y="2103120"/>
            <a:ext cx="1280160" cy="128016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0" y="2148840"/>
            <a:ext cx="1280160" cy="1280160"/>
          </a:xfrm>
          <a:prstGeom prst="rect">
            <a:avLst/>
          </a:prstGeom>
          <a:noFill/>
        </p:spPr>
        <p:txBody>
          <a:bodyPr wrap="square" lIns="45720" rIns="45720" tIns="18288" bIns="18288" anchor="ctr">
            <a:spAutoFit/>
          </a:bodyPr>
          <a:lstStyle/>
          <a:p>
            <a:pPr algn="ctr"/>
            <a:r>
              <a:rPr sz="6000" b="1" i="0">
                <a:solidFill>
                  <a:srgbClr val="FFFFFF"/>
                </a:solidFill>
                <a:latin typeface="Trebuchet MS"/>
              </a:rPr>
              <a:t>A</a:t>
            </a:r>
          </a:p>
        </p:txBody>
      </p:sp>
      <p:sp>
        <p:nvSpPr>
          <p:cNvPr id="17" name="TextBox 16"/>
          <p:cNvSpPr txBox="1"/>
          <p:nvPr/>
        </p:nvSpPr>
        <p:spPr>
          <a:xfrm>
            <a:off x="8366760" y="3657600"/>
            <a:ext cx="3200400" cy="548640"/>
          </a:xfrm>
          <a:prstGeom prst="rect">
            <a:avLst/>
          </a:prstGeom>
          <a:noFill/>
        </p:spPr>
        <p:txBody>
          <a:bodyPr wrap="square" lIns="45720" rIns="45720" tIns="18288" bIns="18288" anchor="t">
            <a:spAutoFit/>
          </a:bodyPr>
          <a:lstStyle/>
          <a:p>
            <a:pPr algn="ctr"/>
            <a:r>
              <a:rPr sz="2400" b="1" i="0">
                <a:solidFill>
                  <a:srgbClr val="1E2761"/>
                </a:solidFill>
                <a:latin typeface="Trebuchet MS"/>
              </a:rPr>
              <a:t>Audit</a:t>
            </a:r>
          </a:p>
        </p:txBody>
      </p:sp>
      <p:sp>
        <p:nvSpPr>
          <p:cNvPr id="18" name="TextBox 17"/>
          <p:cNvSpPr txBox="1"/>
          <p:nvPr/>
        </p:nvSpPr>
        <p:spPr>
          <a:xfrm>
            <a:off x="8412480" y="4251960"/>
            <a:ext cx="3108960" cy="1554480"/>
          </a:xfrm>
          <a:prstGeom prst="rect">
            <a:avLst/>
          </a:prstGeom>
          <a:noFill/>
        </p:spPr>
        <p:txBody>
          <a:bodyPr wrap="square" lIns="45720" rIns="45720" tIns="18288" bIns="18288" anchor="t">
            <a:spAutoFit/>
          </a:bodyPr>
          <a:lstStyle/>
          <a:p>
            <a:pPr algn="l"/>
            <a:r>
              <a:rPr sz="1200" b="0" i="0">
                <a:solidFill>
                  <a:srgbClr val="1E2761"/>
                </a:solidFill>
                <a:latin typeface="Calibri"/>
              </a:rPr>
              <a:t>Traçabilité totale : NetBox = source de vérité IPAM, logs centralisés Filebeat → Elastic, alerting actif, runbooks DRP.</a:t>
            </a:r>
          </a:p>
        </p:txBody>
      </p:sp>
      <p:sp>
        <p:nvSpPr>
          <p:cNvPr id="19" name="Rounded Rectangle 18"/>
          <p:cNvSpPr/>
          <p:nvPr/>
        </p:nvSpPr>
        <p:spPr>
          <a:xfrm>
            <a:off x="457200" y="6126480"/>
            <a:ext cx="11247120" cy="365760"/>
          </a:xfrm>
          <a:prstGeom prst="round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6144768"/>
            <a:ext cx="11247120" cy="365760"/>
          </a:xfrm>
          <a:prstGeom prst="rect">
            <a:avLst/>
          </a:prstGeom>
          <a:noFill/>
        </p:spPr>
        <p:txBody>
          <a:bodyPr wrap="square" lIns="45720" rIns="45720" tIns="18288" bIns="18288" anchor="ctr">
            <a:spAutoFit/>
          </a:bodyPr>
          <a:lstStyle/>
          <a:p>
            <a:pPr algn="ctr"/>
            <a:r>
              <a:rPr sz="1400" b="1" i="0">
                <a:solidFill>
                  <a:srgbClr val="CADCFC"/>
                </a:solidFill>
                <a:latin typeface="Calibri"/>
              </a:rPr>
              <a:t>Parti pris GR46 : tout-code · tout-version (git) · tout-audit</a:t>
            </a:r>
          </a:p>
        </p:txBody>
      </p:sp>
      <p:sp>
        <p:nvSpPr>
          <p:cNvPr id="21" name="TextBox 20"/>
          <p:cNvSpPr txBox="1"/>
          <p:nvPr/>
        </p:nvSpPr>
        <p:spPr>
          <a:xfrm>
            <a:off x="457200" y="6446520"/>
            <a:ext cx="5486400" cy="320040"/>
          </a:xfrm>
          <a:prstGeom prst="rect">
            <a:avLst/>
          </a:prstGeom>
          <a:noFill/>
        </p:spPr>
        <p:txBody>
          <a:bodyPr wrap="square" lIns="45720" rIns="45720" tIns="18288" bIns="18288" anchor="t">
            <a:spAutoFit/>
          </a:bodyPr>
          <a:lstStyle/>
          <a:p>
            <a:pPr algn="l"/>
            <a:r>
              <a:rPr sz="900" b="0" i="0">
                <a:solidFill>
                  <a:srgbClr val="64748B"/>
                </a:solidFill>
                <a:latin typeface="Calibri"/>
              </a:rPr>
              <a:t>CIA · Hybrid Infrastructure · GR46</a:t>
            </a:r>
          </a:p>
        </p:txBody>
      </p:sp>
      <p:sp>
        <p:nvSpPr>
          <p:cNvPr id="22" name="TextBox 21"/>
          <p:cNvSpPr txBox="1"/>
          <p:nvPr/>
        </p:nvSpPr>
        <p:spPr>
          <a:xfrm>
            <a:off x="10515600" y="6446520"/>
            <a:ext cx="1188720" cy="320040"/>
          </a:xfrm>
          <a:prstGeom prst="rect">
            <a:avLst/>
          </a:prstGeom>
          <a:noFill/>
        </p:spPr>
        <p:txBody>
          <a:bodyPr wrap="square" lIns="45720" rIns="45720" tIns="18288" bIns="18288" anchor="t">
            <a:spAutoFit/>
          </a:bodyPr>
          <a:lstStyle/>
          <a:p>
            <a:pPr algn="r"/>
            <a:r>
              <a:rPr sz="900" b="0" i="0">
                <a:solidFill>
                  <a:srgbClr val="64748B"/>
                </a:solidFill>
                <a:latin typeface="Calibri"/>
              </a:rPr>
              <a:t>2 / 15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0972800" cy="640080"/>
          </a:xfrm>
          <a:prstGeom prst="rect">
            <a:avLst/>
          </a:prstGeom>
          <a:noFill/>
        </p:spPr>
        <p:txBody>
          <a:bodyPr wrap="square" lIns="45720" rIns="45720" tIns="18288" bIns="18288" anchor="t">
            <a:spAutoFit/>
          </a:bodyPr>
          <a:lstStyle/>
          <a:p>
            <a:pPr algn="l"/>
            <a:r>
              <a:rPr sz="4000" b="1" i="0">
                <a:solidFill>
                  <a:srgbClr val="1E2761"/>
                </a:solidFill>
                <a:latin typeface="Trebuchet MS"/>
              </a:rPr>
              <a:t>Architecture globale</a:t>
            </a:r>
          </a:p>
        </p:txBody>
      </p:sp>
      <p:sp>
        <p:nvSpPr>
          <p:cNvPr id="3" name="TextBox 2"/>
          <p:cNvSpPr txBox="1"/>
          <p:nvPr/>
        </p:nvSpPr>
        <p:spPr>
          <a:xfrm>
            <a:off x="457200" y="1051560"/>
            <a:ext cx="10972800" cy="457200"/>
          </a:xfrm>
          <a:prstGeom prst="rect">
            <a:avLst/>
          </a:prstGeom>
          <a:noFill/>
        </p:spPr>
        <p:txBody>
          <a:bodyPr wrap="square" lIns="45720" rIns="45720" tIns="18288" bIns="18288" anchor="t">
            <a:spAutoFit/>
          </a:bodyPr>
          <a:lstStyle/>
          <a:p>
            <a:pPr algn="l"/>
            <a:r>
              <a:rPr sz="1600" b="0" i="1">
                <a:solidFill>
                  <a:srgbClr val="64748B"/>
                </a:solidFill>
                <a:latin typeface="Calibri"/>
              </a:rPr>
              <a:t>2 sites Proxmox · 3 VMs/site · tunnel OpenVPN site-à-site</a:t>
            </a:r>
          </a:p>
        </p:txBody>
      </p:sp>
      <p:sp>
        <p:nvSpPr>
          <p:cNvPr id="4" name="Rounded Rectangle 3"/>
          <p:cNvSpPr/>
          <p:nvPr/>
        </p:nvSpPr>
        <p:spPr>
          <a:xfrm>
            <a:off x="457200" y="1828800"/>
            <a:ext cx="5029200" cy="3474720"/>
          </a:xfrm>
          <a:prstGeom prst="round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965960"/>
            <a:ext cx="4663440" cy="365760"/>
          </a:xfrm>
          <a:prstGeom prst="rect">
            <a:avLst/>
          </a:prstGeom>
          <a:noFill/>
        </p:spPr>
        <p:txBody>
          <a:bodyPr wrap="square" lIns="45720" rIns="45720" tIns="18288" bIns="18288" anchor="t">
            <a:spAutoFit/>
          </a:bodyPr>
          <a:lstStyle/>
          <a:p>
            <a:pPr algn="l"/>
            <a:r>
              <a:rPr sz="1400" b="1" i="0">
                <a:solidFill>
                  <a:srgbClr val="1E2761"/>
                </a:solidFill>
                <a:latin typeface="Calibri"/>
              </a:rPr>
              <a:t>Site A · ns3050272.ip-51-255-76.eu</a:t>
            </a:r>
          </a:p>
        </p:txBody>
      </p:sp>
      <p:sp>
        <p:nvSpPr>
          <p:cNvPr id="6" name="TextBox 5"/>
          <p:cNvSpPr txBox="1"/>
          <p:nvPr/>
        </p:nvSpPr>
        <p:spPr>
          <a:xfrm>
            <a:off x="640080" y="2331720"/>
            <a:ext cx="4663440" cy="274320"/>
          </a:xfrm>
          <a:prstGeom prst="rect">
            <a:avLst/>
          </a:prstGeom>
          <a:noFill/>
        </p:spPr>
        <p:txBody>
          <a:bodyPr wrap="square" lIns="45720" rIns="45720" tIns="18288" bIns="18288" anchor="t">
            <a:spAutoFit/>
          </a:bodyPr>
          <a:lstStyle/>
          <a:p>
            <a:pPr algn="l"/>
            <a:r>
              <a:rPr sz="1000" b="0" i="1">
                <a:solidFill>
                  <a:srgbClr val="64748B"/>
                </a:solidFill>
                <a:latin typeface="Calibri"/>
              </a:rPr>
              <a:t>Hub OpenVPN · PVE 9.1.4 · LAN 10.10.0.0/24</a:t>
            </a:r>
          </a:p>
        </p:txBody>
      </p:sp>
      <p:sp>
        <p:nvSpPr>
          <p:cNvPr id="7" name="Rounded Rectangle 6"/>
          <p:cNvSpPr/>
          <p:nvPr/>
        </p:nvSpPr>
        <p:spPr>
          <a:xfrm>
            <a:off x="640080" y="2743200"/>
            <a:ext cx="1417320" cy="914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834640"/>
            <a:ext cx="1417320" cy="320040"/>
          </a:xfrm>
          <a:prstGeom prst="rect">
            <a:avLst/>
          </a:prstGeom>
          <a:noFill/>
        </p:spPr>
        <p:txBody>
          <a:bodyPr wrap="square" lIns="45720" rIns="45720" tIns="18288" bIns="18288" anchor="t">
            <a:spAutoFit/>
          </a:bodyPr>
          <a:lstStyle/>
          <a:p>
            <a:pPr algn="ctr"/>
            <a:r>
              <a:rPr sz="1100" b="1" i="0">
                <a:solidFill>
                  <a:srgbClr val="1E2761"/>
                </a:solidFill>
                <a:latin typeface="Calibri"/>
              </a:rPr>
              <a:t>pfsense-s1</a:t>
            </a:r>
          </a:p>
        </p:txBody>
      </p:sp>
      <p:sp>
        <p:nvSpPr>
          <p:cNvPr id="9" name="TextBox 8"/>
          <p:cNvSpPr txBox="1"/>
          <p:nvPr/>
        </p:nvSpPr>
        <p:spPr>
          <a:xfrm>
            <a:off x="640080" y="3154680"/>
            <a:ext cx="1417320" cy="365760"/>
          </a:xfrm>
          <a:prstGeom prst="rect">
            <a:avLst/>
          </a:prstGeom>
          <a:noFill/>
        </p:spPr>
        <p:txBody>
          <a:bodyPr wrap="square" lIns="45720" rIns="45720" tIns="18288" bIns="18288" anchor="t">
            <a:spAutoFit/>
          </a:bodyPr>
          <a:lstStyle/>
          <a:p>
            <a:pPr algn="ctr"/>
            <a:r>
              <a:rPr sz="900" b="0" i="0">
                <a:solidFill>
                  <a:srgbClr val="64748B"/>
                </a:solidFill>
                <a:latin typeface="Calibri"/>
              </a:rPr>
              <a:t>FW · VPN server</a:t>
            </a:r>
          </a:p>
        </p:txBody>
      </p:sp>
      <p:sp>
        <p:nvSpPr>
          <p:cNvPr id="10" name="Rounded Rectangle 9"/>
          <p:cNvSpPr/>
          <p:nvPr/>
        </p:nvSpPr>
        <p:spPr>
          <a:xfrm>
            <a:off x="2148840" y="2743200"/>
            <a:ext cx="1417320" cy="914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148840" y="2834640"/>
            <a:ext cx="1417320" cy="320040"/>
          </a:xfrm>
          <a:prstGeom prst="rect">
            <a:avLst/>
          </a:prstGeom>
          <a:noFill/>
        </p:spPr>
        <p:txBody>
          <a:bodyPr wrap="square" lIns="45720" rIns="45720" tIns="18288" bIns="18288" anchor="t">
            <a:spAutoFit/>
          </a:bodyPr>
          <a:lstStyle/>
          <a:p>
            <a:pPr algn="ctr"/>
            <a:r>
              <a:rPr sz="1100" b="1" i="0">
                <a:solidFill>
                  <a:srgbClr val="1E2761"/>
                </a:solidFill>
                <a:latin typeface="Calibri"/>
              </a:rPr>
              <a:t>bastion-s1</a:t>
            </a:r>
          </a:p>
        </p:txBody>
      </p:sp>
      <p:sp>
        <p:nvSpPr>
          <p:cNvPr id="12" name="TextBox 11"/>
          <p:cNvSpPr txBox="1"/>
          <p:nvPr/>
        </p:nvSpPr>
        <p:spPr>
          <a:xfrm>
            <a:off x="2148840" y="3154680"/>
            <a:ext cx="1417320" cy="365760"/>
          </a:xfrm>
          <a:prstGeom prst="rect">
            <a:avLst/>
          </a:prstGeom>
          <a:noFill/>
        </p:spPr>
        <p:txBody>
          <a:bodyPr wrap="square" lIns="45720" rIns="45720" tIns="18288" bIns="18288" anchor="t">
            <a:spAutoFit/>
          </a:bodyPr>
          <a:lstStyle/>
          <a:p>
            <a:pPr algn="ctr"/>
            <a:r>
              <a:rPr sz="900" b="0" i="0">
                <a:solidFill>
                  <a:srgbClr val="64748B"/>
                </a:solidFill>
                <a:latin typeface="Calibri"/>
              </a:rPr>
              <a:t>SSH MFA</a:t>
            </a:r>
          </a:p>
        </p:txBody>
      </p:sp>
      <p:sp>
        <p:nvSpPr>
          <p:cNvPr id="13" name="Rounded Rectangle 12"/>
          <p:cNvSpPr/>
          <p:nvPr/>
        </p:nvSpPr>
        <p:spPr>
          <a:xfrm>
            <a:off x="3657600" y="2743200"/>
            <a:ext cx="1417320" cy="914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0" y="2834640"/>
            <a:ext cx="1417320" cy="320040"/>
          </a:xfrm>
          <a:prstGeom prst="rect">
            <a:avLst/>
          </a:prstGeom>
          <a:noFill/>
        </p:spPr>
        <p:txBody>
          <a:bodyPr wrap="square" lIns="45720" rIns="45720" tIns="18288" bIns="18288" anchor="t">
            <a:spAutoFit/>
          </a:bodyPr>
          <a:lstStyle/>
          <a:p>
            <a:pPr algn="ctr"/>
            <a:r>
              <a:rPr sz="1100" b="1" i="0">
                <a:solidFill>
                  <a:srgbClr val="1E2761"/>
                </a:solidFill>
                <a:latin typeface="Calibri"/>
              </a:rPr>
              <a:t>services-s1</a:t>
            </a:r>
          </a:p>
        </p:txBody>
      </p:sp>
      <p:sp>
        <p:nvSpPr>
          <p:cNvPr id="15" name="TextBox 14"/>
          <p:cNvSpPr txBox="1"/>
          <p:nvPr/>
        </p:nvSpPr>
        <p:spPr>
          <a:xfrm>
            <a:off x="3657600" y="3154680"/>
            <a:ext cx="1417320" cy="365760"/>
          </a:xfrm>
          <a:prstGeom prst="rect">
            <a:avLst/>
          </a:prstGeom>
          <a:noFill/>
        </p:spPr>
        <p:txBody>
          <a:bodyPr wrap="square" lIns="45720" rIns="45720" tIns="18288" bIns="18288" anchor="t">
            <a:spAutoFit/>
          </a:bodyPr>
          <a:lstStyle/>
          <a:p>
            <a:pPr algn="ctr"/>
            <a:r>
              <a:rPr sz="900" b="0" i="0">
                <a:solidFill>
                  <a:srgbClr val="64748B"/>
                </a:solidFill>
                <a:latin typeface="Calibri"/>
              </a:rPr>
              <a:t>NetBox · Vault</a:t>
            </a:r>
          </a:p>
        </p:txBody>
      </p:sp>
      <p:sp>
        <p:nvSpPr>
          <p:cNvPr id="16" name="Rounded Rectangle 15"/>
          <p:cNvSpPr/>
          <p:nvPr/>
        </p:nvSpPr>
        <p:spPr>
          <a:xfrm>
            <a:off x="640080" y="3931920"/>
            <a:ext cx="4663440" cy="1188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069080"/>
            <a:ext cx="4572000" cy="274320"/>
          </a:xfrm>
          <a:prstGeom prst="rect">
            <a:avLst/>
          </a:prstGeom>
          <a:noFill/>
        </p:spPr>
        <p:txBody>
          <a:bodyPr wrap="square" lIns="45720" rIns="45720" tIns="18288" bIns="18288" anchor="t">
            <a:spAutoFit/>
          </a:bodyPr>
          <a:lstStyle/>
          <a:p>
            <a:pPr algn="l"/>
            <a:r>
              <a:rPr sz="1100" b="1" i="0">
                <a:solidFill>
                  <a:srgbClr val="1E2761"/>
                </a:solidFill>
                <a:latin typeface="Calibri"/>
              </a:rPr>
              <a:t>Elastic stack · Logstash · Kibana 8.11</a:t>
            </a:r>
          </a:p>
        </p:txBody>
      </p:sp>
      <p:sp>
        <p:nvSpPr>
          <p:cNvPr id="18" name="TextBox 17"/>
          <p:cNvSpPr txBox="1"/>
          <p:nvPr/>
        </p:nvSpPr>
        <p:spPr>
          <a:xfrm>
            <a:off x="731520" y="4389120"/>
            <a:ext cx="4572000" cy="640080"/>
          </a:xfrm>
          <a:prstGeom prst="rect">
            <a:avLst/>
          </a:prstGeom>
          <a:noFill/>
        </p:spPr>
        <p:txBody>
          <a:bodyPr wrap="square" lIns="45720" rIns="45720" tIns="18288" bIns="18288" anchor="t">
            <a:spAutoFit/>
          </a:bodyPr>
          <a:lstStyle/>
          <a:p>
            <a:pPr algn="l"/>
            <a:r>
              <a:rPr sz="1000" b="0" i="0">
                <a:solidFill>
                  <a:srgbClr val="64748B"/>
                </a:solidFill>
                <a:latin typeface="Calibri"/>
              </a:rPr>
              <a:t>Dashboard runtime + 3 alert rules · pipeline Filebeat live</a:t>
            </a:r>
          </a:p>
        </p:txBody>
      </p:sp>
      <p:sp>
        <p:nvSpPr>
          <p:cNvPr id="19" name="Rounded Rectangle 18"/>
          <p:cNvSpPr/>
          <p:nvPr/>
        </p:nvSpPr>
        <p:spPr>
          <a:xfrm>
            <a:off x="6675120" y="1828800"/>
            <a:ext cx="5029200" cy="3474720"/>
          </a:xfrm>
          <a:prstGeom prst="round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0" y="1965960"/>
            <a:ext cx="4663440" cy="365760"/>
          </a:xfrm>
          <a:prstGeom prst="rect">
            <a:avLst/>
          </a:prstGeom>
          <a:noFill/>
        </p:spPr>
        <p:txBody>
          <a:bodyPr wrap="square" lIns="45720" rIns="45720" tIns="18288" bIns="18288" anchor="t">
            <a:spAutoFit/>
          </a:bodyPr>
          <a:lstStyle/>
          <a:p>
            <a:pPr algn="l"/>
            <a:r>
              <a:rPr sz="1400" b="1" i="0">
                <a:solidFill>
                  <a:srgbClr val="1E2761"/>
                </a:solidFill>
                <a:latin typeface="Calibri"/>
              </a:rPr>
              <a:t>Site B · ns3183326.ip-146-59-253.eu</a:t>
            </a:r>
          </a:p>
        </p:txBody>
      </p:sp>
      <p:sp>
        <p:nvSpPr>
          <p:cNvPr id="21" name="TextBox 20"/>
          <p:cNvSpPr txBox="1"/>
          <p:nvPr/>
        </p:nvSpPr>
        <p:spPr>
          <a:xfrm>
            <a:off x="6858000" y="2331720"/>
            <a:ext cx="4663440" cy="274320"/>
          </a:xfrm>
          <a:prstGeom prst="rect">
            <a:avLst/>
          </a:prstGeom>
          <a:noFill/>
        </p:spPr>
        <p:txBody>
          <a:bodyPr wrap="square" lIns="45720" rIns="45720" tIns="18288" bIns="18288" anchor="t">
            <a:spAutoFit/>
          </a:bodyPr>
          <a:lstStyle/>
          <a:p>
            <a:pPr algn="l"/>
            <a:r>
              <a:rPr sz="1000" b="0" i="1">
                <a:solidFill>
                  <a:srgbClr val="64748B"/>
                </a:solidFill>
                <a:latin typeface="Calibri"/>
              </a:rPr>
              <a:t>Client OpenVPN · PVE 9.1.14 · LAN 192.168.0.0/24</a:t>
            </a:r>
          </a:p>
        </p:txBody>
      </p:sp>
      <p:sp>
        <p:nvSpPr>
          <p:cNvPr id="22" name="Rounded Rectangle 21"/>
          <p:cNvSpPr/>
          <p:nvPr/>
        </p:nvSpPr>
        <p:spPr>
          <a:xfrm>
            <a:off x="6858000" y="2743200"/>
            <a:ext cx="1417320" cy="914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0" y="2834640"/>
            <a:ext cx="1417320" cy="320040"/>
          </a:xfrm>
          <a:prstGeom prst="rect">
            <a:avLst/>
          </a:prstGeom>
          <a:noFill/>
        </p:spPr>
        <p:txBody>
          <a:bodyPr wrap="square" lIns="45720" rIns="45720" tIns="18288" bIns="18288" anchor="t">
            <a:spAutoFit/>
          </a:bodyPr>
          <a:lstStyle/>
          <a:p>
            <a:pPr algn="ctr"/>
            <a:r>
              <a:rPr sz="1100" b="1" i="0">
                <a:solidFill>
                  <a:srgbClr val="1E2761"/>
                </a:solidFill>
                <a:latin typeface="Calibri"/>
              </a:rPr>
              <a:t>pfsense-s2</a:t>
            </a:r>
          </a:p>
        </p:txBody>
      </p:sp>
      <p:sp>
        <p:nvSpPr>
          <p:cNvPr id="24" name="TextBox 23"/>
          <p:cNvSpPr txBox="1"/>
          <p:nvPr/>
        </p:nvSpPr>
        <p:spPr>
          <a:xfrm>
            <a:off x="6858000" y="3154680"/>
            <a:ext cx="1417320" cy="365760"/>
          </a:xfrm>
          <a:prstGeom prst="rect">
            <a:avLst/>
          </a:prstGeom>
          <a:noFill/>
        </p:spPr>
        <p:txBody>
          <a:bodyPr wrap="square" lIns="45720" rIns="45720" tIns="18288" bIns="18288" anchor="t">
            <a:spAutoFit/>
          </a:bodyPr>
          <a:lstStyle/>
          <a:p>
            <a:pPr algn="ctr"/>
            <a:r>
              <a:rPr sz="900" b="0" i="0">
                <a:solidFill>
                  <a:srgbClr val="64748B"/>
                </a:solidFill>
                <a:latin typeface="Calibri"/>
              </a:rPr>
              <a:t>FW · VPN client</a:t>
            </a:r>
          </a:p>
        </p:txBody>
      </p:sp>
      <p:sp>
        <p:nvSpPr>
          <p:cNvPr id="25" name="Rounded Rectangle 24"/>
          <p:cNvSpPr/>
          <p:nvPr/>
        </p:nvSpPr>
        <p:spPr>
          <a:xfrm>
            <a:off x="8366760" y="2743200"/>
            <a:ext cx="1417320" cy="914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66760" y="2834640"/>
            <a:ext cx="1417320" cy="320040"/>
          </a:xfrm>
          <a:prstGeom prst="rect">
            <a:avLst/>
          </a:prstGeom>
          <a:noFill/>
        </p:spPr>
        <p:txBody>
          <a:bodyPr wrap="square" lIns="45720" rIns="45720" tIns="18288" bIns="18288" anchor="t">
            <a:spAutoFit/>
          </a:bodyPr>
          <a:lstStyle/>
          <a:p>
            <a:pPr algn="ctr"/>
            <a:r>
              <a:rPr sz="1100" b="1" i="0">
                <a:solidFill>
                  <a:srgbClr val="1E2761"/>
                </a:solidFill>
                <a:latin typeface="Calibri"/>
              </a:rPr>
              <a:t>bastion-s2</a:t>
            </a:r>
          </a:p>
        </p:txBody>
      </p:sp>
      <p:sp>
        <p:nvSpPr>
          <p:cNvPr id="27" name="TextBox 26"/>
          <p:cNvSpPr txBox="1"/>
          <p:nvPr/>
        </p:nvSpPr>
        <p:spPr>
          <a:xfrm>
            <a:off x="8366760" y="3154680"/>
            <a:ext cx="1417320" cy="365760"/>
          </a:xfrm>
          <a:prstGeom prst="rect">
            <a:avLst/>
          </a:prstGeom>
          <a:noFill/>
        </p:spPr>
        <p:txBody>
          <a:bodyPr wrap="square" lIns="45720" rIns="45720" tIns="18288" bIns="18288" anchor="t">
            <a:spAutoFit/>
          </a:bodyPr>
          <a:lstStyle/>
          <a:p>
            <a:pPr algn="ctr"/>
            <a:r>
              <a:rPr sz="900" b="0" i="0">
                <a:solidFill>
                  <a:srgbClr val="64748B"/>
                </a:solidFill>
                <a:latin typeface="Calibri"/>
              </a:rPr>
              <a:t>SSH MFA</a:t>
            </a:r>
          </a:p>
        </p:txBody>
      </p:sp>
      <p:sp>
        <p:nvSpPr>
          <p:cNvPr id="28" name="Rounded Rectangle 27"/>
          <p:cNvSpPr/>
          <p:nvPr/>
        </p:nvSpPr>
        <p:spPr>
          <a:xfrm>
            <a:off x="9875520" y="2743200"/>
            <a:ext cx="1417320" cy="914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875520" y="2834640"/>
            <a:ext cx="1417320" cy="320040"/>
          </a:xfrm>
          <a:prstGeom prst="rect">
            <a:avLst/>
          </a:prstGeom>
          <a:noFill/>
        </p:spPr>
        <p:txBody>
          <a:bodyPr wrap="square" lIns="45720" rIns="45720" tIns="18288" bIns="18288" anchor="t">
            <a:spAutoFit/>
          </a:bodyPr>
          <a:lstStyle/>
          <a:p>
            <a:pPr algn="ctr"/>
            <a:r>
              <a:rPr sz="1100" b="1" i="0">
                <a:solidFill>
                  <a:srgbClr val="1E2761"/>
                </a:solidFill>
                <a:latin typeface="Calibri"/>
              </a:rPr>
              <a:t>services-s2</a:t>
            </a:r>
          </a:p>
        </p:txBody>
      </p:sp>
      <p:sp>
        <p:nvSpPr>
          <p:cNvPr id="30" name="TextBox 29"/>
          <p:cNvSpPr txBox="1"/>
          <p:nvPr/>
        </p:nvSpPr>
        <p:spPr>
          <a:xfrm>
            <a:off x="9875520" y="3154680"/>
            <a:ext cx="1417320" cy="365760"/>
          </a:xfrm>
          <a:prstGeom prst="rect">
            <a:avLst/>
          </a:prstGeom>
          <a:noFill/>
        </p:spPr>
        <p:txBody>
          <a:bodyPr wrap="square" lIns="45720" rIns="45720" tIns="18288" bIns="18288" anchor="t">
            <a:spAutoFit/>
          </a:bodyPr>
          <a:lstStyle/>
          <a:p>
            <a:pPr algn="ctr"/>
            <a:r>
              <a:rPr sz="900" b="0" i="0">
                <a:solidFill>
                  <a:srgbClr val="64748B"/>
                </a:solidFill>
                <a:latin typeface="Calibri"/>
              </a:rPr>
              <a:t>Bastion-lite · Obs</a:t>
            </a:r>
          </a:p>
        </p:txBody>
      </p:sp>
      <p:sp>
        <p:nvSpPr>
          <p:cNvPr id="31" name="Rounded Rectangle 30"/>
          <p:cNvSpPr/>
          <p:nvPr/>
        </p:nvSpPr>
        <p:spPr>
          <a:xfrm>
            <a:off x="6858000" y="3931920"/>
            <a:ext cx="4663440" cy="1188720"/>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49440" y="4069080"/>
            <a:ext cx="4572000" cy="274320"/>
          </a:xfrm>
          <a:prstGeom prst="rect">
            <a:avLst/>
          </a:prstGeom>
          <a:noFill/>
        </p:spPr>
        <p:txBody>
          <a:bodyPr wrap="square" lIns="45720" rIns="45720" tIns="18288" bIns="18288" anchor="t">
            <a:spAutoFit/>
          </a:bodyPr>
          <a:lstStyle/>
          <a:p>
            <a:pPr algn="l"/>
            <a:r>
              <a:rPr sz="1100" b="1" i="0">
                <a:solidFill>
                  <a:srgbClr val="1E2761"/>
                </a:solidFill>
                <a:latin typeface="Calibri"/>
              </a:rPr>
              <a:t>Site C cloud Azure · germanywestcentral (planifié)</a:t>
            </a:r>
          </a:p>
        </p:txBody>
      </p:sp>
      <p:sp>
        <p:nvSpPr>
          <p:cNvPr id="33" name="TextBox 32"/>
          <p:cNvSpPr txBox="1"/>
          <p:nvPr/>
        </p:nvSpPr>
        <p:spPr>
          <a:xfrm>
            <a:off x="6949440" y="4389120"/>
            <a:ext cx="4572000" cy="640080"/>
          </a:xfrm>
          <a:prstGeom prst="rect">
            <a:avLst/>
          </a:prstGeom>
          <a:noFill/>
        </p:spPr>
        <p:txBody>
          <a:bodyPr wrap="square" lIns="45720" rIns="45720" tIns="18288" bIns="18288" anchor="t">
            <a:spAutoFit/>
          </a:bodyPr>
          <a:lstStyle/>
          <a:p>
            <a:pPr algn="l"/>
            <a:r>
              <a:rPr sz="1000" b="0" i="0">
                <a:solidFill>
                  <a:srgbClr val="64748B"/>
                </a:solidFill>
                <a:latin typeface="Calibri"/>
              </a:rPr>
              <a:t>Code Terraform livré · 7/8 ressources runtime · VM bloquée par capacity Students</a:t>
            </a:r>
          </a:p>
        </p:txBody>
      </p:sp>
      <p:sp>
        <p:nvSpPr>
          <p:cNvPr id="34" name="Rectangle 33"/>
          <p:cNvSpPr/>
          <p:nvPr/>
        </p:nvSpPr>
        <p:spPr>
          <a:xfrm>
            <a:off x="5486400" y="3383280"/>
            <a:ext cx="118872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29200" y="3063240"/>
            <a:ext cx="2103120" cy="274320"/>
          </a:xfrm>
          <a:prstGeom prst="rect">
            <a:avLst/>
          </a:prstGeom>
          <a:noFill/>
        </p:spPr>
        <p:txBody>
          <a:bodyPr wrap="square" lIns="45720" rIns="45720" tIns="18288" bIns="18288" anchor="t">
            <a:spAutoFit/>
          </a:bodyPr>
          <a:lstStyle/>
          <a:p>
            <a:pPr algn="ctr"/>
            <a:r>
              <a:rPr sz="1000" b="1" i="1">
                <a:solidFill>
                  <a:srgbClr val="38BDF8"/>
                </a:solidFill>
                <a:latin typeface="Calibri"/>
              </a:rPr>
              <a:t>OpenVPN AES-256-GCM</a:t>
            </a:r>
          </a:p>
        </p:txBody>
      </p:sp>
      <p:sp>
        <p:nvSpPr>
          <p:cNvPr id="36" name="TextBox 35"/>
          <p:cNvSpPr txBox="1"/>
          <p:nvPr/>
        </p:nvSpPr>
        <p:spPr>
          <a:xfrm>
            <a:off x="5029200" y="3520440"/>
            <a:ext cx="2103120" cy="274320"/>
          </a:xfrm>
          <a:prstGeom prst="rect">
            <a:avLst/>
          </a:prstGeom>
          <a:noFill/>
        </p:spPr>
        <p:txBody>
          <a:bodyPr wrap="square" lIns="45720" rIns="45720" tIns="18288" bIns="18288" anchor="t">
            <a:spAutoFit/>
          </a:bodyPr>
          <a:lstStyle/>
          <a:p>
            <a:pPr algn="ctr"/>
            <a:r>
              <a:rPr sz="900" b="0" i="0">
                <a:solidFill>
                  <a:srgbClr val="64748B"/>
                </a:solidFill>
                <a:latin typeface="Calibri"/>
              </a:rPr>
              <a:t>tunnel site-à-site</a:t>
            </a:r>
          </a:p>
        </p:txBody>
      </p:sp>
      <p:sp>
        <p:nvSpPr>
          <p:cNvPr id="37" name="TextBox 36"/>
          <p:cNvSpPr txBox="1"/>
          <p:nvPr/>
        </p:nvSpPr>
        <p:spPr>
          <a:xfrm>
            <a:off x="457200" y="6446520"/>
            <a:ext cx="5486400" cy="320040"/>
          </a:xfrm>
          <a:prstGeom prst="rect">
            <a:avLst/>
          </a:prstGeom>
          <a:noFill/>
        </p:spPr>
        <p:txBody>
          <a:bodyPr wrap="square" lIns="45720" rIns="45720" tIns="18288" bIns="18288" anchor="t">
            <a:spAutoFit/>
          </a:bodyPr>
          <a:lstStyle/>
          <a:p>
            <a:pPr algn="l"/>
            <a:r>
              <a:rPr sz="900" b="0" i="0">
                <a:solidFill>
                  <a:srgbClr val="64748B"/>
                </a:solidFill>
                <a:latin typeface="Calibri"/>
              </a:rPr>
              <a:t>CIA · Hybrid Infrastructure · GR46</a:t>
            </a:r>
          </a:p>
        </p:txBody>
      </p:sp>
      <p:sp>
        <p:nvSpPr>
          <p:cNvPr id="38" name="TextBox 37"/>
          <p:cNvSpPr txBox="1"/>
          <p:nvPr/>
        </p:nvSpPr>
        <p:spPr>
          <a:xfrm>
            <a:off x="10515600" y="6446520"/>
            <a:ext cx="1188720" cy="320040"/>
          </a:xfrm>
          <a:prstGeom prst="rect">
            <a:avLst/>
          </a:prstGeom>
          <a:noFill/>
        </p:spPr>
        <p:txBody>
          <a:bodyPr wrap="square" lIns="45720" rIns="45720" tIns="18288" bIns="18288" anchor="t">
            <a:spAutoFit/>
          </a:bodyPr>
          <a:lstStyle/>
          <a:p>
            <a:pPr algn="r"/>
            <a:r>
              <a:rPr sz="900" b="0" i="0">
                <a:solidFill>
                  <a:srgbClr val="64748B"/>
                </a:solidFill>
                <a:latin typeface="Calibri"/>
              </a:rPr>
              <a:t>3 / 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0972800" cy="640080"/>
          </a:xfrm>
          <a:prstGeom prst="rect">
            <a:avLst/>
          </a:prstGeom>
          <a:noFill/>
        </p:spPr>
        <p:txBody>
          <a:bodyPr wrap="square" lIns="45720" rIns="45720" tIns="18288" bIns="18288" anchor="t">
            <a:spAutoFit/>
          </a:bodyPr>
          <a:lstStyle/>
          <a:p>
            <a:pPr algn="l"/>
            <a:r>
              <a:rPr sz="4000" b="1" i="0">
                <a:solidFill>
                  <a:srgbClr val="1E2761"/>
                </a:solidFill>
                <a:latin typeface="Trebuchet MS"/>
              </a:rPr>
              <a:t>Stack technique</a:t>
            </a:r>
          </a:p>
        </p:txBody>
      </p:sp>
      <p:sp>
        <p:nvSpPr>
          <p:cNvPr id="3" name="TextBox 2"/>
          <p:cNvSpPr txBox="1"/>
          <p:nvPr/>
        </p:nvSpPr>
        <p:spPr>
          <a:xfrm>
            <a:off x="457200" y="1051560"/>
            <a:ext cx="10972800" cy="457200"/>
          </a:xfrm>
          <a:prstGeom prst="rect">
            <a:avLst/>
          </a:prstGeom>
          <a:noFill/>
        </p:spPr>
        <p:txBody>
          <a:bodyPr wrap="square" lIns="45720" rIns="45720" tIns="18288" bIns="18288" anchor="t">
            <a:spAutoFit/>
          </a:bodyPr>
          <a:lstStyle/>
          <a:p>
            <a:pPr algn="l"/>
            <a:r>
              <a:rPr sz="1600" b="0" i="1">
                <a:solidFill>
                  <a:srgbClr val="64748B"/>
                </a:solidFill>
                <a:latin typeface="Calibri"/>
              </a:rPr>
              <a:t>6 couches · 100 % open source · 100 % infra-as-code</a:t>
            </a:r>
          </a:p>
        </p:txBody>
      </p:sp>
      <p:sp>
        <p:nvSpPr>
          <p:cNvPr id="4" name="Rounded Rectangle 3"/>
          <p:cNvSpPr/>
          <p:nvPr/>
        </p:nvSpPr>
        <p:spPr>
          <a:xfrm>
            <a:off x="457200" y="1828800"/>
            <a:ext cx="3749039" cy="2331720"/>
          </a:xfrm>
          <a:prstGeom prst="round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828800"/>
            <a:ext cx="137160" cy="2331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965960"/>
            <a:ext cx="3291839" cy="411480"/>
          </a:xfrm>
          <a:prstGeom prst="rect">
            <a:avLst/>
          </a:prstGeom>
          <a:noFill/>
        </p:spPr>
        <p:txBody>
          <a:bodyPr wrap="square" lIns="45720" rIns="45720" tIns="18288" bIns="18288" anchor="t">
            <a:spAutoFit/>
          </a:bodyPr>
          <a:lstStyle/>
          <a:p>
            <a:pPr algn="l"/>
            <a:r>
              <a:rPr sz="1800" b="1" i="0">
                <a:solidFill>
                  <a:srgbClr val="1E2761"/>
                </a:solidFill>
                <a:latin typeface="Trebuchet MS"/>
              </a:rPr>
              <a:t>Terraform 1.10</a:t>
            </a:r>
          </a:p>
        </p:txBody>
      </p:sp>
      <p:sp>
        <p:nvSpPr>
          <p:cNvPr id="7" name="TextBox 6"/>
          <p:cNvSpPr txBox="1"/>
          <p:nvPr/>
        </p:nvSpPr>
        <p:spPr>
          <a:xfrm>
            <a:off x="777240" y="2423160"/>
            <a:ext cx="3291839" cy="320040"/>
          </a:xfrm>
          <a:prstGeom prst="rect">
            <a:avLst/>
          </a:prstGeom>
          <a:noFill/>
        </p:spPr>
        <p:txBody>
          <a:bodyPr wrap="square" lIns="45720" rIns="45720" tIns="18288" bIns="18288" anchor="t">
            <a:spAutoFit/>
          </a:bodyPr>
          <a:lstStyle/>
          <a:p>
            <a:pPr algn="l"/>
            <a:r>
              <a:rPr sz="1100" b="1" i="0">
                <a:solidFill>
                  <a:srgbClr val="38BDF8"/>
                </a:solidFill>
                <a:latin typeface="Calibri"/>
              </a:rPr>
              <a:t>PROVISIONING</a:t>
            </a:r>
          </a:p>
        </p:txBody>
      </p:sp>
      <p:sp>
        <p:nvSpPr>
          <p:cNvPr id="8" name="TextBox 7"/>
          <p:cNvSpPr txBox="1"/>
          <p:nvPr/>
        </p:nvSpPr>
        <p:spPr>
          <a:xfrm>
            <a:off x="777240" y="2788920"/>
            <a:ext cx="3246119" cy="1234440"/>
          </a:xfrm>
          <a:prstGeom prst="rect">
            <a:avLst/>
          </a:prstGeom>
          <a:noFill/>
        </p:spPr>
        <p:txBody>
          <a:bodyPr wrap="square" lIns="45720" rIns="45720" tIns="18288" bIns="18288" anchor="t">
            <a:spAutoFit/>
          </a:bodyPr>
          <a:lstStyle/>
          <a:p>
            <a:pPr algn="l"/>
            <a:r>
              <a:rPr sz="1100" b="0" i="0">
                <a:solidFill>
                  <a:srgbClr val="1E2761"/>
                </a:solidFill>
                <a:latin typeface="Calibri"/>
              </a:rPr>
              <a:t>modules Proxmox + Azure azurerm 3.117 · plan-then-apply · state local + roadmap remote backend</a:t>
            </a:r>
          </a:p>
        </p:txBody>
      </p:sp>
      <p:sp>
        <p:nvSpPr>
          <p:cNvPr id="9" name="Rounded Rectangle 8"/>
          <p:cNvSpPr/>
          <p:nvPr/>
        </p:nvSpPr>
        <p:spPr>
          <a:xfrm>
            <a:off x="4343399" y="1828800"/>
            <a:ext cx="3749039" cy="2331720"/>
          </a:xfrm>
          <a:prstGeom prst="round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43399" y="1828800"/>
            <a:ext cx="137160" cy="2331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39" y="1965960"/>
            <a:ext cx="3291839" cy="411480"/>
          </a:xfrm>
          <a:prstGeom prst="rect">
            <a:avLst/>
          </a:prstGeom>
          <a:noFill/>
        </p:spPr>
        <p:txBody>
          <a:bodyPr wrap="square" lIns="45720" rIns="45720" tIns="18288" bIns="18288" anchor="t">
            <a:spAutoFit/>
          </a:bodyPr>
          <a:lstStyle/>
          <a:p>
            <a:pPr algn="l"/>
            <a:r>
              <a:rPr sz="1800" b="1" i="0">
                <a:solidFill>
                  <a:srgbClr val="1E2761"/>
                </a:solidFill>
                <a:latin typeface="Trebuchet MS"/>
              </a:rPr>
              <a:t>Ansible 2.18</a:t>
            </a:r>
          </a:p>
        </p:txBody>
      </p:sp>
      <p:sp>
        <p:nvSpPr>
          <p:cNvPr id="12" name="TextBox 11"/>
          <p:cNvSpPr txBox="1"/>
          <p:nvPr/>
        </p:nvSpPr>
        <p:spPr>
          <a:xfrm>
            <a:off x="4663439" y="2423160"/>
            <a:ext cx="3291839" cy="320040"/>
          </a:xfrm>
          <a:prstGeom prst="rect">
            <a:avLst/>
          </a:prstGeom>
          <a:noFill/>
        </p:spPr>
        <p:txBody>
          <a:bodyPr wrap="square" lIns="45720" rIns="45720" tIns="18288" bIns="18288" anchor="t">
            <a:spAutoFit/>
          </a:bodyPr>
          <a:lstStyle/>
          <a:p>
            <a:pPr algn="l"/>
            <a:r>
              <a:rPr sz="1100" b="1" i="0">
                <a:solidFill>
                  <a:srgbClr val="38BDF8"/>
                </a:solidFill>
                <a:latin typeface="Calibri"/>
              </a:rPr>
              <a:t>CONFIGURATION</a:t>
            </a:r>
          </a:p>
        </p:txBody>
      </p:sp>
      <p:sp>
        <p:nvSpPr>
          <p:cNvPr id="13" name="TextBox 12"/>
          <p:cNvSpPr txBox="1"/>
          <p:nvPr/>
        </p:nvSpPr>
        <p:spPr>
          <a:xfrm>
            <a:off x="4663439" y="2788920"/>
            <a:ext cx="3246119" cy="1234440"/>
          </a:xfrm>
          <a:prstGeom prst="rect">
            <a:avLst/>
          </a:prstGeom>
          <a:noFill/>
        </p:spPr>
        <p:txBody>
          <a:bodyPr wrap="square" lIns="45720" rIns="45720" tIns="18288" bIns="18288" anchor="t">
            <a:spAutoFit/>
          </a:bodyPr>
          <a:lstStyle/>
          <a:p>
            <a:pPr algn="l"/>
            <a:r>
              <a:rPr sz="1100" b="0" i="0">
                <a:solidFill>
                  <a:srgbClr val="1E2761"/>
                </a:solidFill>
                <a:latin typeface="Calibri"/>
              </a:rPr>
              <a:t>11 rôles : common, pfsense, openvpn, netbox, elastic/kibana/logstash, bastion, dns, webapp, filebeat</a:t>
            </a:r>
          </a:p>
        </p:txBody>
      </p:sp>
      <p:sp>
        <p:nvSpPr>
          <p:cNvPr id="14" name="Rounded Rectangle 13"/>
          <p:cNvSpPr/>
          <p:nvPr/>
        </p:nvSpPr>
        <p:spPr>
          <a:xfrm>
            <a:off x="8229598" y="1828800"/>
            <a:ext cx="3749039" cy="2331720"/>
          </a:xfrm>
          <a:prstGeom prst="round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598" y="1828800"/>
            <a:ext cx="137160" cy="2331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49638" y="1965960"/>
            <a:ext cx="3291839" cy="411480"/>
          </a:xfrm>
          <a:prstGeom prst="rect">
            <a:avLst/>
          </a:prstGeom>
          <a:noFill/>
        </p:spPr>
        <p:txBody>
          <a:bodyPr wrap="square" lIns="45720" rIns="45720" tIns="18288" bIns="18288" anchor="t">
            <a:spAutoFit/>
          </a:bodyPr>
          <a:lstStyle/>
          <a:p>
            <a:pPr algn="l"/>
            <a:r>
              <a:rPr sz="1800" b="1" i="0">
                <a:solidFill>
                  <a:srgbClr val="1E2761"/>
                </a:solidFill>
                <a:latin typeface="Trebuchet MS"/>
              </a:rPr>
              <a:t>pfSense CE 2.7</a:t>
            </a:r>
          </a:p>
        </p:txBody>
      </p:sp>
      <p:sp>
        <p:nvSpPr>
          <p:cNvPr id="17" name="TextBox 16"/>
          <p:cNvSpPr txBox="1"/>
          <p:nvPr/>
        </p:nvSpPr>
        <p:spPr>
          <a:xfrm>
            <a:off x="8549638" y="2423160"/>
            <a:ext cx="3291839" cy="320040"/>
          </a:xfrm>
          <a:prstGeom prst="rect">
            <a:avLst/>
          </a:prstGeom>
          <a:noFill/>
        </p:spPr>
        <p:txBody>
          <a:bodyPr wrap="square" lIns="45720" rIns="45720" tIns="18288" bIns="18288" anchor="t">
            <a:spAutoFit/>
          </a:bodyPr>
          <a:lstStyle/>
          <a:p>
            <a:pPr algn="l"/>
            <a:r>
              <a:rPr sz="1100" b="1" i="0">
                <a:solidFill>
                  <a:srgbClr val="38BDF8"/>
                </a:solidFill>
                <a:latin typeface="Calibri"/>
              </a:rPr>
              <a:t>FIREWALL AS CODE</a:t>
            </a:r>
          </a:p>
        </p:txBody>
      </p:sp>
      <p:sp>
        <p:nvSpPr>
          <p:cNvPr id="18" name="TextBox 17"/>
          <p:cNvSpPr txBox="1"/>
          <p:nvPr/>
        </p:nvSpPr>
        <p:spPr>
          <a:xfrm>
            <a:off x="8549638" y="2788920"/>
            <a:ext cx="3246119" cy="1234440"/>
          </a:xfrm>
          <a:prstGeom prst="rect">
            <a:avLst/>
          </a:prstGeom>
          <a:noFill/>
        </p:spPr>
        <p:txBody>
          <a:bodyPr wrap="square" lIns="45720" rIns="45720" tIns="18288" bIns="18288" anchor="t">
            <a:spAutoFit/>
          </a:bodyPr>
          <a:lstStyle/>
          <a:p>
            <a:pPr algn="l"/>
            <a:r>
              <a:rPr sz="1100" b="0" i="0">
                <a:solidFill>
                  <a:srgbClr val="1E2761"/>
                </a:solidFill>
                <a:latin typeface="Calibri"/>
              </a:rPr>
              <a:t>rules sourcées XML · DNAT bastion · killswitch floating rule · matrice 28 flux autorisés / 8 refus</a:t>
            </a:r>
          </a:p>
        </p:txBody>
      </p:sp>
      <p:sp>
        <p:nvSpPr>
          <p:cNvPr id="19" name="Rounded Rectangle 18"/>
          <p:cNvSpPr/>
          <p:nvPr/>
        </p:nvSpPr>
        <p:spPr>
          <a:xfrm>
            <a:off x="457200" y="4343400"/>
            <a:ext cx="3749039" cy="2331720"/>
          </a:xfrm>
          <a:prstGeom prst="round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4343400"/>
            <a:ext cx="137160" cy="2331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4480560"/>
            <a:ext cx="3291839" cy="411480"/>
          </a:xfrm>
          <a:prstGeom prst="rect">
            <a:avLst/>
          </a:prstGeom>
          <a:noFill/>
        </p:spPr>
        <p:txBody>
          <a:bodyPr wrap="square" lIns="45720" rIns="45720" tIns="18288" bIns="18288" anchor="t">
            <a:spAutoFit/>
          </a:bodyPr>
          <a:lstStyle/>
          <a:p>
            <a:pPr algn="l"/>
            <a:r>
              <a:rPr sz="1800" b="1" i="0">
                <a:solidFill>
                  <a:srgbClr val="1E2761"/>
                </a:solidFill>
                <a:latin typeface="Trebuchet MS"/>
              </a:rPr>
              <a:t>NetBox 4.0</a:t>
            </a:r>
          </a:p>
        </p:txBody>
      </p:sp>
      <p:sp>
        <p:nvSpPr>
          <p:cNvPr id="22" name="TextBox 21"/>
          <p:cNvSpPr txBox="1"/>
          <p:nvPr/>
        </p:nvSpPr>
        <p:spPr>
          <a:xfrm>
            <a:off x="777240" y="4937760"/>
            <a:ext cx="3291839" cy="320040"/>
          </a:xfrm>
          <a:prstGeom prst="rect">
            <a:avLst/>
          </a:prstGeom>
          <a:noFill/>
        </p:spPr>
        <p:txBody>
          <a:bodyPr wrap="square" lIns="45720" rIns="45720" tIns="18288" bIns="18288" anchor="t">
            <a:spAutoFit/>
          </a:bodyPr>
          <a:lstStyle/>
          <a:p>
            <a:pPr algn="l"/>
            <a:r>
              <a:rPr sz="1100" b="1" i="0">
                <a:solidFill>
                  <a:srgbClr val="38BDF8"/>
                </a:solidFill>
                <a:latin typeface="Calibri"/>
              </a:rPr>
              <a:t>IPAM SOURCE DE VÉRITÉ</a:t>
            </a:r>
          </a:p>
        </p:txBody>
      </p:sp>
      <p:sp>
        <p:nvSpPr>
          <p:cNvPr id="23" name="TextBox 22"/>
          <p:cNvSpPr txBox="1"/>
          <p:nvPr/>
        </p:nvSpPr>
        <p:spPr>
          <a:xfrm>
            <a:off x="777240" y="5303520"/>
            <a:ext cx="3246119" cy="1234440"/>
          </a:xfrm>
          <a:prstGeom prst="rect">
            <a:avLst/>
          </a:prstGeom>
          <a:noFill/>
        </p:spPr>
        <p:txBody>
          <a:bodyPr wrap="square" lIns="45720" rIns="45720" tIns="18288" bIns="18288" anchor="t">
            <a:spAutoFit/>
          </a:bodyPr>
          <a:lstStyle/>
          <a:p>
            <a:pPr algn="l"/>
            <a:r>
              <a:rPr sz="1100" b="0" i="0">
                <a:solidFill>
                  <a:srgbClr val="1E2761"/>
                </a:solidFill>
                <a:latin typeface="Calibri"/>
              </a:rPr>
              <a:t>sites + prefixes + IP allocations · automation Ansible · auto-sync depuis inventaire</a:t>
            </a:r>
          </a:p>
        </p:txBody>
      </p:sp>
      <p:sp>
        <p:nvSpPr>
          <p:cNvPr id="24" name="Rounded Rectangle 23"/>
          <p:cNvSpPr/>
          <p:nvPr/>
        </p:nvSpPr>
        <p:spPr>
          <a:xfrm>
            <a:off x="4343399" y="4343400"/>
            <a:ext cx="3749039" cy="2331720"/>
          </a:xfrm>
          <a:prstGeom prst="round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43399" y="4343400"/>
            <a:ext cx="137160" cy="2331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63439" y="4480560"/>
            <a:ext cx="3291839" cy="411480"/>
          </a:xfrm>
          <a:prstGeom prst="rect">
            <a:avLst/>
          </a:prstGeom>
          <a:noFill/>
        </p:spPr>
        <p:txBody>
          <a:bodyPr wrap="square" lIns="45720" rIns="45720" tIns="18288" bIns="18288" anchor="t">
            <a:spAutoFit/>
          </a:bodyPr>
          <a:lstStyle/>
          <a:p>
            <a:pPr algn="l"/>
            <a:r>
              <a:rPr sz="1800" b="1" i="0">
                <a:solidFill>
                  <a:srgbClr val="1E2761"/>
                </a:solidFill>
                <a:latin typeface="Trebuchet MS"/>
              </a:rPr>
              <a:t>Elastic 8.11</a:t>
            </a:r>
          </a:p>
        </p:txBody>
      </p:sp>
      <p:sp>
        <p:nvSpPr>
          <p:cNvPr id="27" name="TextBox 26"/>
          <p:cNvSpPr txBox="1"/>
          <p:nvPr/>
        </p:nvSpPr>
        <p:spPr>
          <a:xfrm>
            <a:off x="4663439" y="4937760"/>
            <a:ext cx="3291839" cy="320040"/>
          </a:xfrm>
          <a:prstGeom prst="rect">
            <a:avLst/>
          </a:prstGeom>
          <a:noFill/>
        </p:spPr>
        <p:txBody>
          <a:bodyPr wrap="square" lIns="45720" rIns="45720" tIns="18288" bIns="18288" anchor="t">
            <a:spAutoFit/>
          </a:bodyPr>
          <a:lstStyle/>
          <a:p>
            <a:pPr algn="l"/>
            <a:r>
              <a:rPr sz="1100" b="1" i="0">
                <a:solidFill>
                  <a:srgbClr val="38BDF8"/>
                </a:solidFill>
                <a:latin typeface="Calibri"/>
              </a:rPr>
              <a:t>OBSERVABILITÉ RUNTIME</a:t>
            </a:r>
          </a:p>
        </p:txBody>
      </p:sp>
      <p:sp>
        <p:nvSpPr>
          <p:cNvPr id="28" name="TextBox 27"/>
          <p:cNvSpPr txBox="1"/>
          <p:nvPr/>
        </p:nvSpPr>
        <p:spPr>
          <a:xfrm>
            <a:off x="4663439" y="5303520"/>
            <a:ext cx="3246119" cy="1234440"/>
          </a:xfrm>
          <a:prstGeom prst="rect">
            <a:avLst/>
          </a:prstGeom>
          <a:noFill/>
        </p:spPr>
        <p:txBody>
          <a:bodyPr wrap="square" lIns="45720" rIns="45720" tIns="18288" bIns="18288" anchor="t">
            <a:spAutoFit/>
          </a:bodyPr>
          <a:lstStyle/>
          <a:p>
            <a:pPr algn="l"/>
            <a:r>
              <a:rPr sz="1100" b="0" i="0">
                <a:solidFill>
                  <a:srgbClr val="1E2761"/>
                </a:solidFill>
                <a:latin typeface="Calibri"/>
              </a:rPr>
              <a:t>Filebeat agents · Logstash pipeline · ES single-node · Kibana dashboards + 3 alert rules live</a:t>
            </a:r>
          </a:p>
        </p:txBody>
      </p:sp>
      <p:sp>
        <p:nvSpPr>
          <p:cNvPr id="29" name="Rounded Rectangle 28"/>
          <p:cNvSpPr/>
          <p:nvPr/>
        </p:nvSpPr>
        <p:spPr>
          <a:xfrm>
            <a:off x="8229598" y="4343400"/>
            <a:ext cx="3749039" cy="2331720"/>
          </a:xfrm>
          <a:prstGeom prst="round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229598" y="4343400"/>
            <a:ext cx="137160" cy="2331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49638" y="4480560"/>
            <a:ext cx="3291839" cy="411480"/>
          </a:xfrm>
          <a:prstGeom prst="rect">
            <a:avLst/>
          </a:prstGeom>
          <a:noFill/>
        </p:spPr>
        <p:txBody>
          <a:bodyPr wrap="square" lIns="45720" rIns="45720" tIns="18288" bIns="18288" anchor="t">
            <a:spAutoFit/>
          </a:bodyPr>
          <a:lstStyle/>
          <a:p>
            <a:pPr algn="l"/>
            <a:r>
              <a:rPr sz="1800" b="1" i="0">
                <a:solidFill>
                  <a:srgbClr val="1E2761"/>
                </a:solidFill>
                <a:latin typeface="Trebuchet MS"/>
              </a:rPr>
              <a:t>SOPS + age</a:t>
            </a:r>
          </a:p>
        </p:txBody>
      </p:sp>
      <p:sp>
        <p:nvSpPr>
          <p:cNvPr id="32" name="TextBox 31"/>
          <p:cNvSpPr txBox="1"/>
          <p:nvPr/>
        </p:nvSpPr>
        <p:spPr>
          <a:xfrm>
            <a:off x="8549638" y="4937760"/>
            <a:ext cx="3291839" cy="320040"/>
          </a:xfrm>
          <a:prstGeom prst="rect">
            <a:avLst/>
          </a:prstGeom>
          <a:noFill/>
        </p:spPr>
        <p:txBody>
          <a:bodyPr wrap="square" lIns="45720" rIns="45720" tIns="18288" bIns="18288" anchor="t">
            <a:spAutoFit/>
          </a:bodyPr>
          <a:lstStyle/>
          <a:p>
            <a:pPr algn="l"/>
            <a:r>
              <a:rPr sz="1100" b="1" i="0">
                <a:solidFill>
                  <a:srgbClr val="38BDF8"/>
                </a:solidFill>
                <a:latin typeface="Calibri"/>
              </a:rPr>
              <a:t>SECRETS CHIFFRÉS</a:t>
            </a:r>
          </a:p>
        </p:txBody>
      </p:sp>
      <p:sp>
        <p:nvSpPr>
          <p:cNvPr id="33" name="TextBox 32"/>
          <p:cNvSpPr txBox="1"/>
          <p:nvPr/>
        </p:nvSpPr>
        <p:spPr>
          <a:xfrm>
            <a:off x="8549638" y="5303520"/>
            <a:ext cx="3246119" cy="1234440"/>
          </a:xfrm>
          <a:prstGeom prst="rect">
            <a:avLst/>
          </a:prstGeom>
          <a:noFill/>
        </p:spPr>
        <p:txBody>
          <a:bodyPr wrap="square" lIns="45720" rIns="45720" tIns="18288" bIns="18288" anchor="t">
            <a:spAutoFit/>
          </a:bodyPr>
          <a:lstStyle/>
          <a:p>
            <a:pPr algn="l"/>
            <a:r>
              <a:rPr sz="1100" b="0" i="0">
                <a:solidFill>
                  <a:srgbClr val="1E2761"/>
                </a:solidFill>
                <a:latin typeface="Calibri"/>
              </a:rPr>
              <a:t>aucun secret en clair Git · chiffrement par destinataire age · déchiffrement Ansible runtime</a:t>
            </a:r>
          </a:p>
        </p:txBody>
      </p:sp>
      <p:sp>
        <p:nvSpPr>
          <p:cNvPr id="34" name="TextBox 33"/>
          <p:cNvSpPr txBox="1"/>
          <p:nvPr/>
        </p:nvSpPr>
        <p:spPr>
          <a:xfrm>
            <a:off x="457200" y="6446520"/>
            <a:ext cx="5486400" cy="320040"/>
          </a:xfrm>
          <a:prstGeom prst="rect">
            <a:avLst/>
          </a:prstGeom>
          <a:noFill/>
        </p:spPr>
        <p:txBody>
          <a:bodyPr wrap="square" lIns="45720" rIns="45720" tIns="18288" bIns="18288" anchor="t">
            <a:spAutoFit/>
          </a:bodyPr>
          <a:lstStyle/>
          <a:p>
            <a:pPr algn="l"/>
            <a:r>
              <a:rPr sz="900" b="0" i="0">
                <a:solidFill>
                  <a:srgbClr val="64748B"/>
                </a:solidFill>
                <a:latin typeface="Calibri"/>
              </a:rPr>
              <a:t>CIA · Hybrid Infrastructure · GR46</a:t>
            </a:r>
          </a:p>
        </p:txBody>
      </p:sp>
      <p:sp>
        <p:nvSpPr>
          <p:cNvPr id="35" name="TextBox 34"/>
          <p:cNvSpPr txBox="1"/>
          <p:nvPr/>
        </p:nvSpPr>
        <p:spPr>
          <a:xfrm>
            <a:off x="10515600" y="6446520"/>
            <a:ext cx="1188720" cy="320040"/>
          </a:xfrm>
          <a:prstGeom prst="rect">
            <a:avLst/>
          </a:prstGeom>
          <a:noFill/>
        </p:spPr>
        <p:txBody>
          <a:bodyPr wrap="square" lIns="45720" rIns="45720" tIns="18288" bIns="18288" anchor="t">
            <a:spAutoFit/>
          </a:bodyPr>
          <a:lstStyle/>
          <a:p>
            <a:pPr algn="r"/>
            <a:r>
              <a:rPr sz="900" b="0" i="0">
                <a:solidFill>
                  <a:srgbClr val="64748B"/>
                </a:solidFill>
                <a:latin typeface="Calibri"/>
              </a:rPr>
              <a:t>4 / 15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0972800" cy="640080"/>
          </a:xfrm>
          <a:prstGeom prst="rect">
            <a:avLst/>
          </a:prstGeom>
          <a:noFill/>
        </p:spPr>
        <p:txBody>
          <a:bodyPr wrap="square" lIns="45720" rIns="45720" tIns="18288" bIns="18288" anchor="t">
            <a:spAutoFit/>
          </a:bodyPr>
          <a:lstStyle/>
          <a:p>
            <a:pPr algn="l"/>
            <a:r>
              <a:rPr sz="3600" b="1" i="0">
                <a:solidFill>
                  <a:srgbClr val="1E2761"/>
                </a:solidFill>
                <a:latin typeface="Trebuchet MS"/>
              </a:rPr>
              <a:t>Adressage &amp; matrice de flux</a:t>
            </a:r>
          </a:p>
        </p:txBody>
      </p:sp>
      <p:sp>
        <p:nvSpPr>
          <p:cNvPr id="3" name="TextBox 2"/>
          <p:cNvSpPr txBox="1"/>
          <p:nvPr/>
        </p:nvSpPr>
        <p:spPr>
          <a:xfrm>
            <a:off x="457200" y="1051560"/>
            <a:ext cx="10972800" cy="457200"/>
          </a:xfrm>
          <a:prstGeom prst="rect">
            <a:avLst/>
          </a:prstGeom>
          <a:noFill/>
        </p:spPr>
        <p:txBody>
          <a:bodyPr wrap="square" lIns="45720" rIns="45720" tIns="18288" bIns="18288" anchor="t">
            <a:spAutoFit/>
          </a:bodyPr>
          <a:lstStyle/>
          <a:p>
            <a:pPr algn="l"/>
            <a:r>
              <a:rPr sz="1400" b="0" i="1">
                <a:solidFill>
                  <a:srgbClr val="64748B"/>
                </a:solidFill>
                <a:latin typeface="Calibri"/>
              </a:rPr>
              <a:t>Zones réseau · 28 flux autorisés explicitement · 8 flux refusés</a:t>
            </a:r>
          </a:p>
        </p:txBody>
      </p:sp>
      <p:sp>
        <p:nvSpPr>
          <p:cNvPr id="4" name="TextBox 3"/>
          <p:cNvSpPr txBox="1"/>
          <p:nvPr/>
        </p:nvSpPr>
        <p:spPr>
          <a:xfrm>
            <a:off x="457200" y="1828800"/>
            <a:ext cx="5029200" cy="457200"/>
          </a:xfrm>
          <a:prstGeom prst="rect">
            <a:avLst/>
          </a:prstGeom>
          <a:noFill/>
        </p:spPr>
        <p:txBody>
          <a:bodyPr wrap="square" lIns="45720" rIns="45720" tIns="18288" bIns="18288" anchor="t">
            <a:spAutoFit/>
          </a:bodyPr>
          <a:lstStyle/>
          <a:p>
            <a:pPr algn="l"/>
            <a:r>
              <a:rPr sz="1800" b="1" i="0">
                <a:solidFill>
                  <a:srgbClr val="1E2761"/>
                </a:solidFill>
                <a:latin typeface="Calibri"/>
              </a:rPr>
              <a:t>Zones réseau</a:t>
            </a:r>
          </a:p>
        </p:txBody>
      </p:sp>
      <p:sp>
        <p:nvSpPr>
          <p:cNvPr id="5" name="Rectangle 4"/>
          <p:cNvSpPr/>
          <p:nvPr/>
        </p:nvSpPr>
        <p:spPr>
          <a:xfrm>
            <a:off x="457200" y="2286000"/>
            <a:ext cx="5029200" cy="365760"/>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2286000"/>
            <a:ext cx="731520" cy="365760"/>
          </a:xfrm>
          <a:prstGeom prst="rect">
            <a:avLst/>
          </a:prstGeom>
          <a:noFill/>
        </p:spPr>
        <p:txBody>
          <a:bodyPr wrap="square" lIns="45720" rIns="45720" tIns="18288" bIns="18288" anchor="ctr">
            <a:spAutoFit/>
          </a:bodyPr>
          <a:lstStyle/>
          <a:p>
            <a:pPr algn="l"/>
            <a:r>
              <a:rPr sz="1200" b="1" i="0">
                <a:solidFill>
                  <a:srgbClr val="38BDF8"/>
                </a:solidFill>
                <a:latin typeface="Calibri"/>
              </a:rPr>
              <a:t>A-L</a:t>
            </a:r>
          </a:p>
        </p:txBody>
      </p:sp>
      <p:sp>
        <p:nvSpPr>
          <p:cNvPr id="7" name="TextBox 6"/>
          <p:cNvSpPr txBox="1"/>
          <p:nvPr/>
        </p:nvSpPr>
        <p:spPr>
          <a:xfrm>
            <a:off x="1325880" y="2286000"/>
            <a:ext cx="2286000" cy="365760"/>
          </a:xfrm>
          <a:prstGeom prst="rect">
            <a:avLst/>
          </a:prstGeom>
          <a:noFill/>
        </p:spPr>
        <p:txBody>
          <a:bodyPr wrap="square" lIns="45720" rIns="45720" tIns="18288" bIns="18288" anchor="ctr">
            <a:spAutoFit/>
          </a:bodyPr>
          <a:lstStyle/>
          <a:p>
            <a:pPr algn="l"/>
            <a:r>
              <a:rPr sz="1100" b="0" i="0">
                <a:solidFill>
                  <a:srgbClr val="1E2761"/>
                </a:solidFill>
                <a:latin typeface="Calibri"/>
              </a:rPr>
              <a:t>Site A LAN</a:t>
            </a:r>
          </a:p>
        </p:txBody>
      </p:sp>
      <p:sp>
        <p:nvSpPr>
          <p:cNvPr id="8" name="TextBox 7"/>
          <p:cNvSpPr txBox="1"/>
          <p:nvPr/>
        </p:nvSpPr>
        <p:spPr>
          <a:xfrm>
            <a:off x="3611880" y="2286000"/>
            <a:ext cx="1828800" cy="365760"/>
          </a:xfrm>
          <a:prstGeom prst="rect">
            <a:avLst/>
          </a:prstGeom>
          <a:noFill/>
        </p:spPr>
        <p:txBody>
          <a:bodyPr wrap="square" lIns="45720" rIns="45720" tIns="18288" bIns="18288" anchor="ctr">
            <a:spAutoFit/>
          </a:bodyPr>
          <a:lstStyle/>
          <a:p>
            <a:pPr algn="l"/>
            <a:r>
              <a:rPr sz="1000" b="0" i="1">
                <a:solidFill>
                  <a:srgbClr val="64748B"/>
                </a:solidFill>
                <a:latin typeface="Calibri"/>
              </a:rPr>
              <a:t>10.10.0.0/24</a:t>
            </a:r>
          </a:p>
        </p:txBody>
      </p:sp>
      <p:sp>
        <p:nvSpPr>
          <p:cNvPr id="9" name="Rectangle 8"/>
          <p:cNvSpPr/>
          <p:nvPr/>
        </p:nvSpPr>
        <p:spPr>
          <a:xfrm>
            <a:off x="457200" y="2651760"/>
            <a:ext cx="502920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2651760"/>
            <a:ext cx="731520" cy="365760"/>
          </a:xfrm>
          <a:prstGeom prst="rect">
            <a:avLst/>
          </a:prstGeom>
          <a:noFill/>
        </p:spPr>
        <p:txBody>
          <a:bodyPr wrap="square" lIns="45720" rIns="45720" tIns="18288" bIns="18288" anchor="ctr">
            <a:spAutoFit/>
          </a:bodyPr>
          <a:lstStyle/>
          <a:p>
            <a:pPr algn="l"/>
            <a:r>
              <a:rPr sz="1200" b="1" i="0">
                <a:solidFill>
                  <a:srgbClr val="38BDF8"/>
                </a:solidFill>
                <a:latin typeface="Calibri"/>
              </a:rPr>
              <a:t>A-M</a:t>
            </a:r>
          </a:p>
        </p:txBody>
      </p:sp>
      <p:sp>
        <p:nvSpPr>
          <p:cNvPr id="11" name="TextBox 10"/>
          <p:cNvSpPr txBox="1"/>
          <p:nvPr/>
        </p:nvSpPr>
        <p:spPr>
          <a:xfrm>
            <a:off x="1325880" y="2651760"/>
            <a:ext cx="2286000" cy="365760"/>
          </a:xfrm>
          <a:prstGeom prst="rect">
            <a:avLst/>
          </a:prstGeom>
          <a:noFill/>
        </p:spPr>
        <p:txBody>
          <a:bodyPr wrap="square" lIns="45720" rIns="45720" tIns="18288" bIns="18288" anchor="ctr">
            <a:spAutoFit/>
          </a:bodyPr>
          <a:lstStyle/>
          <a:p>
            <a:pPr algn="l"/>
            <a:r>
              <a:rPr sz="1100" b="0" i="0">
                <a:solidFill>
                  <a:srgbClr val="1E2761"/>
                </a:solidFill>
                <a:latin typeface="Calibri"/>
              </a:rPr>
              <a:t>Site A ADMIN</a:t>
            </a:r>
          </a:p>
        </p:txBody>
      </p:sp>
      <p:sp>
        <p:nvSpPr>
          <p:cNvPr id="12" name="TextBox 11"/>
          <p:cNvSpPr txBox="1"/>
          <p:nvPr/>
        </p:nvSpPr>
        <p:spPr>
          <a:xfrm>
            <a:off x="3611880" y="2651760"/>
            <a:ext cx="1828800" cy="365760"/>
          </a:xfrm>
          <a:prstGeom prst="rect">
            <a:avLst/>
          </a:prstGeom>
          <a:noFill/>
        </p:spPr>
        <p:txBody>
          <a:bodyPr wrap="square" lIns="45720" rIns="45720" tIns="18288" bIns="18288" anchor="ctr">
            <a:spAutoFit/>
          </a:bodyPr>
          <a:lstStyle/>
          <a:p>
            <a:pPr algn="l"/>
            <a:r>
              <a:rPr sz="1000" b="0" i="1">
                <a:solidFill>
                  <a:srgbClr val="64748B"/>
                </a:solidFill>
                <a:latin typeface="Calibri"/>
              </a:rPr>
              <a:t>10.10.10.0/24</a:t>
            </a:r>
          </a:p>
        </p:txBody>
      </p:sp>
      <p:sp>
        <p:nvSpPr>
          <p:cNvPr id="13" name="Rectangle 12"/>
          <p:cNvSpPr/>
          <p:nvPr/>
        </p:nvSpPr>
        <p:spPr>
          <a:xfrm>
            <a:off x="457200" y="3017520"/>
            <a:ext cx="5029200" cy="365760"/>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3017520"/>
            <a:ext cx="731520" cy="365760"/>
          </a:xfrm>
          <a:prstGeom prst="rect">
            <a:avLst/>
          </a:prstGeom>
          <a:noFill/>
        </p:spPr>
        <p:txBody>
          <a:bodyPr wrap="square" lIns="45720" rIns="45720" tIns="18288" bIns="18288" anchor="ctr">
            <a:spAutoFit/>
          </a:bodyPr>
          <a:lstStyle/>
          <a:p>
            <a:pPr algn="l"/>
            <a:r>
              <a:rPr sz="1200" b="1" i="0">
                <a:solidFill>
                  <a:srgbClr val="38BDF8"/>
                </a:solidFill>
                <a:latin typeface="Calibri"/>
              </a:rPr>
              <a:t>A-W</a:t>
            </a:r>
          </a:p>
        </p:txBody>
      </p:sp>
      <p:sp>
        <p:nvSpPr>
          <p:cNvPr id="15" name="TextBox 14"/>
          <p:cNvSpPr txBox="1"/>
          <p:nvPr/>
        </p:nvSpPr>
        <p:spPr>
          <a:xfrm>
            <a:off x="1325880" y="3017520"/>
            <a:ext cx="2286000" cy="365760"/>
          </a:xfrm>
          <a:prstGeom prst="rect">
            <a:avLst/>
          </a:prstGeom>
          <a:noFill/>
        </p:spPr>
        <p:txBody>
          <a:bodyPr wrap="square" lIns="45720" rIns="45720" tIns="18288" bIns="18288" anchor="ctr">
            <a:spAutoFit/>
          </a:bodyPr>
          <a:lstStyle/>
          <a:p>
            <a:pPr algn="l"/>
            <a:r>
              <a:rPr sz="1100" b="0" i="0">
                <a:solidFill>
                  <a:srgbClr val="1E2761"/>
                </a:solidFill>
                <a:latin typeface="Calibri"/>
              </a:rPr>
              <a:t>Site A WAN</a:t>
            </a:r>
          </a:p>
        </p:txBody>
      </p:sp>
      <p:sp>
        <p:nvSpPr>
          <p:cNvPr id="16" name="TextBox 15"/>
          <p:cNvSpPr txBox="1"/>
          <p:nvPr/>
        </p:nvSpPr>
        <p:spPr>
          <a:xfrm>
            <a:off x="3611880" y="3017520"/>
            <a:ext cx="1828800" cy="365760"/>
          </a:xfrm>
          <a:prstGeom prst="rect">
            <a:avLst/>
          </a:prstGeom>
          <a:noFill/>
        </p:spPr>
        <p:txBody>
          <a:bodyPr wrap="square" lIns="45720" rIns="45720" tIns="18288" bIns="18288" anchor="ctr">
            <a:spAutoFit/>
          </a:bodyPr>
          <a:lstStyle/>
          <a:p>
            <a:pPr algn="l"/>
            <a:r>
              <a:rPr sz="1000" b="0" i="1">
                <a:solidFill>
                  <a:srgbClr val="64748B"/>
                </a:solidFill>
                <a:latin typeface="Calibri"/>
              </a:rPr>
              <a:t>public OVH</a:t>
            </a:r>
          </a:p>
        </p:txBody>
      </p:sp>
      <p:sp>
        <p:nvSpPr>
          <p:cNvPr id="17" name="Rectangle 16"/>
          <p:cNvSpPr/>
          <p:nvPr/>
        </p:nvSpPr>
        <p:spPr>
          <a:xfrm>
            <a:off x="457200" y="3383280"/>
            <a:ext cx="502920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3383280"/>
            <a:ext cx="731520" cy="365760"/>
          </a:xfrm>
          <a:prstGeom prst="rect">
            <a:avLst/>
          </a:prstGeom>
          <a:noFill/>
        </p:spPr>
        <p:txBody>
          <a:bodyPr wrap="square" lIns="45720" rIns="45720" tIns="18288" bIns="18288" anchor="ctr">
            <a:spAutoFit/>
          </a:bodyPr>
          <a:lstStyle/>
          <a:p>
            <a:pPr algn="l"/>
            <a:r>
              <a:rPr sz="1200" b="1" i="0">
                <a:solidFill>
                  <a:srgbClr val="38BDF8"/>
                </a:solidFill>
                <a:latin typeface="Calibri"/>
              </a:rPr>
              <a:t>B-L</a:t>
            </a:r>
          </a:p>
        </p:txBody>
      </p:sp>
      <p:sp>
        <p:nvSpPr>
          <p:cNvPr id="19" name="TextBox 18"/>
          <p:cNvSpPr txBox="1"/>
          <p:nvPr/>
        </p:nvSpPr>
        <p:spPr>
          <a:xfrm>
            <a:off x="1325880" y="3383280"/>
            <a:ext cx="2286000" cy="365760"/>
          </a:xfrm>
          <a:prstGeom prst="rect">
            <a:avLst/>
          </a:prstGeom>
          <a:noFill/>
        </p:spPr>
        <p:txBody>
          <a:bodyPr wrap="square" lIns="45720" rIns="45720" tIns="18288" bIns="18288" anchor="ctr">
            <a:spAutoFit/>
          </a:bodyPr>
          <a:lstStyle/>
          <a:p>
            <a:pPr algn="l"/>
            <a:r>
              <a:rPr sz="1100" b="0" i="0">
                <a:solidFill>
                  <a:srgbClr val="1E2761"/>
                </a:solidFill>
                <a:latin typeface="Calibri"/>
              </a:rPr>
              <a:t>Site B LAN</a:t>
            </a:r>
          </a:p>
        </p:txBody>
      </p:sp>
      <p:sp>
        <p:nvSpPr>
          <p:cNvPr id="20" name="TextBox 19"/>
          <p:cNvSpPr txBox="1"/>
          <p:nvPr/>
        </p:nvSpPr>
        <p:spPr>
          <a:xfrm>
            <a:off x="3611880" y="3383280"/>
            <a:ext cx="1828800" cy="365760"/>
          </a:xfrm>
          <a:prstGeom prst="rect">
            <a:avLst/>
          </a:prstGeom>
          <a:noFill/>
        </p:spPr>
        <p:txBody>
          <a:bodyPr wrap="square" lIns="45720" rIns="45720" tIns="18288" bIns="18288" anchor="ctr">
            <a:spAutoFit/>
          </a:bodyPr>
          <a:lstStyle/>
          <a:p>
            <a:pPr algn="l"/>
            <a:r>
              <a:rPr sz="1000" b="0" i="1">
                <a:solidFill>
                  <a:srgbClr val="64748B"/>
                </a:solidFill>
                <a:latin typeface="Calibri"/>
              </a:rPr>
              <a:t>192.168.0.0/24</a:t>
            </a:r>
          </a:p>
        </p:txBody>
      </p:sp>
      <p:sp>
        <p:nvSpPr>
          <p:cNvPr id="21" name="Rectangle 20"/>
          <p:cNvSpPr/>
          <p:nvPr/>
        </p:nvSpPr>
        <p:spPr>
          <a:xfrm>
            <a:off x="457200" y="3749040"/>
            <a:ext cx="5029200" cy="365760"/>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 y="3749040"/>
            <a:ext cx="731520" cy="365760"/>
          </a:xfrm>
          <a:prstGeom prst="rect">
            <a:avLst/>
          </a:prstGeom>
          <a:noFill/>
        </p:spPr>
        <p:txBody>
          <a:bodyPr wrap="square" lIns="45720" rIns="45720" tIns="18288" bIns="18288" anchor="ctr">
            <a:spAutoFit/>
          </a:bodyPr>
          <a:lstStyle/>
          <a:p>
            <a:pPr algn="l"/>
            <a:r>
              <a:rPr sz="1200" b="1" i="0">
                <a:solidFill>
                  <a:srgbClr val="38BDF8"/>
                </a:solidFill>
                <a:latin typeface="Calibri"/>
              </a:rPr>
              <a:t>B-S</a:t>
            </a:r>
          </a:p>
        </p:txBody>
      </p:sp>
      <p:sp>
        <p:nvSpPr>
          <p:cNvPr id="23" name="TextBox 22"/>
          <p:cNvSpPr txBox="1"/>
          <p:nvPr/>
        </p:nvSpPr>
        <p:spPr>
          <a:xfrm>
            <a:off x="1325880" y="3749040"/>
            <a:ext cx="2286000" cy="365760"/>
          </a:xfrm>
          <a:prstGeom prst="rect">
            <a:avLst/>
          </a:prstGeom>
          <a:noFill/>
        </p:spPr>
        <p:txBody>
          <a:bodyPr wrap="square" lIns="45720" rIns="45720" tIns="18288" bIns="18288" anchor="ctr">
            <a:spAutoFit/>
          </a:bodyPr>
          <a:lstStyle/>
          <a:p>
            <a:pPr algn="l"/>
            <a:r>
              <a:rPr sz="1100" b="0" i="0">
                <a:solidFill>
                  <a:srgbClr val="1E2761"/>
                </a:solidFill>
                <a:latin typeface="Calibri"/>
              </a:rPr>
              <a:t>Site B SERVICES</a:t>
            </a:r>
          </a:p>
        </p:txBody>
      </p:sp>
      <p:sp>
        <p:nvSpPr>
          <p:cNvPr id="24" name="TextBox 23"/>
          <p:cNvSpPr txBox="1"/>
          <p:nvPr/>
        </p:nvSpPr>
        <p:spPr>
          <a:xfrm>
            <a:off x="3611880" y="3749040"/>
            <a:ext cx="1828800" cy="365760"/>
          </a:xfrm>
          <a:prstGeom prst="rect">
            <a:avLst/>
          </a:prstGeom>
          <a:noFill/>
        </p:spPr>
        <p:txBody>
          <a:bodyPr wrap="square" lIns="45720" rIns="45720" tIns="18288" bIns="18288" anchor="ctr">
            <a:spAutoFit/>
          </a:bodyPr>
          <a:lstStyle/>
          <a:p>
            <a:pPr algn="l"/>
            <a:r>
              <a:rPr sz="1000" b="0" i="1">
                <a:solidFill>
                  <a:srgbClr val="64748B"/>
                </a:solidFill>
                <a:latin typeface="Calibri"/>
              </a:rPr>
              <a:t>192.168.10.0/24</a:t>
            </a:r>
          </a:p>
        </p:txBody>
      </p:sp>
      <p:sp>
        <p:nvSpPr>
          <p:cNvPr id="25" name="Rectangle 24"/>
          <p:cNvSpPr/>
          <p:nvPr/>
        </p:nvSpPr>
        <p:spPr>
          <a:xfrm>
            <a:off x="457200" y="4114800"/>
            <a:ext cx="502920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4360" y="4114800"/>
            <a:ext cx="731520" cy="365760"/>
          </a:xfrm>
          <a:prstGeom prst="rect">
            <a:avLst/>
          </a:prstGeom>
          <a:noFill/>
        </p:spPr>
        <p:txBody>
          <a:bodyPr wrap="square" lIns="45720" rIns="45720" tIns="18288" bIns="18288" anchor="ctr">
            <a:spAutoFit/>
          </a:bodyPr>
          <a:lstStyle/>
          <a:p>
            <a:pPr algn="l"/>
            <a:r>
              <a:rPr sz="1200" b="1" i="0">
                <a:solidFill>
                  <a:srgbClr val="38BDF8"/>
                </a:solidFill>
                <a:latin typeface="Calibri"/>
              </a:rPr>
              <a:t>B-W</a:t>
            </a:r>
          </a:p>
        </p:txBody>
      </p:sp>
      <p:sp>
        <p:nvSpPr>
          <p:cNvPr id="27" name="TextBox 26"/>
          <p:cNvSpPr txBox="1"/>
          <p:nvPr/>
        </p:nvSpPr>
        <p:spPr>
          <a:xfrm>
            <a:off x="1325880" y="4114800"/>
            <a:ext cx="2286000" cy="365760"/>
          </a:xfrm>
          <a:prstGeom prst="rect">
            <a:avLst/>
          </a:prstGeom>
          <a:noFill/>
        </p:spPr>
        <p:txBody>
          <a:bodyPr wrap="square" lIns="45720" rIns="45720" tIns="18288" bIns="18288" anchor="ctr">
            <a:spAutoFit/>
          </a:bodyPr>
          <a:lstStyle/>
          <a:p>
            <a:pPr algn="l"/>
            <a:r>
              <a:rPr sz="1100" b="0" i="0">
                <a:solidFill>
                  <a:srgbClr val="1E2761"/>
                </a:solidFill>
                <a:latin typeface="Calibri"/>
              </a:rPr>
              <a:t>Site B WAN</a:t>
            </a:r>
          </a:p>
        </p:txBody>
      </p:sp>
      <p:sp>
        <p:nvSpPr>
          <p:cNvPr id="28" name="TextBox 27"/>
          <p:cNvSpPr txBox="1"/>
          <p:nvPr/>
        </p:nvSpPr>
        <p:spPr>
          <a:xfrm>
            <a:off x="3611880" y="4114800"/>
            <a:ext cx="1828800" cy="365760"/>
          </a:xfrm>
          <a:prstGeom prst="rect">
            <a:avLst/>
          </a:prstGeom>
          <a:noFill/>
        </p:spPr>
        <p:txBody>
          <a:bodyPr wrap="square" lIns="45720" rIns="45720" tIns="18288" bIns="18288" anchor="ctr">
            <a:spAutoFit/>
          </a:bodyPr>
          <a:lstStyle/>
          <a:p>
            <a:pPr algn="l"/>
            <a:r>
              <a:rPr sz="1000" b="0" i="1">
                <a:solidFill>
                  <a:srgbClr val="64748B"/>
                </a:solidFill>
                <a:latin typeface="Calibri"/>
              </a:rPr>
              <a:t>public OVH</a:t>
            </a:r>
          </a:p>
        </p:txBody>
      </p:sp>
      <p:sp>
        <p:nvSpPr>
          <p:cNvPr id="29" name="Rectangle 28"/>
          <p:cNvSpPr/>
          <p:nvPr/>
        </p:nvSpPr>
        <p:spPr>
          <a:xfrm>
            <a:off x="457200" y="4480560"/>
            <a:ext cx="5029200" cy="365760"/>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4360" y="4480560"/>
            <a:ext cx="731520" cy="365760"/>
          </a:xfrm>
          <a:prstGeom prst="rect">
            <a:avLst/>
          </a:prstGeom>
          <a:noFill/>
        </p:spPr>
        <p:txBody>
          <a:bodyPr wrap="square" lIns="45720" rIns="45720" tIns="18288" bIns="18288" anchor="ctr">
            <a:spAutoFit/>
          </a:bodyPr>
          <a:lstStyle/>
          <a:p>
            <a:pPr algn="l"/>
            <a:r>
              <a:rPr sz="1200" b="1" i="0">
                <a:solidFill>
                  <a:srgbClr val="38BDF8"/>
                </a:solidFill>
                <a:latin typeface="Calibri"/>
              </a:rPr>
              <a:t>VPN</a:t>
            </a:r>
          </a:p>
        </p:txBody>
      </p:sp>
      <p:sp>
        <p:nvSpPr>
          <p:cNvPr id="31" name="TextBox 30"/>
          <p:cNvSpPr txBox="1"/>
          <p:nvPr/>
        </p:nvSpPr>
        <p:spPr>
          <a:xfrm>
            <a:off x="1325880" y="4480560"/>
            <a:ext cx="2286000" cy="365760"/>
          </a:xfrm>
          <a:prstGeom prst="rect">
            <a:avLst/>
          </a:prstGeom>
          <a:noFill/>
        </p:spPr>
        <p:txBody>
          <a:bodyPr wrap="square" lIns="45720" rIns="45720" tIns="18288" bIns="18288" anchor="ctr">
            <a:spAutoFit/>
          </a:bodyPr>
          <a:lstStyle/>
          <a:p>
            <a:pPr algn="l"/>
            <a:r>
              <a:rPr sz="1100" b="0" i="0">
                <a:solidFill>
                  <a:srgbClr val="1E2761"/>
                </a:solidFill>
                <a:latin typeface="Calibri"/>
              </a:rPr>
              <a:t>Tunnel site-à-site</a:t>
            </a:r>
          </a:p>
        </p:txBody>
      </p:sp>
      <p:sp>
        <p:nvSpPr>
          <p:cNvPr id="32" name="TextBox 31"/>
          <p:cNvSpPr txBox="1"/>
          <p:nvPr/>
        </p:nvSpPr>
        <p:spPr>
          <a:xfrm>
            <a:off x="3611880" y="4480560"/>
            <a:ext cx="1828800" cy="365760"/>
          </a:xfrm>
          <a:prstGeom prst="rect">
            <a:avLst/>
          </a:prstGeom>
          <a:noFill/>
        </p:spPr>
        <p:txBody>
          <a:bodyPr wrap="square" lIns="45720" rIns="45720" tIns="18288" bIns="18288" anchor="ctr">
            <a:spAutoFit/>
          </a:bodyPr>
          <a:lstStyle/>
          <a:p>
            <a:pPr algn="l"/>
            <a:r>
              <a:rPr sz="1000" b="0" i="1">
                <a:solidFill>
                  <a:srgbClr val="64748B"/>
                </a:solidFill>
                <a:latin typeface="Calibri"/>
              </a:rPr>
              <a:t>172.16.0.0/30</a:t>
            </a:r>
          </a:p>
        </p:txBody>
      </p:sp>
      <p:sp>
        <p:nvSpPr>
          <p:cNvPr id="33" name="Rectangle 32"/>
          <p:cNvSpPr/>
          <p:nvPr/>
        </p:nvSpPr>
        <p:spPr>
          <a:xfrm>
            <a:off x="457200" y="4846320"/>
            <a:ext cx="502920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94360" y="4846320"/>
            <a:ext cx="731520" cy="365760"/>
          </a:xfrm>
          <a:prstGeom prst="rect">
            <a:avLst/>
          </a:prstGeom>
          <a:noFill/>
        </p:spPr>
        <p:txBody>
          <a:bodyPr wrap="square" lIns="45720" rIns="45720" tIns="18288" bIns="18288" anchor="ctr">
            <a:spAutoFit/>
          </a:bodyPr>
          <a:lstStyle/>
          <a:p>
            <a:pPr algn="l"/>
            <a:r>
              <a:rPr sz="1200" b="1" i="0">
                <a:solidFill>
                  <a:srgbClr val="38BDF8"/>
                </a:solidFill>
                <a:latin typeface="Calibri"/>
              </a:rPr>
              <a:t>INT</a:t>
            </a:r>
          </a:p>
        </p:txBody>
      </p:sp>
      <p:sp>
        <p:nvSpPr>
          <p:cNvPr id="35" name="TextBox 34"/>
          <p:cNvSpPr txBox="1"/>
          <p:nvPr/>
        </p:nvSpPr>
        <p:spPr>
          <a:xfrm>
            <a:off x="1325880" y="4846320"/>
            <a:ext cx="2286000" cy="365760"/>
          </a:xfrm>
          <a:prstGeom prst="rect">
            <a:avLst/>
          </a:prstGeom>
          <a:noFill/>
        </p:spPr>
        <p:txBody>
          <a:bodyPr wrap="square" lIns="45720" rIns="45720" tIns="18288" bIns="18288" anchor="ctr">
            <a:spAutoFit/>
          </a:bodyPr>
          <a:lstStyle/>
          <a:p>
            <a:pPr algn="l"/>
            <a:r>
              <a:rPr sz="1100" b="0" i="0">
                <a:solidFill>
                  <a:srgbClr val="1E2761"/>
                </a:solidFill>
                <a:latin typeface="Calibri"/>
              </a:rPr>
              <a:t>Internet public</a:t>
            </a:r>
          </a:p>
        </p:txBody>
      </p:sp>
      <p:sp>
        <p:nvSpPr>
          <p:cNvPr id="36" name="TextBox 35"/>
          <p:cNvSpPr txBox="1"/>
          <p:nvPr/>
        </p:nvSpPr>
        <p:spPr>
          <a:xfrm>
            <a:off x="3611880" y="4846320"/>
            <a:ext cx="1828800" cy="365760"/>
          </a:xfrm>
          <a:prstGeom prst="rect">
            <a:avLst/>
          </a:prstGeom>
          <a:noFill/>
        </p:spPr>
        <p:txBody>
          <a:bodyPr wrap="square" lIns="45720" rIns="45720" tIns="18288" bIns="18288" anchor="ctr">
            <a:spAutoFit/>
          </a:bodyPr>
          <a:lstStyle/>
          <a:p>
            <a:pPr algn="l"/>
            <a:r>
              <a:rPr sz="1000" b="0" i="1">
                <a:solidFill>
                  <a:srgbClr val="64748B"/>
                </a:solidFill>
                <a:latin typeface="Calibri"/>
              </a:rPr>
              <a:t>0.0.0.0/0</a:t>
            </a:r>
          </a:p>
        </p:txBody>
      </p:sp>
      <p:sp>
        <p:nvSpPr>
          <p:cNvPr id="37" name="TextBox 36"/>
          <p:cNvSpPr txBox="1"/>
          <p:nvPr/>
        </p:nvSpPr>
        <p:spPr>
          <a:xfrm>
            <a:off x="5943600" y="1828800"/>
            <a:ext cx="5486400" cy="457200"/>
          </a:xfrm>
          <a:prstGeom prst="rect">
            <a:avLst/>
          </a:prstGeom>
          <a:noFill/>
        </p:spPr>
        <p:txBody>
          <a:bodyPr wrap="square" lIns="45720" rIns="45720" tIns="18288" bIns="18288" anchor="t">
            <a:spAutoFit/>
          </a:bodyPr>
          <a:lstStyle/>
          <a:p>
            <a:pPr algn="l"/>
            <a:r>
              <a:rPr sz="1800" b="1" i="0">
                <a:solidFill>
                  <a:srgbClr val="1E2761"/>
                </a:solidFill>
                <a:latin typeface="Calibri"/>
              </a:rPr>
              <a:t>Exemples de flux autorisés</a:t>
            </a:r>
          </a:p>
        </p:txBody>
      </p:sp>
      <p:sp>
        <p:nvSpPr>
          <p:cNvPr id="38" name="Rectangle 37"/>
          <p:cNvSpPr/>
          <p:nvPr/>
        </p:nvSpPr>
        <p:spPr>
          <a:xfrm>
            <a:off x="5943600" y="2286000"/>
            <a:ext cx="5760720" cy="365760"/>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080760" y="2286000"/>
            <a:ext cx="2103120" cy="365760"/>
          </a:xfrm>
          <a:prstGeom prst="rect">
            <a:avLst/>
          </a:prstGeom>
          <a:noFill/>
        </p:spPr>
        <p:txBody>
          <a:bodyPr wrap="square" lIns="45720" rIns="45720" tIns="18288" bIns="18288" anchor="ctr">
            <a:spAutoFit/>
          </a:bodyPr>
          <a:lstStyle/>
          <a:p>
            <a:pPr algn="l"/>
            <a:r>
              <a:rPr sz="1100" b="1" i="0">
                <a:solidFill>
                  <a:srgbClr val="1E2761"/>
                </a:solidFill>
                <a:latin typeface="Calibri"/>
              </a:rPr>
              <a:t>INT → B-W:2222</a:t>
            </a:r>
          </a:p>
        </p:txBody>
      </p:sp>
      <p:sp>
        <p:nvSpPr>
          <p:cNvPr id="40" name="TextBox 39"/>
          <p:cNvSpPr txBox="1"/>
          <p:nvPr/>
        </p:nvSpPr>
        <p:spPr>
          <a:xfrm>
            <a:off x="8183879" y="2286000"/>
            <a:ext cx="731520" cy="365760"/>
          </a:xfrm>
          <a:prstGeom prst="rect">
            <a:avLst/>
          </a:prstGeom>
          <a:noFill/>
        </p:spPr>
        <p:txBody>
          <a:bodyPr wrap="square" lIns="45720" rIns="45720" tIns="18288" bIns="18288" anchor="ctr">
            <a:spAutoFit/>
          </a:bodyPr>
          <a:lstStyle/>
          <a:p>
            <a:pPr algn="l"/>
            <a:r>
              <a:rPr sz="1000" b="1" i="0">
                <a:solidFill>
                  <a:srgbClr val="22C55E"/>
                </a:solidFill>
                <a:latin typeface="Calibri"/>
              </a:rPr>
              <a:t>TCP</a:t>
            </a:r>
          </a:p>
        </p:txBody>
      </p:sp>
      <p:sp>
        <p:nvSpPr>
          <p:cNvPr id="41" name="TextBox 40"/>
          <p:cNvSpPr txBox="1"/>
          <p:nvPr/>
        </p:nvSpPr>
        <p:spPr>
          <a:xfrm>
            <a:off x="8915400" y="2286000"/>
            <a:ext cx="2743200" cy="365760"/>
          </a:xfrm>
          <a:prstGeom prst="rect">
            <a:avLst/>
          </a:prstGeom>
          <a:noFill/>
        </p:spPr>
        <p:txBody>
          <a:bodyPr wrap="square" lIns="45720" rIns="45720" tIns="18288" bIns="18288" anchor="ctr">
            <a:spAutoFit/>
          </a:bodyPr>
          <a:lstStyle/>
          <a:p>
            <a:pPr algn="l"/>
            <a:r>
              <a:rPr sz="1000" b="0" i="1">
                <a:solidFill>
                  <a:srgbClr val="64748B"/>
                </a:solidFill>
                <a:latin typeface="Calibri"/>
              </a:rPr>
              <a:t>SSH bastion via DNAT pfSense</a:t>
            </a:r>
          </a:p>
        </p:txBody>
      </p:sp>
      <p:sp>
        <p:nvSpPr>
          <p:cNvPr id="42" name="Rectangle 41"/>
          <p:cNvSpPr/>
          <p:nvPr/>
        </p:nvSpPr>
        <p:spPr>
          <a:xfrm>
            <a:off x="5943600" y="2651760"/>
            <a:ext cx="576072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080760" y="2651760"/>
            <a:ext cx="2103120" cy="365760"/>
          </a:xfrm>
          <a:prstGeom prst="rect">
            <a:avLst/>
          </a:prstGeom>
          <a:noFill/>
        </p:spPr>
        <p:txBody>
          <a:bodyPr wrap="square" lIns="45720" rIns="45720" tIns="18288" bIns="18288" anchor="ctr">
            <a:spAutoFit/>
          </a:bodyPr>
          <a:lstStyle/>
          <a:p>
            <a:pPr algn="l"/>
            <a:r>
              <a:rPr sz="1100" b="1" i="0">
                <a:solidFill>
                  <a:srgbClr val="1E2761"/>
                </a:solidFill>
                <a:latin typeface="Calibri"/>
              </a:rPr>
              <a:t>A-M → B-S</a:t>
            </a:r>
          </a:p>
        </p:txBody>
      </p:sp>
      <p:sp>
        <p:nvSpPr>
          <p:cNvPr id="44" name="TextBox 43"/>
          <p:cNvSpPr txBox="1"/>
          <p:nvPr/>
        </p:nvSpPr>
        <p:spPr>
          <a:xfrm>
            <a:off x="8183879" y="2651760"/>
            <a:ext cx="731520" cy="365760"/>
          </a:xfrm>
          <a:prstGeom prst="rect">
            <a:avLst/>
          </a:prstGeom>
          <a:noFill/>
        </p:spPr>
        <p:txBody>
          <a:bodyPr wrap="square" lIns="45720" rIns="45720" tIns="18288" bIns="18288" anchor="ctr">
            <a:spAutoFit/>
          </a:bodyPr>
          <a:lstStyle/>
          <a:p>
            <a:pPr algn="l"/>
            <a:r>
              <a:rPr sz="1000" b="1" i="0">
                <a:solidFill>
                  <a:srgbClr val="22C55E"/>
                </a:solidFill>
                <a:latin typeface="Calibri"/>
              </a:rPr>
              <a:t>TCP/22</a:t>
            </a:r>
          </a:p>
        </p:txBody>
      </p:sp>
      <p:sp>
        <p:nvSpPr>
          <p:cNvPr id="45" name="TextBox 44"/>
          <p:cNvSpPr txBox="1"/>
          <p:nvPr/>
        </p:nvSpPr>
        <p:spPr>
          <a:xfrm>
            <a:off x="8915400" y="2651760"/>
            <a:ext cx="2743200" cy="365760"/>
          </a:xfrm>
          <a:prstGeom prst="rect">
            <a:avLst/>
          </a:prstGeom>
          <a:noFill/>
        </p:spPr>
        <p:txBody>
          <a:bodyPr wrap="square" lIns="45720" rIns="45720" tIns="18288" bIns="18288" anchor="ctr">
            <a:spAutoFit/>
          </a:bodyPr>
          <a:lstStyle/>
          <a:p>
            <a:pPr algn="l"/>
            <a:r>
              <a:rPr sz="1000" b="0" i="1">
                <a:solidFill>
                  <a:srgbClr val="64748B"/>
                </a:solidFill>
                <a:latin typeface="Calibri"/>
              </a:rPr>
              <a:t>Admin Site A vers services Site B via VPN</a:t>
            </a:r>
          </a:p>
        </p:txBody>
      </p:sp>
      <p:sp>
        <p:nvSpPr>
          <p:cNvPr id="46" name="Rectangle 45"/>
          <p:cNvSpPr/>
          <p:nvPr/>
        </p:nvSpPr>
        <p:spPr>
          <a:xfrm>
            <a:off x="5943600" y="3017520"/>
            <a:ext cx="5760720" cy="365760"/>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080760" y="3017520"/>
            <a:ext cx="2103120" cy="365760"/>
          </a:xfrm>
          <a:prstGeom prst="rect">
            <a:avLst/>
          </a:prstGeom>
          <a:noFill/>
        </p:spPr>
        <p:txBody>
          <a:bodyPr wrap="square" lIns="45720" rIns="45720" tIns="18288" bIns="18288" anchor="ctr">
            <a:spAutoFit/>
          </a:bodyPr>
          <a:lstStyle/>
          <a:p>
            <a:pPr algn="l"/>
            <a:r>
              <a:rPr sz="1100" b="1" i="0">
                <a:solidFill>
                  <a:srgbClr val="1E2761"/>
                </a:solidFill>
                <a:latin typeface="Calibri"/>
              </a:rPr>
              <a:t>A-L → INT:443</a:t>
            </a:r>
          </a:p>
        </p:txBody>
      </p:sp>
      <p:sp>
        <p:nvSpPr>
          <p:cNvPr id="48" name="TextBox 47"/>
          <p:cNvSpPr txBox="1"/>
          <p:nvPr/>
        </p:nvSpPr>
        <p:spPr>
          <a:xfrm>
            <a:off x="8183879" y="3017520"/>
            <a:ext cx="731520" cy="365760"/>
          </a:xfrm>
          <a:prstGeom prst="rect">
            <a:avLst/>
          </a:prstGeom>
          <a:noFill/>
        </p:spPr>
        <p:txBody>
          <a:bodyPr wrap="square" lIns="45720" rIns="45720" tIns="18288" bIns="18288" anchor="ctr">
            <a:spAutoFit/>
          </a:bodyPr>
          <a:lstStyle/>
          <a:p>
            <a:pPr algn="l"/>
            <a:r>
              <a:rPr sz="1000" b="1" i="0">
                <a:solidFill>
                  <a:srgbClr val="22C55E"/>
                </a:solidFill>
                <a:latin typeface="Calibri"/>
              </a:rPr>
              <a:t>TCP</a:t>
            </a:r>
          </a:p>
        </p:txBody>
      </p:sp>
      <p:sp>
        <p:nvSpPr>
          <p:cNvPr id="49" name="TextBox 48"/>
          <p:cNvSpPr txBox="1"/>
          <p:nvPr/>
        </p:nvSpPr>
        <p:spPr>
          <a:xfrm>
            <a:off x="8915400" y="3017520"/>
            <a:ext cx="2743200" cy="365760"/>
          </a:xfrm>
          <a:prstGeom prst="rect">
            <a:avLst/>
          </a:prstGeom>
          <a:noFill/>
        </p:spPr>
        <p:txBody>
          <a:bodyPr wrap="square" lIns="45720" rIns="45720" tIns="18288" bIns="18288" anchor="ctr">
            <a:spAutoFit/>
          </a:bodyPr>
          <a:lstStyle/>
          <a:p>
            <a:pPr algn="l"/>
            <a:r>
              <a:rPr sz="1000" b="0" i="1">
                <a:solidFill>
                  <a:srgbClr val="64748B"/>
                </a:solidFill>
                <a:latin typeface="Calibri"/>
              </a:rPr>
              <a:t>HTTPS sortant (stateful)</a:t>
            </a:r>
          </a:p>
        </p:txBody>
      </p:sp>
      <p:sp>
        <p:nvSpPr>
          <p:cNvPr id="50" name="Rectangle 49"/>
          <p:cNvSpPr/>
          <p:nvPr/>
        </p:nvSpPr>
        <p:spPr>
          <a:xfrm>
            <a:off x="5943600" y="3383280"/>
            <a:ext cx="576072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080760" y="3383280"/>
            <a:ext cx="2103120" cy="365760"/>
          </a:xfrm>
          <a:prstGeom prst="rect">
            <a:avLst/>
          </a:prstGeom>
          <a:noFill/>
        </p:spPr>
        <p:txBody>
          <a:bodyPr wrap="square" lIns="45720" rIns="45720" tIns="18288" bIns="18288" anchor="ctr">
            <a:spAutoFit/>
          </a:bodyPr>
          <a:lstStyle/>
          <a:p>
            <a:pPr algn="l"/>
            <a:r>
              <a:rPr sz="1100" b="1" i="0">
                <a:solidFill>
                  <a:srgbClr val="1E2761"/>
                </a:solidFill>
                <a:latin typeface="Calibri"/>
              </a:rPr>
              <a:t>B-S → A-L:9200</a:t>
            </a:r>
          </a:p>
        </p:txBody>
      </p:sp>
      <p:sp>
        <p:nvSpPr>
          <p:cNvPr id="52" name="TextBox 51"/>
          <p:cNvSpPr txBox="1"/>
          <p:nvPr/>
        </p:nvSpPr>
        <p:spPr>
          <a:xfrm>
            <a:off x="8183879" y="3383280"/>
            <a:ext cx="731520" cy="365760"/>
          </a:xfrm>
          <a:prstGeom prst="rect">
            <a:avLst/>
          </a:prstGeom>
          <a:noFill/>
        </p:spPr>
        <p:txBody>
          <a:bodyPr wrap="square" lIns="45720" rIns="45720" tIns="18288" bIns="18288" anchor="ctr">
            <a:spAutoFit/>
          </a:bodyPr>
          <a:lstStyle/>
          <a:p>
            <a:pPr algn="l"/>
            <a:r>
              <a:rPr sz="1000" b="1" i="0">
                <a:solidFill>
                  <a:srgbClr val="22C55E"/>
                </a:solidFill>
                <a:latin typeface="Calibri"/>
              </a:rPr>
              <a:t>TCP</a:t>
            </a:r>
          </a:p>
        </p:txBody>
      </p:sp>
      <p:sp>
        <p:nvSpPr>
          <p:cNvPr id="53" name="TextBox 52"/>
          <p:cNvSpPr txBox="1"/>
          <p:nvPr/>
        </p:nvSpPr>
        <p:spPr>
          <a:xfrm>
            <a:off x="8915400" y="3383280"/>
            <a:ext cx="2743200" cy="365760"/>
          </a:xfrm>
          <a:prstGeom prst="rect">
            <a:avLst/>
          </a:prstGeom>
          <a:noFill/>
        </p:spPr>
        <p:txBody>
          <a:bodyPr wrap="square" lIns="45720" rIns="45720" tIns="18288" bIns="18288" anchor="ctr">
            <a:spAutoFit/>
          </a:bodyPr>
          <a:lstStyle/>
          <a:p>
            <a:pPr algn="l"/>
            <a:r>
              <a:rPr sz="1000" b="0" i="1">
                <a:solidFill>
                  <a:srgbClr val="64748B"/>
                </a:solidFill>
                <a:latin typeface="Calibri"/>
              </a:rPr>
              <a:t>Filebeat → Elasticsearch (encrypted)</a:t>
            </a:r>
          </a:p>
        </p:txBody>
      </p:sp>
      <p:sp>
        <p:nvSpPr>
          <p:cNvPr id="54" name="Rectangle 53"/>
          <p:cNvSpPr/>
          <p:nvPr/>
        </p:nvSpPr>
        <p:spPr>
          <a:xfrm>
            <a:off x="5943600" y="3749040"/>
            <a:ext cx="5760720" cy="365760"/>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080760" y="3749040"/>
            <a:ext cx="2103120" cy="365760"/>
          </a:xfrm>
          <a:prstGeom prst="rect">
            <a:avLst/>
          </a:prstGeom>
          <a:noFill/>
        </p:spPr>
        <p:txBody>
          <a:bodyPr wrap="square" lIns="45720" rIns="45720" tIns="18288" bIns="18288" anchor="ctr">
            <a:spAutoFit/>
          </a:bodyPr>
          <a:lstStyle/>
          <a:p>
            <a:pPr algn="l"/>
            <a:r>
              <a:rPr sz="1100" b="1" i="0">
                <a:solidFill>
                  <a:srgbClr val="1E2761"/>
                </a:solidFill>
                <a:latin typeface="Calibri"/>
              </a:rPr>
              <a:t>INT → A-L</a:t>
            </a:r>
          </a:p>
        </p:txBody>
      </p:sp>
      <p:sp>
        <p:nvSpPr>
          <p:cNvPr id="56" name="TextBox 55"/>
          <p:cNvSpPr txBox="1"/>
          <p:nvPr/>
        </p:nvSpPr>
        <p:spPr>
          <a:xfrm>
            <a:off x="8183879" y="3749040"/>
            <a:ext cx="731520" cy="365760"/>
          </a:xfrm>
          <a:prstGeom prst="rect">
            <a:avLst/>
          </a:prstGeom>
          <a:noFill/>
        </p:spPr>
        <p:txBody>
          <a:bodyPr wrap="square" lIns="45720" rIns="45720" tIns="18288" bIns="18288" anchor="ctr">
            <a:spAutoFit/>
          </a:bodyPr>
          <a:lstStyle/>
          <a:p>
            <a:pPr algn="l"/>
            <a:r>
              <a:rPr sz="1000" b="1" i="0">
                <a:solidFill>
                  <a:srgbClr val="EF4444"/>
                </a:solidFill>
                <a:latin typeface="Calibri"/>
              </a:rPr>
              <a:t>ANY</a:t>
            </a:r>
          </a:p>
        </p:txBody>
      </p:sp>
      <p:sp>
        <p:nvSpPr>
          <p:cNvPr id="57" name="TextBox 56"/>
          <p:cNvSpPr txBox="1"/>
          <p:nvPr/>
        </p:nvSpPr>
        <p:spPr>
          <a:xfrm>
            <a:off x="8915400" y="3749040"/>
            <a:ext cx="2743200" cy="365760"/>
          </a:xfrm>
          <a:prstGeom prst="rect">
            <a:avLst/>
          </a:prstGeom>
          <a:noFill/>
        </p:spPr>
        <p:txBody>
          <a:bodyPr wrap="square" lIns="45720" rIns="45720" tIns="18288" bIns="18288" anchor="ctr">
            <a:spAutoFit/>
          </a:bodyPr>
          <a:lstStyle/>
          <a:p>
            <a:pPr algn="l"/>
            <a:r>
              <a:rPr sz="1000" b="0" i="1">
                <a:solidFill>
                  <a:srgbClr val="64748B"/>
                </a:solidFill>
                <a:latin typeface="Calibri"/>
              </a:rPr>
              <a:t>Refusé sauf retours stateful + OpenVPN</a:t>
            </a:r>
          </a:p>
        </p:txBody>
      </p:sp>
      <p:sp>
        <p:nvSpPr>
          <p:cNvPr id="58" name="Rectangle 57"/>
          <p:cNvSpPr/>
          <p:nvPr/>
        </p:nvSpPr>
        <p:spPr>
          <a:xfrm>
            <a:off x="5943600" y="4114800"/>
            <a:ext cx="576072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080760" y="4114800"/>
            <a:ext cx="2103120" cy="365760"/>
          </a:xfrm>
          <a:prstGeom prst="rect">
            <a:avLst/>
          </a:prstGeom>
          <a:noFill/>
        </p:spPr>
        <p:txBody>
          <a:bodyPr wrap="square" lIns="45720" rIns="45720" tIns="18288" bIns="18288" anchor="ctr">
            <a:spAutoFit/>
          </a:bodyPr>
          <a:lstStyle/>
          <a:p>
            <a:pPr algn="l"/>
            <a:r>
              <a:rPr sz="1100" b="1" i="0">
                <a:solidFill>
                  <a:srgbClr val="1E2761"/>
                </a:solidFill>
                <a:latin typeface="Calibri"/>
              </a:rPr>
              <a:t>B-W → A-M</a:t>
            </a:r>
          </a:p>
        </p:txBody>
      </p:sp>
      <p:sp>
        <p:nvSpPr>
          <p:cNvPr id="60" name="TextBox 59"/>
          <p:cNvSpPr txBox="1"/>
          <p:nvPr/>
        </p:nvSpPr>
        <p:spPr>
          <a:xfrm>
            <a:off x="8183879" y="4114800"/>
            <a:ext cx="731520" cy="365760"/>
          </a:xfrm>
          <a:prstGeom prst="rect">
            <a:avLst/>
          </a:prstGeom>
          <a:noFill/>
        </p:spPr>
        <p:txBody>
          <a:bodyPr wrap="square" lIns="45720" rIns="45720" tIns="18288" bIns="18288" anchor="ctr">
            <a:spAutoFit/>
          </a:bodyPr>
          <a:lstStyle/>
          <a:p>
            <a:pPr algn="l"/>
            <a:r>
              <a:rPr sz="1000" b="1" i="0">
                <a:solidFill>
                  <a:srgbClr val="EF4444"/>
                </a:solidFill>
                <a:latin typeface="Calibri"/>
              </a:rPr>
              <a:t>ANY</a:t>
            </a:r>
          </a:p>
        </p:txBody>
      </p:sp>
      <p:sp>
        <p:nvSpPr>
          <p:cNvPr id="61" name="TextBox 60"/>
          <p:cNvSpPr txBox="1"/>
          <p:nvPr/>
        </p:nvSpPr>
        <p:spPr>
          <a:xfrm>
            <a:off x="8915400" y="4114800"/>
            <a:ext cx="2743200" cy="365760"/>
          </a:xfrm>
          <a:prstGeom prst="rect">
            <a:avLst/>
          </a:prstGeom>
          <a:noFill/>
        </p:spPr>
        <p:txBody>
          <a:bodyPr wrap="square" lIns="45720" rIns="45720" tIns="18288" bIns="18288" anchor="ctr">
            <a:spAutoFit/>
          </a:bodyPr>
          <a:lstStyle/>
          <a:p>
            <a:pPr algn="l"/>
            <a:r>
              <a:rPr sz="1000" b="0" i="1">
                <a:solidFill>
                  <a:srgbClr val="64748B"/>
                </a:solidFill>
                <a:latin typeface="Calibri"/>
              </a:rPr>
              <a:t>Refusé : routing isolé par zone</a:t>
            </a:r>
          </a:p>
        </p:txBody>
      </p:sp>
      <p:sp>
        <p:nvSpPr>
          <p:cNvPr id="62" name="TextBox 61"/>
          <p:cNvSpPr txBox="1"/>
          <p:nvPr/>
        </p:nvSpPr>
        <p:spPr>
          <a:xfrm>
            <a:off x="457200" y="6126480"/>
            <a:ext cx="11247120" cy="365760"/>
          </a:xfrm>
          <a:prstGeom prst="rect">
            <a:avLst/>
          </a:prstGeom>
          <a:noFill/>
        </p:spPr>
        <p:txBody>
          <a:bodyPr wrap="square" lIns="45720" rIns="45720" tIns="18288" bIns="18288" anchor="t">
            <a:spAutoFit/>
          </a:bodyPr>
          <a:lstStyle/>
          <a:p>
            <a:pPr algn="ctr"/>
            <a:r>
              <a:rPr sz="1100" b="0" i="1">
                <a:solidFill>
                  <a:srgbClr val="1E2761"/>
                </a:solidFill>
                <a:latin typeface="Calibri"/>
              </a:rPr>
              <a:t>→ docs/access-matrix-network-flows.md : matrice complète + justifications par flux</a:t>
            </a:r>
          </a:p>
        </p:txBody>
      </p:sp>
      <p:sp>
        <p:nvSpPr>
          <p:cNvPr id="63" name="TextBox 62"/>
          <p:cNvSpPr txBox="1"/>
          <p:nvPr/>
        </p:nvSpPr>
        <p:spPr>
          <a:xfrm>
            <a:off x="457200" y="6446520"/>
            <a:ext cx="5486400" cy="320040"/>
          </a:xfrm>
          <a:prstGeom prst="rect">
            <a:avLst/>
          </a:prstGeom>
          <a:noFill/>
        </p:spPr>
        <p:txBody>
          <a:bodyPr wrap="square" lIns="45720" rIns="45720" tIns="18288" bIns="18288" anchor="t">
            <a:spAutoFit/>
          </a:bodyPr>
          <a:lstStyle/>
          <a:p>
            <a:pPr algn="l"/>
            <a:r>
              <a:rPr sz="900" b="0" i="0">
                <a:solidFill>
                  <a:srgbClr val="64748B"/>
                </a:solidFill>
                <a:latin typeface="Calibri"/>
              </a:rPr>
              <a:t>CIA · Hybrid Infrastructure · GR46</a:t>
            </a:r>
          </a:p>
        </p:txBody>
      </p:sp>
      <p:sp>
        <p:nvSpPr>
          <p:cNvPr id="64" name="TextBox 63"/>
          <p:cNvSpPr txBox="1"/>
          <p:nvPr/>
        </p:nvSpPr>
        <p:spPr>
          <a:xfrm>
            <a:off x="10515600" y="6446520"/>
            <a:ext cx="1188720" cy="320040"/>
          </a:xfrm>
          <a:prstGeom prst="rect">
            <a:avLst/>
          </a:prstGeom>
          <a:noFill/>
        </p:spPr>
        <p:txBody>
          <a:bodyPr wrap="square" lIns="45720" rIns="45720" tIns="18288" bIns="18288" anchor="t">
            <a:spAutoFit/>
          </a:bodyPr>
          <a:lstStyle/>
          <a:p>
            <a:pPr algn="r"/>
            <a:r>
              <a:rPr sz="900" b="0" i="0">
                <a:solidFill>
                  <a:srgbClr val="64748B"/>
                </a:solidFill>
                <a:latin typeface="Calibri"/>
              </a:rPr>
              <a:t>5 / 15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0972800" cy="640080"/>
          </a:xfrm>
          <a:prstGeom prst="rect">
            <a:avLst/>
          </a:prstGeom>
          <a:noFill/>
        </p:spPr>
        <p:txBody>
          <a:bodyPr wrap="square" lIns="45720" rIns="45720" tIns="18288" bIns="18288" anchor="t">
            <a:spAutoFit/>
          </a:bodyPr>
          <a:lstStyle/>
          <a:p>
            <a:pPr algn="l"/>
            <a:r>
              <a:rPr sz="3600" b="1" i="0">
                <a:solidFill>
                  <a:srgbClr val="1E2761"/>
                </a:solidFill>
                <a:latin typeface="Trebuchet MS"/>
              </a:rPr>
              <a:t>Démo Terraform · idempotence</a:t>
            </a:r>
          </a:p>
        </p:txBody>
      </p:sp>
      <p:sp>
        <p:nvSpPr>
          <p:cNvPr id="3" name="TextBox 2"/>
          <p:cNvSpPr txBox="1"/>
          <p:nvPr/>
        </p:nvSpPr>
        <p:spPr>
          <a:xfrm>
            <a:off x="457200" y="1051560"/>
            <a:ext cx="10972800" cy="457200"/>
          </a:xfrm>
          <a:prstGeom prst="rect">
            <a:avLst/>
          </a:prstGeom>
          <a:noFill/>
        </p:spPr>
        <p:txBody>
          <a:bodyPr wrap="square" lIns="45720" rIns="45720" tIns="18288" bIns="18288" anchor="t">
            <a:spAutoFit/>
          </a:bodyPr>
          <a:lstStyle/>
          <a:p>
            <a:pPr algn="l"/>
            <a:r>
              <a:rPr sz="1400" b="0" i="1">
                <a:solidFill>
                  <a:srgbClr val="64748B"/>
                </a:solidFill>
                <a:latin typeface="Calibri"/>
              </a:rPr>
              <a:t>Plan-then-apply · convergence dev jetable → matériel école sans réécriture</a:t>
            </a:r>
          </a:p>
        </p:txBody>
      </p:sp>
      <p:pic>
        <p:nvPicPr>
          <p:cNvPr id="4" name="Picture 3" descr="07-terraform-plan-noop.png"/>
          <p:cNvPicPr>
            <a:picLocks noChangeAspect="1"/>
          </p:cNvPicPr>
          <p:nvPr/>
        </p:nvPicPr>
        <p:blipFill>
          <a:blip r:embed="rId2"/>
          <a:stretch>
            <a:fillRect/>
          </a:stretch>
        </p:blipFill>
        <p:spPr>
          <a:xfrm>
            <a:off x="457200" y="1828800"/>
            <a:ext cx="6400800" cy="2145265"/>
          </a:xfrm>
          <a:prstGeom prst="rect">
            <a:avLst/>
          </a:prstGeom>
        </p:spPr>
      </p:pic>
      <p:sp>
        <p:nvSpPr>
          <p:cNvPr id="5" name="TextBox 4"/>
          <p:cNvSpPr txBox="1"/>
          <p:nvPr/>
        </p:nvSpPr>
        <p:spPr>
          <a:xfrm>
            <a:off x="7132320" y="1828800"/>
            <a:ext cx="4754880" cy="457200"/>
          </a:xfrm>
          <a:prstGeom prst="rect">
            <a:avLst/>
          </a:prstGeom>
          <a:noFill/>
        </p:spPr>
        <p:txBody>
          <a:bodyPr wrap="square" lIns="45720" rIns="45720" tIns="18288" bIns="18288" anchor="t">
            <a:spAutoFit/>
          </a:bodyPr>
          <a:lstStyle/>
          <a:p>
            <a:pPr algn="l"/>
            <a:r>
              <a:rPr sz="2000" b="1" i="0">
                <a:solidFill>
                  <a:srgbClr val="1E2761"/>
                </a:solidFill>
                <a:latin typeface="Trebuchet MS"/>
              </a:rPr>
              <a:t>Migration dev → école</a:t>
            </a:r>
          </a:p>
        </p:txBody>
      </p:sp>
      <p:sp>
        <p:nvSpPr>
          <p:cNvPr id="6" name="Rounded Rectangle 5"/>
          <p:cNvSpPr/>
          <p:nvPr/>
        </p:nvSpPr>
        <p:spPr>
          <a:xfrm>
            <a:off x="7132320" y="2468880"/>
            <a:ext cx="457200" cy="457200"/>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0" y="2514600"/>
            <a:ext cx="457200" cy="365760"/>
          </a:xfrm>
          <a:prstGeom prst="rect">
            <a:avLst/>
          </a:prstGeom>
          <a:noFill/>
        </p:spPr>
        <p:txBody>
          <a:bodyPr wrap="square" lIns="45720" rIns="45720" tIns="18288" bIns="18288" anchor="t">
            <a:spAutoFit/>
          </a:bodyPr>
          <a:lstStyle/>
          <a:p>
            <a:pPr algn="ctr"/>
            <a:r>
              <a:rPr sz="1600" b="1" i="0">
                <a:solidFill>
                  <a:srgbClr val="FFFFFF"/>
                </a:solidFill>
                <a:latin typeface="Trebuchet MS"/>
              </a:rPr>
              <a:t>1</a:t>
            </a:r>
          </a:p>
        </p:txBody>
      </p:sp>
      <p:sp>
        <p:nvSpPr>
          <p:cNvPr id="8" name="TextBox 7"/>
          <p:cNvSpPr txBox="1"/>
          <p:nvPr/>
        </p:nvSpPr>
        <p:spPr>
          <a:xfrm>
            <a:off x="7726680" y="2468880"/>
            <a:ext cx="4114800" cy="274320"/>
          </a:xfrm>
          <a:prstGeom prst="rect">
            <a:avLst/>
          </a:prstGeom>
          <a:noFill/>
        </p:spPr>
        <p:txBody>
          <a:bodyPr wrap="square" lIns="45720" rIns="45720" tIns="18288" bIns="18288" anchor="t">
            <a:spAutoFit/>
          </a:bodyPr>
          <a:lstStyle/>
          <a:p>
            <a:pPr algn="l"/>
            <a:r>
              <a:rPr sz="1300" b="1" i="0">
                <a:solidFill>
                  <a:srgbClr val="1E2761"/>
                </a:solidFill>
                <a:latin typeface="Calibri"/>
              </a:rPr>
              <a:t>Dev jetable</a:t>
            </a:r>
          </a:p>
        </p:txBody>
      </p:sp>
      <p:sp>
        <p:nvSpPr>
          <p:cNvPr id="9" name="TextBox 8"/>
          <p:cNvSpPr txBox="1"/>
          <p:nvPr/>
        </p:nvSpPr>
        <p:spPr>
          <a:xfrm>
            <a:off x="7726680" y="2743200"/>
            <a:ext cx="4114800" cy="640080"/>
          </a:xfrm>
          <a:prstGeom prst="rect">
            <a:avLst/>
          </a:prstGeom>
          <a:noFill/>
        </p:spPr>
        <p:txBody>
          <a:bodyPr wrap="square" lIns="45720" rIns="45720" tIns="18288" bIns="18288" anchor="t">
            <a:spAutoFit/>
          </a:bodyPr>
          <a:lstStyle/>
          <a:p>
            <a:pPr algn="l"/>
            <a:r>
              <a:rPr sz="1000" b="0" i="0">
                <a:solidFill>
                  <a:srgbClr val="64748B"/>
                </a:solidFill>
                <a:latin typeface="Calibri"/>
              </a:rPr>
              <a:t>Proxmox nested VMware
6 VMs auto-créées par Terraform</a:t>
            </a:r>
          </a:p>
        </p:txBody>
      </p:sp>
      <p:sp>
        <p:nvSpPr>
          <p:cNvPr id="10" name="Rounded Rectangle 9"/>
          <p:cNvSpPr/>
          <p:nvPr/>
        </p:nvSpPr>
        <p:spPr>
          <a:xfrm>
            <a:off x="7132320" y="3429000"/>
            <a:ext cx="457200" cy="457200"/>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0" y="3474720"/>
            <a:ext cx="457200" cy="365760"/>
          </a:xfrm>
          <a:prstGeom prst="rect">
            <a:avLst/>
          </a:prstGeom>
          <a:noFill/>
        </p:spPr>
        <p:txBody>
          <a:bodyPr wrap="square" lIns="45720" rIns="45720" tIns="18288" bIns="18288" anchor="t">
            <a:spAutoFit/>
          </a:bodyPr>
          <a:lstStyle/>
          <a:p>
            <a:pPr algn="ctr"/>
            <a:r>
              <a:rPr sz="1600" b="1" i="0">
                <a:solidFill>
                  <a:srgbClr val="FFFFFF"/>
                </a:solidFill>
                <a:latin typeface="Trebuchet MS"/>
              </a:rPr>
              <a:t>2</a:t>
            </a:r>
          </a:p>
        </p:txBody>
      </p:sp>
      <p:sp>
        <p:nvSpPr>
          <p:cNvPr id="12" name="TextBox 11"/>
          <p:cNvSpPr txBox="1"/>
          <p:nvPr/>
        </p:nvSpPr>
        <p:spPr>
          <a:xfrm>
            <a:off x="7726680" y="3429000"/>
            <a:ext cx="4114800" cy="274320"/>
          </a:xfrm>
          <a:prstGeom prst="rect">
            <a:avLst/>
          </a:prstGeom>
          <a:noFill/>
        </p:spPr>
        <p:txBody>
          <a:bodyPr wrap="square" lIns="45720" rIns="45720" tIns="18288" bIns="18288" anchor="t">
            <a:spAutoFit/>
          </a:bodyPr>
          <a:lstStyle/>
          <a:p>
            <a:pPr algn="l"/>
            <a:r>
              <a:rPr sz="1300" b="1" i="0">
                <a:solidFill>
                  <a:srgbClr val="1E2761"/>
                </a:solidFill>
                <a:latin typeface="Calibri"/>
              </a:rPr>
              <a:t>Code validé</a:t>
            </a:r>
          </a:p>
        </p:txBody>
      </p:sp>
      <p:sp>
        <p:nvSpPr>
          <p:cNvPr id="13" name="TextBox 12"/>
          <p:cNvSpPr txBox="1"/>
          <p:nvPr/>
        </p:nvSpPr>
        <p:spPr>
          <a:xfrm>
            <a:off x="7726680" y="3703320"/>
            <a:ext cx="4114800" cy="640080"/>
          </a:xfrm>
          <a:prstGeom prst="rect">
            <a:avLst/>
          </a:prstGeom>
          <a:noFill/>
        </p:spPr>
        <p:txBody>
          <a:bodyPr wrap="square" lIns="45720" rIns="45720" tIns="18288" bIns="18288" anchor="t">
            <a:spAutoFit/>
          </a:bodyPr>
          <a:lstStyle/>
          <a:p>
            <a:pPr algn="l"/>
            <a:r>
              <a:rPr sz="1000" b="0" i="0">
                <a:solidFill>
                  <a:srgbClr val="64748B"/>
                </a:solidFill>
                <a:latin typeface="Calibri"/>
              </a:rPr>
              <a:t>Modules + rôles testés en CI
12 checks checkov, terraform validate OK</a:t>
            </a:r>
          </a:p>
        </p:txBody>
      </p:sp>
      <p:sp>
        <p:nvSpPr>
          <p:cNvPr id="14" name="Rounded Rectangle 13"/>
          <p:cNvSpPr/>
          <p:nvPr/>
        </p:nvSpPr>
        <p:spPr>
          <a:xfrm>
            <a:off x="7132320" y="4389120"/>
            <a:ext cx="457200" cy="457200"/>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32320" y="4434840"/>
            <a:ext cx="457200" cy="365760"/>
          </a:xfrm>
          <a:prstGeom prst="rect">
            <a:avLst/>
          </a:prstGeom>
          <a:noFill/>
        </p:spPr>
        <p:txBody>
          <a:bodyPr wrap="square" lIns="45720" rIns="45720" tIns="18288" bIns="18288" anchor="t">
            <a:spAutoFit/>
          </a:bodyPr>
          <a:lstStyle/>
          <a:p>
            <a:pPr algn="ctr"/>
            <a:r>
              <a:rPr sz="1600" b="1" i="0">
                <a:solidFill>
                  <a:srgbClr val="FFFFFF"/>
                </a:solidFill>
                <a:latin typeface="Trebuchet MS"/>
              </a:rPr>
              <a:t>3</a:t>
            </a:r>
          </a:p>
        </p:txBody>
      </p:sp>
      <p:sp>
        <p:nvSpPr>
          <p:cNvPr id="16" name="TextBox 15"/>
          <p:cNvSpPr txBox="1"/>
          <p:nvPr/>
        </p:nvSpPr>
        <p:spPr>
          <a:xfrm>
            <a:off x="7726680" y="4389120"/>
            <a:ext cx="4114800" cy="274320"/>
          </a:xfrm>
          <a:prstGeom prst="rect">
            <a:avLst/>
          </a:prstGeom>
          <a:noFill/>
        </p:spPr>
        <p:txBody>
          <a:bodyPr wrap="square" lIns="45720" rIns="45720" tIns="18288" bIns="18288" anchor="t">
            <a:spAutoFit/>
          </a:bodyPr>
          <a:lstStyle/>
          <a:p>
            <a:pPr algn="l"/>
            <a:r>
              <a:rPr sz="1300" b="1" i="0">
                <a:solidFill>
                  <a:srgbClr val="1E2761"/>
                </a:solidFill>
                <a:latin typeface="Calibri"/>
              </a:rPr>
              <a:t>Bascule école</a:t>
            </a:r>
          </a:p>
        </p:txBody>
      </p:sp>
      <p:sp>
        <p:nvSpPr>
          <p:cNvPr id="17" name="TextBox 16"/>
          <p:cNvSpPr txBox="1"/>
          <p:nvPr/>
        </p:nvSpPr>
        <p:spPr>
          <a:xfrm>
            <a:off x="7726680" y="4663440"/>
            <a:ext cx="4114800" cy="640080"/>
          </a:xfrm>
          <a:prstGeom prst="rect">
            <a:avLst/>
          </a:prstGeom>
          <a:noFill/>
        </p:spPr>
        <p:txBody>
          <a:bodyPr wrap="square" lIns="45720" rIns="45720" tIns="18288" bIns="18288" anchor="t">
            <a:spAutoFit/>
          </a:bodyPr>
          <a:lstStyle/>
          <a:p>
            <a:pPr algn="l"/>
            <a:r>
              <a:rPr sz="1000" b="0" i="0">
                <a:solidFill>
                  <a:srgbClr val="64748B"/>
                </a:solidFill>
                <a:latin typeface="Calibri"/>
              </a:rPr>
              <a:t>Modification : terraform.tfvars + inventaire + secrets
Le code applicatif n'a pas bougé</a:t>
            </a:r>
          </a:p>
        </p:txBody>
      </p:sp>
      <p:sp>
        <p:nvSpPr>
          <p:cNvPr id="18" name="Rounded Rectangle 17"/>
          <p:cNvSpPr/>
          <p:nvPr/>
        </p:nvSpPr>
        <p:spPr>
          <a:xfrm>
            <a:off x="7132320" y="5349240"/>
            <a:ext cx="457200" cy="457200"/>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20" y="5394960"/>
            <a:ext cx="457200" cy="365760"/>
          </a:xfrm>
          <a:prstGeom prst="rect">
            <a:avLst/>
          </a:prstGeom>
          <a:noFill/>
        </p:spPr>
        <p:txBody>
          <a:bodyPr wrap="square" lIns="45720" rIns="45720" tIns="18288" bIns="18288" anchor="t">
            <a:spAutoFit/>
          </a:bodyPr>
          <a:lstStyle/>
          <a:p>
            <a:pPr algn="ctr"/>
            <a:r>
              <a:rPr sz="1600" b="1" i="0">
                <a:solidFill>
                  <a:srgbClr val="FFFFFF"/>
                </a:solidFill>
                <a:latin typeface="Trebuchet MS"/>
              </a:rPr>
              <a:t>4</a:t>
            </a:r>
          </a:p>
        </p:txBody>
      </p:sp>
      <p:sp>
        <p:nvSpPr>
          <p:cNvPr id="20" name="TextBox 19"/>
          <p:cNvSpPr txBox="1"/>
          <p:nvPr/>
        </p:nvSpPr>
        <p:spPr>
          <a:xfrm>
            <a:off x="7726680" y="5349240"/>
            <a:ext cx="4114800" cy="274320"/>
          </a:xfrm>
          <a:prstGeom prst="rect">
            <a:avLst/>
          </a:prstGeom>
          <a:noFill/>
        </p:spPr>
        <p:txBody>
          <a:bodyPr wrap="square" lIns="45720" rIns="45720" tIns="18288" bIns="18288" anchor="t">
            <a:spAutoFit/>
          </a:bodyPr>
          <a:lstStyle/>
          <a:p>
            <a:pPr algn="l"/>
            <a:r>
              <a:rPr sz="1300" b="1" i="0">
                <a:solidFill>
                  <a:srgbClr val="1E2761"/>
                </a:solidFill>
                <a:latin typeface="Calibri"/>
              </a:rPr>
              <a:t>Réconciliation</a:t>
            </a:r>
          </a:p>
        </p:txBody>
      </p:sp>
      <p:sp>
        <p:nvSpPr>
          <p:cNvPr id="21" name="TextBox 20"/>
          <p:cNvSpPr txBox="1"/>
          <p:nvPr/>
        </p:nvSpPr>
        <p:spPr>
          <a:xfrm>
            <a:off x="7726680" y="5623560"/>
            <a:ext cx="4114800" cy="640080"/>
          </a:xfrm>
          <a:prstGeom prst="rect">
            <a:avLst/>
          </a:prstGeom>
          <a:noFill/>
        </p:spPr>
        <p:txBody>
          <a:bodyPr wrap="square" lIns="45720" rIns="45720" tIns="18288" bIns="18288" anchor="t">
            <a:spAutoFit/>
          </a:bodyPr>
          <a:lstStyle/>
          <a:p>
            <a:pPr algn="l"/>
            <a:r>
              <a:rPr sz="1000" b="0" i="0">
                <a:solidFill>
                  <a:srgbClr val="64748B"/>
                </a:solidFill>
                <a:latin typeface="Calibri"/>
              </a:rPr>
              <a:t>6 VMs école pré-allouées importées via terraform import
Convergence lisible, pas de big bang</a:t>
            </a:r>
          </a:p>
        </p:txBody>
      </p:sp>
      <p:sp>
        <p:nvSpPr>
          <p:cNvPr id="22" name="TextBox 21"/>
          <p:cNvSpPr txBox="1"/>
          <p:nvPr/>
        </p:nvSpPr>
        <p:spPr>
          <a:xfrm>
            <a:off x="457200" y="6446520"/>
            <a:ext cx="5486400" cy="320040"/>
          </a:xfrm>
          <a:prstGeom prst="rect">
            <a:avLst/>
          </a:prstGeom>
          <a:noFill/>
        </p:spPr>
        <p:txBody>
          <a:bodyPr wrap="square" lIns="45720" rIns="45720" tIns="18288" bIns="18288" anchor="t">
            <a:spAutoFit/>
          </a:bodyPr>
          <a:lstStyle/>
          <a:p>
            <a:pPr algn="l"/>
            <a:r>
              <a:rPr sz="900" b="0" i="0">
                <a:solidFill>
                  <a:srgbClr val="64748B"/>
                </a:solidFill>
                <a:latin typeface="Calibri"/>
              </a:rPr>
              <a:t>CIA · Hybrid Infrastructure · GR46</a:t>
            </a:r>
          </a:p>
        </p:txBody>
      </p:sp>
      <p:sp>
        <p:nvSpPr>
          <p:cNvPr id="23" name="TextBox 22"/>
          <p:cNvSpPr txBox="1"/>
          <p:nvPr/>
        </p:nvSpPr>
        <p:spPr>
          <a:xfrm>
            <a:off x="10515600" y="6446520"/>
            <a:ext cx="1188720" cy="320040"/>
          </a:xfrm>
          <a:prstGeom prst="rect">
            <a:avLst/>
          </a:prstGeom>
          <a:noFill/>
        </p:spPr>
        <p:txBody>
          <a:bodyPr wrap="square" lIns="45720" rIns="45720" tIns="18288" bIns="18288" anchor="t">
            <a:spAutoFit/>
          </a:bodyPr>
          <a:lstStyle/>
          <a:p>
            <a:pPr algn="r"/>
            <a:r>
              <a:rPr sz="900" b="0" i="0">
                <a:solidFill>
                  <a:srgbClr val="64748B"/>
                </a:solidFill>
                <a:latin typeface="Calibri"/>
              </a:rPr>
              <a:t>6 / 15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0972800" cy="640080"/>
          </a:xfrm>
          <a:prstGeom prst="rect">
            <a:avLst/>
          </a:prstGeom>
          <a:noFill/>
        </p:spPr>
        <p:txBody>
          <a:bodyPr wrap="square" lIns="45720" rIns="45720" tIns="18288" bIns="18288" anchor="t">
            <a:spAutoFit/>
          </a:bodyPr>
          <a:lstStyle/>
          <a:p>
            <a:pPr algn="l"/>
            <a:r>
              <a:rPr sz="3600" b="1" i="0">
                <a:solidFill>
                  <a:srgbClr val="1E2761"/>
                </a:solidFill>
                <a:latin typeface="Trebuchet MS"/>
              </a:rPr>
              <a:t>Démo Ansible · runtime + idempotence</a:t>
            </a:r>
          </a:p>
        </p:txBody>
      </p:sp>
      <p:sp>
        <p:nvSpPr>
          <p:cNvPr id="3" name="TextBox 2"/>
          <p:cNvSpPr txBox="1"/>
          <p:nvPr/>
        </p:nvSpPr>
        <p:spPr>
          <a:xfrm>
            <a:off x="457200" y="1051560"/>
            <a:ext cx="10972800" cy="457200"/>
          </a:xfrm>
          <a:prstGeom prst="rect">
            <a:avLst/>
          </a:prstGeom>
          <a:noFill/>
        </p:spPr>
        <p:txBody>
          <a:bodyPr wrap="square" lIns="45720" rIns="45720" tIns="18288" bIns="18288" anchor="t">
            <a:spAutoFit/>
          </a:bodyPr>
          <a:lstStyle/>
          <a:p>
            <a:pPr algn="l"/>
            <a:r>
              <a:rPr sz="1400" b="0" i="1">
                <a:solidFill>
                  <a:srgbClr val="64748B"/>
                </a:solidFill>
                <a:latin typeface="Calibri"/>
              </a:rPr>
              <a:t>11 rôles modulaires · check mode · preuve idempotence services-s2</a:t>
            </a:r>
          </a:p>
        </p:txBody>
      </p:sp>
      <p:sp>
        <p:nvSpPr>
          <p:cNvPr id="4" name="Rounded Rectangle 3"/>
          <p:cNvSpPr/>
          <p:nvPr/>
        </p:nvSpPr>
        <p:spPr>
          <a:xfrm>
            <a:off x="457200" y="1828800"/>
            <a:ext cx="5486400" cy="3657600"/>
          </a:xfrm>
          <a:prstGeom prst="round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57400"/>
            <a:ext cx="5486400" cy="365760"/>
          </a:xfrm>
          <a:prstGeom prst="rect">
            <a:avLst/>
          </a:prstGeom>
          <a:noFill/>
        </p:spPr>
        <p:txBody>
          <a:bodyPr wrap="square" lIns="45720" rIns="45720" tIns="18288" bIns="18288" anchor="t">
            <a:spAutoFit/>
          </a:bodyPr>
          <a:lstStyle/>
          <a:p>
            <a:pPr algn="ctr"/>
            <a:r>
              <a:rPr sz="1400" b="0" i="1">
                <a:solidFill>
                  <a:srgbClr val="CADCFC"/>
                </a:solidFill>
                <a:latin typeface="Calibri"/>
              </a:rPr>
              <a:t>Preuve idempotence</a:t>
            </a:r>
          </a:p>
        </p:txBody>
      </p:sp>
      <p:sp>
        <p:nvSpPr>
          <p:cNvPr id="6" name="TextBox 5"/>
          <p:cNvSpPr txBox="1"/>
          <p:nvPr/>
        </p:nvSpPr>
        <p:spPr>
          <a:xfrm>
            <a:off x="457200" y="2468880"/>
            <a:ext cx="5486400" cy="1463040"/>
          </a:xfrm>
          <a:prstGeom prst="rect">
            <a:avLst/>
          </a:prstGeom>
          <a:noFill/>
        </p:spPr>
        <p:txBody>
          <a:bodyPr wrap="square" lIns="45720" rIns="45720" tIns="18288" bIns="18288" anchor="ctr">
            <a:spAutoFit/>
          </a:bodyPr>
          <a:lstStyle/>
          <a:p>
            <a:pPr algn="ctr"/>
            <a:r>
              <a:rPr sz="12000" b="1" i="0">
                <a:solidFill>
                  <a:srgbClr val="38BDF8"/>
                </a:solidFill>
                <a:latin typeface="Trebuchet MS"/>
              </a:rPr>
              <a:t>4</a:t>
            </a:r>
          </a:p>
        </p:txBody>
      </p:sp>
      <p:sp>
        <p:nvSpPr>
          <p:cNvPr id="7" name="TextBox 6"/>
          <p:cNvSpPr txBox="1"/>
          <p:nvPr/>
        </p:nvSpPr>
        <p:spPr>
          <a:xfrm>
            <a:off x="457200" y="3977640"/>
            <a:ext cx="5486400" cy="365760"/>
          </a:xfrm>
          <a:prstGeom prst="rect">
            <a:avLst/>
          </a:prstGeom>
          <a:noFill/>
        </p:spPr>
        <p:txBody>
          <a:bodyPr wrap="square" lIns="45720" rIns="45720" tIns="18288" bIns="18288" anchor="t">
            <a:spAutoFit/>
          </a:bodyPr>
          <a:lstStyle/>
          <a:p>
            <a:pPr algn="ctr"/>
            <a:r>
              <a:rPr sz="1800" b="1" i="0">
                <a:solidFill>
                  <a:srgbClr val="FFFFFF"/>
                </a:solidFill>
                <a:latin typeface="Trebuchet MS"/>
              </a:rPr>
              <a:t>changed tasks</a:t>
            </a:r>
          </a:p>
        </p:txBody>
      </p:sp>
      <p:sp>
        <p:nvSpPr>
          <p:cNvPr id="8" name="TextBox 7"/>
          <p:cNvSpPr txBox="1"/>
          <p:nvPr/>
        </p:nvSpPr>
        <p:spPr>
          <a:xfrm>
            <a:off x="457200" y="4389120"/>
            <a:ext cx="5486400" cy="365760"/>
          </a:xfrm>
          <a:prstGeom prst="rect">
            <a:avLst/>
          </a:prstGeom>
          <a:noFill/>
        </p:spPr>
        <p:txBody>
          <a:bodyPr wrap="square" lIns="45720" rIns="45720" tIns="18288" bIns="18288" anchor="t">
            <a:spAutoFit/>
          </a:bodyPr>
          <a:lstStyle/>
          <a:p>
            <a:pPr algn="ctr"/>
            <a:r>
              <a:rPr sz="1300" b="0" i="1">
                <a:solidFill>
                  <a:srgbClr val="CADCFC"/>
                </a:solidFill>
                <a:latin typeface="Calibri"/>
              </a:rPr>
              <a:t>sur 41 tâches OK · ~ 90 % stables au 2e run</a:t>
            </a:r>
          </a:p>
        </p:txBody>
      </p:sp>
      <p:sp>
        <p:nvSpPr>
          <p:cNvPr id="9" name="TextBox 8"/>
          <p:cNvSpPr txBox="1"/>
          <p:nvPr/>
        </p:nvSpPr>
        <p:spPr>
          <a:xfrm>
            <a:off x="457200" y="4937760"/>
            <a:ext cx="5486400" cy="365760"/>
          </a:xfrm>
          <a:prstGeom prst="rect">
            <a:avLst/>
          </a:prstGeom>
          <a:noFill/>
        </p:spPr>
        <p:txBody>
          <a:bodyPr wrap="square" lIns="45720" rIns="45720" tIns="18288" bIns="18288" anchor="t">
            <a:spAutoFit/>
          </a:bodyPr>
          <a:lstStyle/>
          <a:p>
            <a:pPr algn="ctr"/>
            <a:r>
              <a:rPr sz="1100" b="0" i="0">
                <a:solidFill>
                  <a:srgbClr val="CADCFC"/>
                </a:solidFill>
                <a:latin typeface="Consolas"/>
              </a:rPr>
              <a:t>PLAY RECAP — services-s2 (Site B)</a:t>
            </a:r>
          </a:p>
        </p:txBody>
      </p:sp>
      <p:sp>
        <p:nvSpPr>
          <p:cNvPr id="10" name="TextBox 9"/>
          <p:cNvSpPr txBox="1"/>
          <p:nvPr/>
        </p:nvSpPr>
        <p:spPr>
          <a:xfrm>
            <a:off x="6400800" y="1828800"/>
            <a:ext cx="5486400" cy="457200"/>
          </a:xfrm>
          <a:prstGeom prst="rect">
            <a:avLst/>
          </a:prstGeom>
          <a:noFill/>
        </p:spPr>
        <p:txBody>
          <a:bodyPr wrap="square" lIns="45720" rIns="45720" tIns="18288" bIns="18288" anchor="t">
            <a:spAutoFit/>
          </a:bodyPr>
          <a:lstStyle/>
          <a:p>
            <a:pPr algn="l"/>
            <a:r>
              <a:rPr sz="1800" b="1" i="0">
                <a:solidFill>
                  <a:srgbClr val="1E2761"/>
                </a:solidFill>
                <a:latin typeface="Calibri"/>
              </a:rPr>
              <a:t>11 rôles Ansible</a:t>
            </a:r>
          </a:p>
        </p:txBody>
      </p:sp>
      <p:sp>
        <p:nvSpPr>
          <p:cNvPr id="11" name="Rounded Rectangle 10"/>
          <p:cNvSpPr/>
          <p:nvPr/>
        </p:nvSpPr>
        <p:spPr>
          <a:xfrm>
            <a:off x="6400800" y="2395728"/>
            <a:ext cx="91440" cy="91440"/>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2286000"/>
            <a:ext cx="822960" cy="320040"/>
          </a:xfrm>
          <a:prstGeom prst="rect">
            <a:avLst/>
          </a:prstGeom>
          <a:noFill/>
        </p:spPr>
        <p:txBody>
          <a:bodyPr wrap="square" lIns="45720" rIns="45720" tIns="18288" bIns="18288" anchor="ctr">
            <a:spAutoFit/>
          </a:bodyPr>
          <a:lstStyle/>
          <a:p>
            <a:pPr algn="l"/>
            <a:r>
              <a:rPr sz="1000" b="1" i="0">
                <a:solidFill>
                  <a:srgbClr val="1E2761"/>
                </a:solidFill>
                <a:latin typeface="Consolas"/>
              </a:rPr>
              <a:t>common</a:t>
            </a:r>
          </a:p>
        </p:txBody>
      </p:sp>
      <p:sp>
        <p:nvSpPr>
          <p:cNvPr id="13" name="TextBox 12"/>
          <p:cNvSpPr txBox="1"/>
          <p:nvPr/>
        </p:nvSpPr>
        <p:spPr>
          <a:xfrm>
            <a:off x="7406640" y="2286000"/>
            <a:ext cx="1737360" cy="320040"/>
          </a:xfrm>
          <a:prstGeom prst="rect">
            <a:avLst/>
          </a:prstGeom>
          <a:noFill/>
        </p:spPr>
        <p:txBody>
          <a:bodyPr wrap="square" lIns="45720" rIns="45720" tIns="18288" bIns="18288" anchor="ctr">
            <a:spAutoFit/>
          </a:bodyPr>
          <a:lstStyle/>
          <a:p>
            <a:pPr algn="l"/>
            <a:r>
              <a:rPr sz="900" b="0" i="0">
                <a:solidFill>
                  <a:srgbClr val="64748B"/>
                </a:solidFill>
                <a:latin typeface="Calibri"/>
              </a:rPr>
              <a:t>Baseline OS + ntp + audit</a:t>
            </a:r>
          </a:p>
        </p:txBody>
      </p:sp>
      <p:sp>
        <p:nvSpPr>
          <p:cNvPr id="14" name="Rounded Rectangle 13"/>
          <p:cNvSpPr/>
          <p:nvPr/>
        </p:nvSpPr>
        <p:spPr>
          <a:xfrm>
            <a:off x="6400800" y="2715768"/>
            <a:ext cx="91440" cy="91440"/>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0" y="2606040"/>
            <a:ext cx="822960" cy="320040"/>
          </a:xfrm>
          <a:prstGeom prst="rect">
            <a:avLst/>
          </a:prstGeom>
          <a:noFill/>
        </p:spPr>
        <p:txBody>
          <a:bodyPr wrap="square" lIns="45720" rIns="45720" tIns="18288" bIns="18288" anchor="ctr">
            <a:spAutoFit/>
          </a:bodyPr>
          <a:lstStyle/>
          <a:p>
            <a:pPr algn="l"/>
            <a:r>
              <a:rPr sz="1000" b="1" i="0">
                <a:solidFill>
                  <a:srgbClr val="1E2761"/>
                </a:solidFill>
                <a:latin typeface="Consolas"/>
              </a:rPr>
              <a:t>pfsense</a:t>
            </a:r>
          </a:p>
        </p:txBody>
      </p:sp>
      <p:sp>
        <p:nvSpPr>
          <p:cNvPr id="16" name="TextBox 15"/>
          <p:cNvSpPr txBox="1"/>
          <p:nvPr/>
        </p:nvSpPr>
        <p:spPr>
          <a:xfrm>
            <a:off x="7406640" y="2606040"/>
            <a:ext cx="1737360" cy="320040"/>
          </a:xfrm>
          <a:prstGeom prst="rect">
            <a:avLst/>
          </a:prstGeom>
          <a:noFill/>
        </p:spPr>
        <p:txBody>
          <a:bodyPr wrap="square" lIns="45720" rIns="45720" tIns="18288" bIns="18288" anchor="ctr">
            <a:spAutoFit/>
          </a:bodyPr>
          <a:lstStyle/>
          <a:p>
            <a:pPr algn="l"/>
            <a:r>
              <a:rPr sz="900" b="0" i="0">
                <a:solidFill>
                  <a:srgbClr val="64748B"/>
                </a:solidFill>
                <a:latin typeface="Calibri"/>
              </a:rPr>
              <a:t>Firewall API config</a:t>
            </a:r>
          </a:p>
        </p:txBody>
      </p:sp>
      <p:sp>
        <p:nvSpPr>
          <p:cNvPr id="17" name="Rounded Rectangle 16"/>
          <p:cNvSpPr/>
          <p:nvPr/>
        </p:nvSpPr>
        <p:spPr>
          <a:xfrm>
            <a:off x="6400800" y="3035808"/>
            <a:ext cx="91440" cy="91440"/>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0" y="2926080"/>
            <a:ext cx="822960" cy="320040"/>
          </a:xfrm>
          <a:prstGeom prst="rect">
            <a:avLst/>
          </a:prstGeom>
          <a:noFill/>
        </p:spPr>
        <p:txBody>
          <a:bodyPr wrap="square" lIns="45720" rIns="45720" tIns="18288" bIns="18288" anchor="ctr">
            <a:spAutoFit/>
          </a:bodyPr>
          <a:lstStyle/>
          <a:p>
            <a:pPr algn="l"/>
            <a:r>
              <a:rPr sz="1000" b="1" i="0">
                <a:solidFill>
                  <a:srgbClr val="1E2761"/>
                </a:solidFill>
                <a:latin typeface="Consolas"/>
              </a:rPr>
              <a:t>openvpn</a:t>
            </a:r>
          </a:p>
        </p:txBody>
      </p:sp>
      <p:sp>
        <p:nvSpPr>
          <p:cNvPr id="19" name="TextBox 18"/>
          <p:cNvSpPr txBox="1"/>
          <p:nvPr/>
        </p:nvSpPr>
        <p:spPr>
          <a:xfrm>
            <a:off x="7406640" y="2926080"/>
            <a:ext cx="1737360" cy="320040"/>
          </a:xfrm>
          <a:prstGeom prst="rect">
            <a:avLst/>
          </a:prstGeom>
          <a:noFill/>
        </p:spPr>
        <p:txBody>
          <a:bodyPr wrap="square" lIns="45720" rIns="45720" tIns="18288" bIns="18288" anchor="ctr">
            <a:spAutoFit/>
          </a:bodyPr>
          <a:lstStyle/>
          <a:p>
            <a:pPr algn="l"/>
            <a:r>
              <a:rPr sz="900" b="0" i="0">
                <a:solidFill>
                  <a:srgbClr val="64748B"/>
                </a:solidFill>
                <a:latin typeface="Calibri"/>
              </a:rPr>
              <a:t>VPN serveur + clients</a:t>
            </a:r>
          </a:p>
        </p:txBody>
      </p:sp>
      <p:sp>
        <p:nvSpPr>
          <p:cNvPr id="20" name="Rounded Rectangle 19"/>
          <p:cNvSpPr/>
          <p:nvPr/>
        </p:nvSpPr>
        <p:spPr>
          <a:xfrm>
            <a:off x="6400800" y="3355848"/>
            <a:ext cx="91440" cy="91440"/>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0" y="3246120"/>
            <a:ext cx="822960" cy="320040"/>
          </a:xfrm>
          <a:prstGeom prst="rect">
            <a:avLst/>
          </a:prstGeom>
          <a:noFill/>
        </p:spPr>
        <p:txBody>
          <a:bodyPr wrap="square" lIns="45720" rIns="45720" tIns="18288" bIns="18288" anchor="ctr">
            <a:spAutoFit/>
          </a:bodyPr>
          <a:lstStyle/>
          <a:p>
            <a:pPr algn="l"/>
            <a:r>
              <a:rPr sz="1000" b="1" i="0">
                <a:solidFill>
                  <a:srgbClr val="1E2761"/>
                </a:solidFill>
                <a:latin typeface="Consolas"/>
              </a:rPr>
              <a:t>netbox</a:t>
            </a:r>
          </a:p>
        </p:txBody>
      </p:sp>
      <p:sp>
        <p:nvSpPr>
          <p:cNvPr id="22" name="TextBox 21"/>
          <p:cNvSpPr txBox="1"/>
          <p:nvPr/>
        </p:nvSpPr>
        <p:spPr>
          <a:xfrm>
            <a:off x="7406640" y="3246120"/>
            <a:ext cx="1737360" cy="320040"/>
          </a:xfrm>
          <a:prstGeom prst="rect">
            <a:avLst/>
          </a:prstGeom>
          <a:noFill/>
        </p:spPr>
        <p:txBody>
          <a:bodyPr wrap="square" lIns="45720" rIns="45720" tIns="18288" bIns="18288" anchor="ctr">
            <a:spAutoFit/>
          </a:bodyPr>
          <a:lstStyle/>
          <a:p>
            <a:pPr algn="l"/>
            <a:r>
              <a:rPr sz="900" b="0" i="0">
                <a:solidFill>
                  <a:srgbClr val="64748B"/>
                </a:solidFill>
                <a:latin typeface="Calibri"/>
              </a:rPr>
              <a:t>IPAM + auto-sync</a:t>
            </a:r>
          </a:p>
        </p:txBody>
      </p:sp>
      <p:sp>
        <p:nvSpPr>
          <p:cNvPr id="23" name="Rounded Rectangle 22"/>
          <p:cNvSpPr/>
          <p:nvPr/>
        </p:nvSpPr>
        <p:spPr>
          <a:xfrm>
            <a:off x="6400800" y="3675888"/>
            <a:ext cx="91440" cy="91440"/>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0" y="3566160"/>
            <a:ext cx="822960" cy="320040"/>
          </a:xfrm>
          <a:prstGeom prst="rect">
            <a:avLst/>
          </a:prstGeom>
          <a:noFill/>
        </p:spPr>
        <p:txBody>
          <a:bodyPr wrap="square" lIns="45720" rIns="45720" tIns="18288" bIns="18288" anchor="ctr">
            <a:spAutoFit/>
          </a:bodyPr>
          <a:lstStyle/>
          <a:p>
            <a:pPr algn="l"/>
            <a:r>
              <a:rPr sz="1000" b="1" i="0">
                <a:solidFill>
                  <a:srgbClr val="1E2761"/>
                </a:solidFill>
                <a:latin typeface="Consolas"/>
              </a:rPr>
              <a:t>elasticsearch</a:t>
            </a:r>
          </a:p>
        </p:txBody>
      </p:sp>
      <p:sp>
        <p:nvSpPr>
          <p:cNvPr id="25" name="TextBox 24"/>
          <p:cNvSpPr txBox="1"/>
          <p:nvPr/>
        </p:nvSpPr>
        <p:spPr>
          <a:xfrm>
            <a:off x="7406640" y="3566160"/>
            <a:ext cx="1737360" cy="320040"/>
          </a:xfrm>
          <a:prstGeom prst="rect">
            <a:avLst/>
          </a:prstGeom>
          <a:noFill/>
        </p:spPr>
        <p:txBody>
          <a:bodyPr wrap="square" lIns="45720" rIns="45720" tIns="18288" bIns="18288" anchor="ctr">
            <a:spAutoFit/>
          </a:bodyPr>
          <a:lstStyle/>
          <a:p>
            <a:pPr algn="l"/>
            <a:r>
              <a:rPr sz="900" b="0" i="0">
                <a:solidFill>
                  <a:srgbClr val="64748B"/>
                </a:solidFill>
                <a:latin typeface="Calibri"/>
              </a:rPr>
              <a:t>Cluster ES</a:t>
            </a:r>
          </a:p>
        </p:txBody>
      </p:sp>
      <p:sp>
        <p:nvSpPr>
          <p:cNvPr id="26" name="Rounded Rectangle 25"/>
          <p:cNvSpPr/>
          <p:nvPr/>
        </p:nvSpPr>
        <p:spPr>
          <a:xfrm>
            <a:off x="6400800" y="3995928"/>
            <a:ext cx="91440" cy="91440"/>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83680" y="3886200"/>
            <a:ext cx="822960" cy="320040"/>
          </a:xfrm>
          <a:prstGeom prst="rect">
            <a:avLst/>
          </a:prstGeom>
          <a:noFill/>
        </p:spPr>
        <p:txBody>
          <a:bodyPr wrap="square" lIns="45720" rIns="45720" tIns="18288" bIns="18288" anchor="ctr">
            <a:spAutoFit/>
          </a:bodyPr>
          <a:lstStyle/>
          <a:p>
            <a:pPr algn="l"/>
            <a:r>
              <a:rPr sz="1000" b="1" i="0">
                <a:solidFill>
                  <a:srgbClr val="1E2761"/>
                </a:solidFill>
                <a:latin typeface="Consolas"/>
              </a:rPr>
              <a:t>kibana</a:t>
            </a:r>
          </a:p>
        </p:txBody>
      </p:sp>
      <p:sp>
        <p:nvSpPr>
          <p:cNvPr id="28" name="TextBox 27"/>
          <p:cNvSpPr txBox="1"/>
          <p:nvPr/>
        </p:nvSpPr>
        <p:spPr>
          <a:xfrm>
            <a:off x="7406640" y="3886200"/>
            <a:ext cx="1737360" cy="320040"/>
          </a:xfrm>
          <a:prstGeom prst="rect">
            <a:avLst/>
          </a:prstGeom>
          <a:noFill/>
        </p:spPr>
        <p:txBody>
          <a:bodyPr wrap="square" lIns="45720" rIns="45720" tIns="18288" bIns="18288" anchor="ctr">
            <a:spAutoFit/>
          </a:bodyPr>
          <a:lstStyle/>
          <a:p>
            <a:pPr algn="l"/>
            <a:r>
              <a:rPr sz="900" b="0" i="0">
                <a:solidFill>
                  <a:srgbClr val="64748B"/>
                </a:solidFill>
                <a:latin typeface="Calibri"/>
              </a:rPr>
              <a:t>Dashboards + alerts</a:t>
            </a:r>
          </a:p>
        </p:txBody>
      </p:sp>
      <p:sp>
        <p:nvSpPr>
          <p:cNvPr id="29" name="Rounded Rectangle 28"/>
          <p:cNvSpPr/>
          <p:nvPr/>
        </p:nvSpPr>
        <p:spPr>
          <a:xfrm>
            <a:off x="9144000" y="2395728"/>
            <a:ext cx="91440" cy="91440"/>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326880" y="2286000"/>
            <a:ext cx="822960" cy="320040"/>
          </a:xfrm>
          <a:prstGeom prst="rect">
            <a:avLst/>
          </a:prstGeom>
          <a:noFill/>
        </p:spPr>
        <p:txBody>
          <a:bodyPr wrap="square" lIns="45720" rIns="45720" tIns="18288" bIns="18288" anchor="ctr">
            <a:spAutoFit/>
          </a:bodyPr>
          <a:lstStyle/>
          <a:p>
            <a:pPr algn="l"/>
            <a:r>
              <a:rPr sz="1000" b="1" i="0">
                <a:solidFill>
                  <a:srgbClr val="1E2761"/>
                </a:solidFill>
                <a:latin typeface="Consolas"/>
              </a:rPr>
              <a:t>logstash</a:t>
            </a:r>
          </a:p>
        </p:txBody>
      </p:sp>
      <p:sp>
        <p:nvSpPr>
          <p:cNvPr id="31" name="TextBox 30"/>
          <p:cNvSpPr txBox="1"/>
          <p:nvPr/>
        </p:nvSpPr>
        <p:spPr>
          <a:xfrm>
            <a:off x="10149840" y="2286000"/>
            <a:ext cx="1737360" cy="320040"/>
          </a:xfrm>
          <a:prstGeom prst="rect">
            <a:avLst/>
          </a:prstGeom>
          <a:noFill/>
        </p:spPr>
        <p:txBody>
          <a:bodyPr wrap="square" lIns="45720" rIns="45720" tIns="18288" bIns="18288" anchor="ctr">
            <a:spAutoFit/>
          </a:bodyPr>
          <a:lstStyle/>
          <a:p>
            <a:pPr algn="l"/>
            <a:r>
              <a:rPr sz="900" b="0" i="0">
                <a:solidFill>
                  <a:srgbClr val="64748B"/>
                </a:solidFill>
                <a:latin typeface="Calibri"/>
              </a:rPr>
              <a:t>Pipeline ingest</a:t>
            </a:r>
          </a:p>
        </p:txBody>
      </p:sp>
      <p:sp>
        <p:nvSpPr>
          <p:cNvPr id="32" name="Rounded Rectangle 31"/>
          <p:cNvSpPr/>
          <p:nvPr/>
        </p:nvSpPr>
        <p:spPr>
          <a:xfrm>
            <a:off x="9144000" y="2715768"/>
            <a:ext cx="91440" cy="91440"/>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326880" y="2606040"/>
            <a:ext cx="822960" cy="320040"/>
          </a:xfrm>
          <a:prstGeom prst="rect">
            <a:avLst/>
          </a:prstGeom>
          <a:noFill/>
        </p:spPr>
        <p:txBody>
          <a:bodyPr wrap="square" lIns="45720" rIns="45720" tIns="18288" bIns="18288" anchor="ctr">
            <a:spAutoFit/>
          </a:bodyPr>
          <a:lstStyle/>
          <a:p>
            <a:pPr algn="l"/>
            <a:r>
              <a:rPr sz="1000" b="1" i="0">
                <a:solidFill>
                  <a:srgbClr val="1E2761"/>
                </a:solidFill>
                <a:latin typeface="Consolas"/>
              </a:rPr>
              <a:t>bastion</a:t>
            </a:r>
          </a:p>
        </p:txBody>
      </p:sp>
      <p:sp>
        <p:nvSpPr>
          <p:cNvPr id="34" name="TextBox 33"/>
          <p:cNvSpPr txBox="1"/>
          <p:nvPr/>
        </p:nvSpPr>
        <p:spPr>
          <a:xfrm>
            <a:off x="10149840" y="2606040"/>
            <a:ext cx="1737360" cy="320040"/>
          </a:xfrm>
          <a:prstGeom prst="rect">
            <a:avLst/>
          </a:prstGeom>
          <a:noFill/>
        </p:spPr>
        <p:txBody>
          <a:bodyPr wrap="square" lIns="45720" rIns="45720" tIns="18288" bIns="18288" anchor="ctr">
            <a:spAutoFit/>
          </a:bodyPr>
          <a:lstStyle/>
          <a:p>
            <a:pPr algn="l"/>
            <a:r>
              <a:rPr sz="900" b="0" i="0">
                <a:solidFill>
                  <a:srgbClr val="64748B"/>
                </a:solidFill>
                <a:latin typeface="Calibri"/>
              </a:rPr>
              <a:t>SSH MFA + sshd hardening</a:t>
            </a:r>
          </a:p>
        </p:txBody>
      </p:sp>
      <p:sp>
        <p:nvSpPr>
          <p:cNvPr id="35" name="Rounded Rectangle 34"/>
          <p:cNvSpPr/>
          <p:nvPr/>
        </p:nvSpPr>
        <p:spPr>
          <a:xfrm>
            <a:off x="9144000" y="3035808"/>
            <a:ext cx="91440" cy="91440"/>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326880" y="2926080"/>
            <a:ext cx="822960" cy="320040"/>
          </a:xfrm>
          <a:prstGeom prst="rect">
            <a:avLst/>
          </a:prstGeom>
          <a:noFill/>
        </p:spPr>
        <p:txBody>
          <a:bodyPr wrap="square" lIns="45720" rIns="45720" tIns="18288" bIns="18288" anchor="ctr">
            <a:spAutoFit/>
          </a:bodyPr>
          <a:lstStyle/>
          <a:p>
            <a:pPr algn="l"/>
            <a:r>
              <a:rPr sz="1000" b="1" i="0">
                <a:solidFill>
                  <a:srgbClr val="1E2761"/>
                </a:solidFill>
                <a:latin typeface="Consolas"/>
              </a:rPr>
              <a:t>dns-forwarder</a:t>
            </a:r>
          </a:p>
        </p:txBody>
      </p:sp>
      <p:sp>
        <p:nvSpPr>
          <p:cNvPr id="37" name="TextBox 36"/>
          <p:cNvSpPr txBox="1"/>
          <p:nvPr/>
        </p:nvSpPr>
        <p:spPr>
          <a:xfrm>
            <a:off x="10149840" y="2926080"/>
            <a:ext cx="1737360" cy="320040"/>
          </a:xfrm>
          <a:prstGeom prst="rect">
            <a:avLst/>
          </a:prstGeom>
          <a:noFill/>
        </p:spPr>
        <p:txBody>
          <a:bodyPr wrap="square" lIns="45720" rIns="45720" tIns="18288" bIns="18288" anchor="ctr">
            <a:spAutoFit/>
          </a:bodyPr>
          <a:lstStyle/>
          <a:p>
            <a:pPr algn="l"/>
            <a:r>
              <a:rPr sz="900" b="0" i="0">
                <a:solidFill>
                  <a:srgbClr val="64748B"/>
                </a:solidFill>
                <a:latin typeface="Calibri"/>
              </a:rPr>
              <a:t>Unbound resolver</a:t>
            </a:r>
          </a:p>
        </p:txBody>
      </p:sp>
      <p:sp>
        <p:nvSpPr>
          <p:cNvPr id="38" name="Rounded Rectangle 37"/>
          <p:cNvSpPr/>
          <p:nvPr/>
        </p:nvSpPr>
        <p:spPr>
          <a:xfrm>
            <a:off x="9144000" y="3355848"/>
            <a:ext cx="91440" cy="91440"/>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326880" y="3246120"/>
            <a:ext cx="822960" cy="320040"/>
          </a:xfrm>
          <a:prstGeom prst="rect">
            <a:avLst/>
          </a:prstGeom>
          <a:noFill/>
        </p:spPr>
        <p:txBody>
          <a:bodyPr wrap="square" lIns="45720" rIns="45720" tIns="18288" bIns="18288" anchor="ctr">
            <a:spAutoFit/>
          </a:bodyPr>
          <a:lstStyle/>
          <a:p>
            <a:pPr algn="l"/>
            <a:r>
              <a:rPr sz="1000" b="1" i="0">
                <a:solidFill>
                  <a:srgbClr val="1E2761"/>
                </a:solidFill>
                <a:latin typeface="Consolas"/>
              </a:rPr>
              <a:t>webapp</a:t>
            </a:r>
          </a:p>
        </p:txBody>
      </p:sp>
      <p:sp>
        <p:nvSpPr>
          <p:cNvPr id="40" name="TextBox 39"/>
          <p:cNvSpPr txBox="1"/>
          <p:nvPr/>
        </p:nvSpPr>
        <p:spPr>
          <a:xfrm>
            <a:off x="10149840" y="3246120"/>
            <a:ext cx="1737360" cy="320040"/>
          </a:xfrm>
          <a:prstGeom prst="rect">
            <a:avLst/>
          </a:prstGeom>
          <a:noFill/>
        </p:spPr>
        <p:txBody>
          <a:bodyPr wrap="square" lIns="45720" rIns="45720" tIns="18288" bIns="18288" anchor="ctr">
            <a:spAutoFit/>
          </a:bodyPr>
          <a:lstStyle/>
          <a:p>
            <a:pPr algn="l"/>
            <a:r>
              <a:rPr sz="900" b="0" i="0">
                <a:solidFill>
                  <a:srgbClr val="64748B"/>
                </a:solidFill>
                <a:latin typeface="Calibri"/>
              </a:rPr>
              <a:t>Caddy + app interne</a:t>
            </a:r>
          </a:p>
        </p:txBody>
      </p:sp>
      <p:sp>
        <p:nvSpPr>
          <p:cNvPr id="41" name="Rounded Rectangle 40"/>
          <p:cNvSpPr/>
          <p:nvPr/>
        </p:nvSpPr>
        <p:spPr>
          <a:xfrm>
            <a:off x="9144000" y="3675888"/>
            <a:ext cx="91440" cy="91440"/>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326880" y="3566160"/>
            <a:ext cx="822960" cy="320040"/>
          </a:xfrm>
          <a:prstGeom prst="rect">
            <a:avLst/>
          </a:prstGeom>
          <a:noFill/>
        </p:spPr>
        <p:txBody>
          <a:bodyPr wrap="square" lIns="45720" rIns="45720" tIns="18288" bIns="18288" anchor="ctr">
            <a:spAutoFit/>
          </a:bodyPr>
          <a:lstStyle/>
          <a:p>
            <a:pPr algn="l"/>
            <a:r>
              <a:rPr sz="1000" b="1" i="0">
                <a:solidFill>
                  <a:srgbClr val="1E2761"/>
                </a:solidFill>
                <a:latin typeface="Consolas"/>
              </a:rPr>
              <a:t>filebeat</a:t>
            </a:r>
          </a:p>
        </p:txBody>
      </p:sp>
      <p:sp>
        <p:nvSpPr>
          <p:cNvPr id="43" name="TextBox 42"/>
          <p:cNvSpPr txBox="1"/>
          <p:nvPr/>
        </p:nvSpPr>
        <p:spPr>
          <a:xfrm>
            <a:off x="10149840" y="3566160"/>
            <a:ext cx="1737360" cy="320040"/>
          </a:xfrm>
          <a:prstGeom prst="rect">
            <a:avLst/>
          </a:prstGeom>
          <a:noFill/>
        </p:spPr>
        <p:txBody>
          <a:bodyPr wrap="square" lIns="45720" rIns="45720" tIns="18288" bIns="18288" anchor="ctr">
            <a:spAutoFit/>
          </a:bodyPr>
          <a:lstStyle/>
          <a:p>
            <a:pPr algn="l"/>
            <a:r>
              <a:rPr sz="900" b="0" i="0">
                <a:solidFill>
                  <a:srgbClr val="64748B"/>
                </a:solidFill>
                <a:latin typeface="Calibri"/>
              </a:rPr>
              <a:t>Log forwarder</a:t>
            </a:r>
          </a:p>
        </p:txBody>
      </p:sp>
      <p:sp>
        <p:nvSpPr>
          <p:cNvPr id="44" name="TextBox 43"/>
          <p:cNvSpPr txBox="1"/>
          <p:nvPr/>
        </p:nvSpPr>
        <p:spPr>
          <a:xfrm>
            <a:off x="457200" y="6446520"/>
            <a:ext cx="5486400" cy="320040"/>
          </a:xfrm>
          <a:prstGeom prst="rect">
            <a:avLst/>
          </a:prstGeom>
          <a:noFill/>
        </p:spPr>
        <p:txBody>
          <a:bodyPr wrap="square" lIns="45720" rIns="45720" tIns="18288" bIns="18288" anchor="t">
            <a:spAutoFit/>
          </a:bodyPr>
          <a:lstStyle/>
          <a:p>
            <a:pPr algn="l"/>
            <a:r>
              <a:rPr sz="900" b="0" i="0">
                <a:solidFill>
                  <a:srgbClr val="64748B"/>
                </a:solidFill>
                <a:latin typeface="Calibri"/>
              </a:rPr>
              <a:t>CIA · Hybrid Infrastructure · GR46</a:t>
            </a:r>
          </a:p>
        </p:txBody>
      </p:sp>
      <p:sp>
        <p:nvSpPr>
          <p:cNvPr id="45" name="TextBox 44"/>
          <p:cNvSpPr txBox="1"/>
          <p:nvPr/>
        </p:nvSpPr>
        <p:spPr>
          <a:xfrm>
            <a:off x="10515600" y="6446520"/>
            <a:ext cx="1188720" cy="320040"/>
          </a:xfrm>
          <a:prstGeom prst="rect">
            <a:avLst/>
          </a:prstGeom>
          <a:noFill/>
        </p:spPr>
        <p:txBody>
          <a:bodyPr wrap="square" lIns="45720" rIns="45720" tIns="18288" bIns="18288" anchor="t">
            <a:spAutoFit/>
          </a:bodyPr>
          <a:lstStyle/>
          <a:p>
            <a:pPr algn="r"/>
            <a:r>
              <a:rPr sz="900" b="0" i="0">
                <a:solidFill>
                  <a:srgbClr val="64748B"/>
                </a:solidFill>
                <a:latin typeface="Calibri"/>
              </a:rPr>
              <a:t>7 / 15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0972800" cy="640080"/>
          </a:xfrm>
          <a:prstGeom prst="rect">
            <a:avLst/>
          </a:prstGeom>
          <a:noFill/>
        </p:spPr>
        <p:txBody>
          <a:bodyPr wrap="square" lIns="45720" rIns="45720" tIns="18288" bIns="18288" anchor="t">
            <a:spAutoFit/>
          </a:bodyPr>
          <a:lstStyle/>
          <a:p>
            <a:pPr algn="l"/>
            <a:r>
              <a:rPr sz="3600" b="1" i="0">
                <a:solidFill>
                  <a:srgbClr val="1E2761"/>
                </a:solidFill>
                <a:latin typeface="Trebuchet MS"/>
              </a:rPr>
              <a:t>Sécurité · Defense in depth</a:t>
            </a:r>
          </a:p>
        </p:txBody>
      </p:sp>
      <p:sp>
        <p:nvSpPr>
          <p:cNvPr id="3" name="TextBox 2"/>
          <p:cNvSpPr txBox="1"/>
          <p:nvPr/>
        </p:nvSpPr>
        <p:spPr>
          <a:xfrm>
            <a:off x="457200" y="1051560"/>
            <a:ext cx="10972800" cy="457200"/>
          </a:xfrm>
          <a:prstGeom prst="rect">
            <a:avLst/>
          </a:prstGeom>
          <a:noFill/>
        </p:spPr>
        <p:txBody>
          <a:bodyPr wrap="square" lIns="45720" rIns="45720" tIns="18288" bIns="18288" anchor="t">
            <a:spAutoFit/>
          </a:bodyPr>
          <a:lstStyle/>
          <a:p>
            <a:pPr algn="l"/>
            <a:r>
              <a:rPr sz="1400" b="0" i="1">
                <a:solidFill>
                  <a:srgbClr val="64748B"/>
                </a:solidFill>
                <a:latin typeface="Calibri"/>
              </a:rPr>
              <a:t>4 couches superposées · aucun secret en clair · forward TCP nominal</a:t>
            </a:r>
          </a:p>
        </p:txBody>
      </p:sp>
      <p:sp>
        <p:nvSpPr>
          <p:cNvPr id="4" name="Rounded Rectangle 3"/>
          <p:cNvSpPr/>
          <p:nvPr/>
        </p:nvSpPr>
        <p:spPr>
          <a:xfrm>
            <a:off x="457200" y="1828800"/>
            <a:ext cx="11247120" cy="1005840"/>
          </a:xfrm>
          <a:prstGeom prst="round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828800"/>
            <a:ext cx="640080" cy="100584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828800"/>
            <a:ext cx="640080" cy="1005840"/>
          </a:xfrm>
          <a:prstGeom prst="rect">
            <a:avLst/>
          </a:prstGeom>
          <a:noFill/>
        </p:spPr>
        <p:txBody>
          <a:bodyPr wrap="square" lIns="45720" rIns="45720" tIns="18288" bIns="18288" anchor="ctr">
            <a:spAutoFit/>
          </a:bodyPr>
          <a:lstStyle/>
          <a:p>
            <a:pPr algn="ctr"/>
            <a:r>
              <a:rPr sz="2400" b="1" i="0">
                <a:solidFill>
                  <a:srgbClr val="FFFFFF"/>
                </a:solidFill>
                <a:latin typeface="Trebuchet MS"/>
              </a:rPr>
              <a:t>L1</a:t>
            </a:r>
          </a:p>
        </p:txBody>
      </p:sp>
      <p:sp>
        <p:nvSpPr>
          <p:cNvPr id="7" name="TextBox 6"/>
          <p:cNvSpPr txBox="1"/>
          <p:nvPr/>
        </p:nvSpPr>
        <p:spPr>
          <a:xfrm>
            <a:off x="1280160" y="1965960"/>
            <a:ext cx="9875520" cy="411480"/>
          </a:xfrm>
          <a:prstGeom prst="rect">
            <a:avLst/>
          </a:prstGeom>
          <a:noFill/>
        </p:spPr>
        <p:txBody>
          <a:bodyPr wrap="square" lIns="45720" rIns="45720" tIns="18288" bIns="18288" anchor="t">
            <a:spAutoFit/>
          </a:bodyPr>
          <a:lstStyle/>
          <a:p>
            <a:pPr algn="l"/>
            <a:r>
              <a:rPr sz="1800" b="1" i="0">
                <a:solidFill>
                  <a:srgbClr val="1E2761"/>
                </a:solidFill>
                <a:latin typeface="Trebuchet MS"/>
              </a:rPr>
              <a:t>Bastion SSH + MFA TOTP</a:t>
            </a:r>
          </a:p>
        </p:txBody>
      </p:sp>
      <p:sp>
        <p:nvSpPr>
          <p:cNvPr id="8" name="TextBox 7"/>
          <p:cNvSpPr txBox="1"/>
          <p:nvPr/>
        </p:nvSpPr>
        <p:spPr>
          <a:xfrm>
            <a:off x="1280160" y="2331720"/>
            <a:ext cx="9875520" cy="457200"/>
          </a:xfrm>
          <a:prstGeom prst="rect">
            <a:avLst/>
          </a:prstGeom>
          <a:noFill/>
        </p:spPr>
        <p:txBody>
          <a:bodyPr wrap="square" lIns="45720" rIns="45720" tIns="18288" bIns="18288" anchor="t">
            <a:spAutoFit/>
          </a:bodyPr>
          <a:lstStyle/>
          <a:p>
            <a:pPr algn="l"/>
            <a:r>
              <a:rPr sz="1200" b="0" i="0">
                <a:solidFill>
                  <a:srgbClr val="1E2761"/>
                </a:solidFill>
                <a:latin typeface="Calibri"/>
              </a:rPr>
              <a:t>Point d'entrée unique · TOTP par utilisateur · jails fail2ban</a:t>
            </a:r>
          </a:p>
        </p:txBody>
      </p:sp>
      <p:sp>
        <p:nvSpPr>
          <p:cNvPr id="9" name="Rounded Rectangle 8"/>
          <p:cNvSpPr/>
          <p:nvPr/>
        </p:nvSpPr>
        <p:spPr>
          <a:xfrm>
            <a:off x="457200" y="2880360"/>
            <a:ext cx="11247120" cy="1005840"/>
          </a:xfrm>
          <a:prstGeom prst="round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2880360"/>
            <a:ext cx="640080" cy="100584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880360"/>
            <a:ext cx="640080" cy="1005840"/>
          </a:xfrm>
          <a:prstGeom prst="rect">
            <a:avLst/>
          </a:prstGeom>
          <a:noFill/>
        </p:spPr>
        <p:txBody>
          <a:bodyPr wrap="square" lIns="45720" rIns="45720" tIns="18288" bIns="18288" anchor="ctr">
            <a:spAutoFit/>
          </a:bodyPr>
          <a:lstStyle/>
          <a:p>
            <a:pPr algn="ctr"/>
            <a:r>
              <a:rPr sz="2400" b="1" i="0">
                <a:solidFill>
                  <a:srgbClr val="FFFFFF"/>
                </a:solidFill>
                <a:latin typeface="Trebuchet MS"/>
              </a:rPr>
              <a:t>L2</a:t>
            </a:r>
          </a:p>
        </p:txBody>
      </p:sp>
      <p:sp>
        <p:nvSpPr>
          <p:cNvPr id="12" name="TextBox 11"/>
          <p:cNvSpPr txBox="1"/>
          <p:nvPr/>
        </p:nvSpPr>
        <p:spPr>
          <a:xfrm>
            <a:off x="1280160" y="3017520"/>
            <a:ext cx="9875520" cy="411480"/>
          </a:xfrm>
          <a:prstGeom prst="rect">
            <a:avLst/>
          </a:prstGeom>
          <a:noFill/>
        </p:spPr>
        <p:txBody>
          <a:bodyPr wrap="square" lIns="45720" rIns="45720" tIns="18288" bIns="18288" anchor="t">
            <a:spAutoFit/>
          </a:bodyPr>
          <a:lstStyle/>
          <a:p>
            <a:pPr algn="l"/>
            <a:r>
              <a:rPr sz="1800" b="1" i="0">
                <a:solidFill>
                  <a:srgbClr val="1E2761"/>
                </a:solidFill>
                <a:latin typeface="Trebuchet MS"/>
              </a:rPr>
              <a:t>sshd durci + Match user</a:t>
            </a:r>
          </a:p>
        </p:txBody>
      </p:sp>
      <p:sp>
        <p:nvSpPr>
          <p:cNvPr id="13" name="TextBox 12"/>
          <p:cNvSpPr txBox="1"/>
          <p:nvPr/>
        </p:nvSpPr>
        <p:spPr>
          <a:xfrm>
            <a:off x="1280160" y="3383280"/>
            <a:ext cx="9875520" cy="457200"/>
          </a:xfrm>
          <a:prstGeom prst="rect">
            <a:avLst/>
          </a:prstGeom>
          <a:noFill/>
        </p:spPr>
        <p:txBody>
          <a:bodyPr wrap="square" lIns="45720" rIns="45720" tIns="18288" bIns="18288" anchor="t">
            <a:spAutoFit/>
          </a:bodyPr>
          <a:lstStyle/>
          <a:p>
            <a:pPr algn="l"/>
            <a:r>
              <a:rPr sz="1200" b="0" i="0">
                <a:solidFill>
                  <a:srgbClr val="1E2761"/>
                </a:solidFill>
                <a:latin typeface="Calibri"/>
              </a:rPr>
              <a:t>AllowTcpForwarding no globalement · exception nominative pour l'opérateur infra</a:t>
            </a:r>
          </a:p>
        </p:txBody>
      </p:sp>
      <p:sp>
        <p:nvSpPr>
          <p:cNvPr id="14" name="Rounded Rectangle 13"/>
          <p:cNvSpPr/>
          <p:nvPr/>
        </p:nvSpPr>
        <p:spPr>
          <a:xfrm>
            <a:off x="457200" y="3931920"/>
            <a:ext cx="11247120" cy="1005840"/>
          </a:xfrm>
          <a:prstGeom prst="round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3931920"/>
            <a:ext cx="640080" cy="100584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931920"/>
            <a:ext cx="640080" cy="1005840"/>
          </a:xfrm>
          <a:prstGeom prst="rect">
            <a:avLst/>
          </a:prstGeom>
          <a:noFill/>
        </p:spPr>
        <p:txBody>
          <a:bodyPr wrap="square" lIns="45720" rIns="45720" tIns="18288" bIns="18288" anchor="ctr">
            <a:spAutoFit/>
          </a:bodyPr>
          <a:lstStyle/>
          <a:p>
            <a:pPr algn="ctr"/>
            <a:r>
              <a:rPr sz="2400" b="1" i="0">
                <a:solidFill>
                  <a:srgbClr val="FFFFFF"/>
                </a:solidFill>
                <a:latin typeface="Trebuchet MS"/>
              </a:rPr>
              <a:t>L3</a:t>
            </a:r>
          </a:p>
        </p:txBody>
      </p:sp>
      <p:sp>
        <p:nvSpPr>
          <p:cNvPr id="17" name="TextBox 16"/>
          <p:cNvSpPr txBox="1"/>
          <p:nvPr/>
        </p:nvSpPr>
        <p:spPr>
          <a:xfrm>
            <a:off x="1280160" y="4069080"/>
            <a:ext cx="9875520" cy="411480"/>
          </a:xfrm>
          <a:prstGeom prst="rect">
            <a:avLst/>
          </a:prstGeom>
          <a:noFill/>
        </p:spPr>
        <p:txBody>
          <a:bodyPr wrap="square" lIns="45720" rIns="45720" tIns="18288" bIns="18288" anchor="t">
            <a:spAutoFit/>
          </a:bodyPr>
          <a:lstStyle/>
          <a:p>
            <a:pPr algn="l"/>
            <a:r>
              <a:rPr sz="1800" b="1" i="0">
                <a:solidFill>
                  <a:srgbClr val="1E2761"/>
                </a:solidFill>
                <a:latin typeface="Trebuchet MS"/>
              </a:rPr>
              <a:t>Secrets chiffrés (SOPS + age)</a:t>
            </a:r>
          </a:p>
        </p:txBody>
      </p:sp>
      <p:sp>
        <p:nvSpPr>
          <p:cNvPr id="18" name="TextBox 17"/>
          <p:cNvSpPr txBox="1"/>
          <p:nvPr/>
        </p:nvSpPr>
        <p:spPr>
          <a:xfrm>
            <a:off x="1280160" y="4434840"/>
            <a:ext cx="9875520" cy="457200"/>
          </a:xfrm>
          <a:prstGeom prst="rect">
            <a:avLst/>
          </a:prstGeom>
          <a:noFill/>
        </p:spPr>
        <p:txBody>
          <a:bodyPr wrap="square" lIns="45720" rIns="45720" tIns="18288" bIns="18288" anchor="t">
            <a:spAutoFit/>
          </a:bodyPr>
          <a:lstStyle/>
          <a:p>
            <a:pPr algn="l"/>
            <a:r>
              <a:rPr sz="1200" b="0" i="0">
                <a:solidFill>
                  <a:srgbClr val="1E2761"/>
                </a:solidFill>
                <a:latin typeface="Calibri"/>
              </a:rPr>
              <a:t>Aucun mot de passe en clair Git · chiffrement par destinataire · déchiffrement runtime</a:t>
            </a:r>
          </a:p>
        </p:txBody>
      </p:sp>
      <p:sp>
        <p:nvSpPr>
          <p:cNvPr id="19" name="Rounded Rectangle 18"/>
          <p:cNvSpPr/>
          <p:nvPr/>
        </p:nvSpPr>
        <p:spPr>
          <a:xfrm>
            <a:off x="457200" y="4983480"/>
            <a:ext cx="11247120" cy="1005840"/>
          </a:xfrm>
          <a:prstGeom prst="round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4983480"/>
            <a:ext cx="640080" cy="1005840"/>
          </a:xfrm>
          <a:prstGeom prst="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4983480"/>
            <a:ext cx="640080" cy="1005840"/>
          </a:xfrm>
          <a:prstGeom prst="rect">
            <a:avLst/>
          </a:prstGeom>
          <a:noFill/>
        </p:spPr>
        <p:txBody>
          <a:bodyPr wrap="square" lIns="45720" rIns="45720" tIns="18288" bIns="18288" anchor="ctr">
            <a:spAutoFit/>
          </a:bodyPr>
          <a:lstStyle/>
          <a:p>
            <a:pPr algn="ctr"/>
            <a:r>
              <a:rPr sz="2400" b="1" i="0">
                <a:solidFill>
                  <a:srgbClr val="FFFFFF"/>
                </a:solidFill>
                <a:latin typeface="Trebuchet MS"/>
              </a:rPr>
              <a:t>L4</a:t>
            </a:r>
          </a:p>
        </p:txBody>
      </p:sp>
      <p:sp>
        <p:nvSpPr>
          <p:cNvPr id="22" name="TextBox 21"/>
          <p:cNvSpPr txBox="1"/>
          <p:nvPr/>
        </p:nvSpPr>
        <p:spPr>
          <a:xfrm>
            <a:off x="1280160" y="5120640"/>
            <a:ext cx="9875520" cy="411480"/>
          </a:xfrm>
          <a:prstGeom prst="rect">
            <a:avLst/>
          </a:prstGeom>
          <a:noFill/>
        </p:spPr>
        <p:txBody>
          <a:bodyPr wrap="square" lIns="45720" rIns="45720" tIns="18288" bIns="18288" anchor="t">
            <a:spAutoFit/>
          </a:bodyPr>
          <a:lstStyle/>
          <a:p>
            <a:pPr algn="l"/>
            <a:r>
              <a:rPr sz="1800" b="1" i="0">
                <a:solidFill>
                  <a:srgbClr val="1E2761"/>
                </a:solidFill>
                <a:latin typeface="Trebuchet MS"/>
              </a:rPr>
              <a:t>Killswitch egress + audit</a:t>
            </a:r>
          </a:p>
        </p:txBody>
      </p:sp>
      <p:sp>
        <p:nvSpPr>
          <p:cNvPr id="23" name="TextBox 22"/>
          <p:cNvSpPr txBox="1"/>
          <p:nvPr/>
        </p:nvSpPr>
        <p:spPr>
          <a:xfrm>
            <a:off x="1280160" y="5486400"/>
            <a:ext cx="9875520" cy="457200"/>
          </a:xfrm>
          <a:prstGeom prst="rect">
            <a:avLst/>
          </a:prstGeom>
          <a:noFill/>
        </p:spPr>
        <p:txBody>
          <a:bodyPr wrap="square" lIns="45720" rIns="45720" tIns="18288" bIns="18288" anchor="t">
            <a:spAutoFit/>
          </a:bodyPr>
          <a:lstStyle/>
          <a:p>
            <a:pPr algn="l"/>
            <a:r>
              <a:rPr sz="1200" b="0" i="0">
                <a:solidFill>
                  <a:srgbClr val="1E2761"/>
                </a:solidFill>
                <a:latin typeface="Calibri"/>
              </a:rPr>
              <a:t>Floating rule pfSense isolation egress · audit log tamper alerting · DRP testé</a:t>
            </a:r>
          </a:p>
        </p:txBody>
      </p:sp>
      <p:sp>
        <p:nvSpPr>
          <p:cNvPr id="24" name="TextBox 23"/>
          <p:cNvSpPr txBox="1"/>
          <p:nvPr/>
        </p:nvSpPr>
        <p:spPr>
          <a:xfrm>
            <a:off x="457200" y="6446520"/>
            <a:ext cx="5486400" cy="320040"/>
          </a:xfrm>
          <a:prstGeom prst="rect">
            <a:avLst/>
          </a:prstGeom>
          <a:noFill/>
        </p:spPr>
        <p:txBody>
          <a:bodyPr wrap="square" lIns="45720" rIns="45720" tIns="18288" bIns="18288" anchor="t">
            <a:spAutoFit/>
          </a:bodyPr>
          <a:lstStyle/>
          <a:p>
            <a:pPr algn="l"/>
            <a:r>
              <a:rPr sz="900" b="0" i="0">
                <a:solidFill>
                  <a:srgbClr val="64748B"/>
                </a:solidFill>
                <a:latin typeface="Calibri"/>
              </a:rPr>
              <a:t>CIA · Hybrid Infrastructure · GR46</a:t>
            </a:r>
          </a:p>
        </p:txBody>
      </p:sp>
      <p:sp>
        <p:nvSpPr>
          <p:cNvPr id="25" name="TextBox 24"/>
          <p:cNvSpPr txBox="1"/>
          <p:nvPr/>
        </p:nvSpPr>
        <p:spPr>
          <a:xfrm>
            <a:off x="10515600" y="6446520"/>
            <a:ext cx="1188720" cy="320040"/>
          </a:xfrm>
          <a:prstGeom prst="rect">
            <a:avLst/>
          </a:prstGeom>
          <a:noFill/>
        </p:spPr>
        <p:txBody>
          <a:bodyPr wrap="square" lIns="45720" rIns="45720" tIns="18288" bIns="18288" anchor="t">
            <a:spAutoFit/>
          </a:bodyPr>
          <a:lstStyle/>
          <a:p>
            <a:pPr algn="r"/>
            <a:r>
              <a:rPr sz="900" b="0" i="0">
                <a:solidFill>
                  <a:srgbClr val="64748B"/>
                </a:solidFill>
                <a:latin typeface="Calibri"/>
              </a:rPr>
              <a:t>8 / 15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0972800" cy="640080"/>
          </a:xfrm>
          <a:prstGeom prst="rect">
            <a:avLst/>
          </a:prstGeom>
          <a:noFill/>
        </p:spPr>
        <p:txBody>
          <a:bodyPr wrap="square" lIns="45720" rIns="45720" tIns="18288" bIns="18288" anchor="t">
            <a:spAutoFit/>
          </a:bodyPr>
          <a:lstStyle/>
          <a:p>
            <a:pPr algn="l"/>
            <a:r>
              <a:rPr sz="3600" b="1" i="0">
                <a:solidFill>
                  <a:srgbClr val="1E2761"/>
                </a:solidFill>
                <a:latin typeface="Trebuchet MS"/>
              </a:rPr>
              <a:t>Killswitch · isolation egress en 1 play</a:t>
            </a:r>
          </a:p>
        </p:txBody>
      </p:sp>
      <p:sp>
        <p:nvSpPr>
          <p:cNvPr id="3" name="TextBox 2"/>
          <p:cNvSpPr txBox="1"/>
          <p:nvPr/>
        </p:nvSpPr>
        <p:spPr>
          <a:xfrm>
            <a:off x="457200" y="1051560"/>
            <a:ext cx="10972800" cy="457200"/>
          </a:xfrm>
          <a:prstGeom prst="rect">
            <a:avLst/>
          </a:prstGeom>
          <a:noFill/>
        </p:spPr>
        <p:txBody>
          <a:bodyPr wrap="square" lIns="45720" rIns="45720" tIns="18288" bIns="18288" anchor="t">
            <a:spAutoFit/>
          </a:bodyPr>
          <a:lstStyle/>
          <a:p>
            <a:pPr algn="l"/>
            <a:r>
              <a:rPr sz="1400" b="0" i="1">
                <a:solidFill>
                  <a:srgbClr val="64748B"/>
                </a:solidFill>
                <a:latin typeface="Calibri"/>
              </a:rPr>
              <a:t>Floating rule pfSense · activable / désactivable via Ansible · audit trail Git</a:t>
            </a:r>
          </a:p>
        </p:txBody>
      </p:sp>
      <p:pic>
        <p:nvPicPr>
          <p:cNvPr id="4" name="Picture 3" descr="fw3-pfsense-siteB-floating-killswitch.png"/>
          <p:cNvPicPr>
            <a:picLocks noChangeAspect="1"/>
          </p:cNvPicPr>
          <p:nvPr/>
        </p:nvPicPr>
        <p:blipFill>
          <a:blip r:embed="rId2"/>
          <a:stretch>
            <a:fillRect/>
          </a:stretch>
        </p:blipFill>
        <p:spPr>
          <a:xfrm>
            <a:off x="457200" y="1828800"/>
            <a:ext cx="6858000" cy="2385548"/>
          </a:xfrm>
          <a:prstGeom prst="rect">
            <a:avLst/>
          </a:prstGeom>
        </p:spPr>
      </p:pic>
      <p:sp>
        <p:nvSpPr>
          <p:cNvPr id="5" name="TextBox 4"/>
          <p:cNvSpPr txBox="1"/>
          <p:nvPr/>
        </p:nvSpPr>
        <p:spPr>
          <a:xfrm>
            <a:off x="7589520" y="1828800"/>
            <a:ext cx="4297680" cy="457200"/>
          </a:xfrm>
          <a:prstGeom prst="rect">
            <a:avLst/>
          </a:prstGeom>
          <a:noFill/>
        </p:spPr>
        <p:txBody>
          <a:bodyPr wrap="square" lIns="45720" rIns="45720" tIns="18288" bIns="18288" anchor="t">
            <a:spAutoFit/>
          </a:bodyPr>
          <a:lstStyle/>
          <a:p>
            <a:pPr algn="l"/>
            <a:r>
              <a:rPr sz="1800" b="1" i="0">
                <a:solidFill>
                  <a:srgbClr val="1E2761"/>
                </a:solidFill>
                <a:latin typeface="Trebuchet MS"/>
              </a:rPr>
              <a:t>Activation en 1 commande</a:t>
            </a:r>
          </a:p>
        </p:txBody>
      </p:sp>
      <p:sp>
        <p:nvSpPr>
          <p:cNvPr id="6" name="Rounded Rectangle 5"/>
          <p:cNvSpPr/>
          <p:nvPr/>
        </p:nvSpPr>
        <p:spPr>
          <a:xfrm>
            <a:off x="7589520" y="2377440"/>
            <a:ext cx="4297680" cy="914400"/>
          </a:xfrm>
          <a:prstGeom prst="roundRect">
            <a:avLst/>
          </a:prstGeom>
          <a:solidFill>
            <a:srgbClr val="101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26680" y="2423160"/>
            <a:ext cx="4114800" cy="868680"/>
          </a:xfrm>
          <a:prstGeom prst="rect">
            <a:avLst/>
          </a:prstGeom>
          <a:noFill/>
        </p:spPr>
        <p:txBody>
          <a:bodyPr wrap="square" lIns="45720" rIns="45720" tIns="18288" bIns="18288" anchor="t">
            <a:spAutoFit/>
          </a:bodyPr>
          <a:lstStyle/>
          <a:p>
            <a:pPr algn="l"/>
            <a:r>
              <a:rPr sz="1000" b="0" i="0">
                <a:solidFill>
                  <a:srgbClr val="38BDF8"/>
                </a:solidFill>
                <a:latin typeface="Consolas"/>
              </a:rPr>
              <a:t>$ ansible-playbook killswitch.yml \
    -e killswitch_state=active \
    -e site=siteB</a:t>
            </a:r>
          </a:p>
        </p:txBody>
      </p:sp>
      <p:sp>
        <p:nvSpPr>
          <p:cNvPr id="8" name="TextBox 7"/>
          <p:cNvSpPr txBox="1"/>
          <p:nvPr/>
        </p:nvSpPr>
        <p:spPr>
          <a:xfrm>
            <a:off x="7589520" y="3474720"/>
            <a:ext cx="4297680" cy="365760"/>
          </a:xfrm>
          <a:prstGeom prst="rect">
            <a:avLst/>
          </a:prstGeom>
          <a:noFill/>
        </p:spPr>
        <p:txBody>
          <a:bodyPr wrap="square" lIns="45720" rIns="45720" tIns="18288" bIns="18288" anchor="t">
            <a:spAutoFit/>
          </a:bodyPr>
          <a:lstStyle/>
          <a:p>
            <a:pPr algn="l"/>
            <a:r>
              <a:rPr sz="1400" b="1" i="0">
                <a:solidFill>
                  <a:srgbClr val="1E2761"/>
                </a:solidFill>
                <a:latin typeface="Calibri"/>
              </a:rPr>
              <a:t>Effet immédiat</a:t>
            </a:r>
          </a:p>
        </p:txBody>
      </p:sp>
      <p:sp>
        <p:nvSpPr>
          <p:cNvPr id="9" name="TextBox 8"/>
          <p:cNvSpPr txBox="1"/>
          <p:nvPr/>
        </p:nvSpPr>
        <p:spPr>
          <a:xfrm>
            <a:off x="7589520" y="3840480"/>
            <a:ext cx="1188720" cy="365760"/>
          </a:xfrm>
          <a:prstGeom prst="rect">
            <a:avLst/>
          </a:prstGeom>
          <a:noFill/>
        </p:spPr>
        <p:txBody>
          <a:bodyPr wrap="square" lIns="45720" rIns="45720" tIns="18288" bIns="18288" anchor="t">
            <a:spAutoFit/>
          </a:bodyPr>
          <a:lstStyle/>
          <a:p>
            <a:pPr algn="l"/>
            <a:r>
              <a:rPr sz="1200" b="1" i="0">
                <a:solidFill>
                  <a:srgbClr val="1E2761"/>
                </a:solidFill>
                <a:latin typeface="Calibri"/>
              </a:rPr>
              <a:t>Avant</a:t>
            </a:r>
          </a:p>
        </p:txBody>
      </p:sp>
      <p:sp>
        <p:nvSpPr>
          <p:cNvPr id="10" name="TextBox 9"/>
          <p:cNvSpPr txBox="1"/>
          <p:nvPr/>
        </p:nvSpPr>
        <p:spPr>
          <a:xfrm>
            <a:off x="8869680" y="3840480"/>
            <a:ext cx="3017520" cy="365760"/>
          </a:xfrm>
          <a:prstGeom prst="rect">
            <a:avLst/>
          </a:prstGeom>
          <a:noFill/>
        </p:spPr>
        <p:txBody>
          <a:bodyPr wrap="square" lIns="45720" rIns="45720" tIns="18288" bIns="18288" anchor="t">
            <a:spAutoFit/>
          </a:bodyPr>
          <a:lstStyle/>
          <a:p>
            <a:pPr algn="l"/>
            <a:r>
              <a:rPr sz="1100" b="0" i="0">
                <a:solidFill>
                  <a:srgbClr val="22C55E"/>
                </a:solidFill>
                <a:latin typeface="Consolas"/>
              </a:rPr>
              <a:t>curl → 200 OK</a:t>
            </a:r>
          </a:p>
        </p:txBody>
      </p:sp>
      <p:sp>
        <p:nvSpPr>
          <p:cNvPr id="11" name="TextBox 10"/>
          <p:cNvSpPr txBox="1"/>
          <p:nvPr/>
        </p:nvSpPr>
        <p:spPr>
          <a:xfrm>
            <a:off x="7589520" y="4297680"/>
            <a:ext cx="1188720" cy="365760"/>
          </a:xfrm>
          <a:prstGeom prst="rect">
            <a:avLst/>
          </a:prstGeom>
          <a:noFill/>
        </p:spPr>
        <p:txBody>
          <a:bodyPr wrap="square" lIns="45720" rIns="45720" tIns="18288" bIns="18288" anchor="t">
            <a:spAutoFit/>
          </a:bodyPr>
          <a:lstStyle/>
          <a:p>
            <a:pPr algn="l"/>
            <a:r>
              <a:rPr sz="1200" b="1" i="0">
                <a:solidFill>
                  <a:srgbClr val="1E2761"/>
                </a:solidFill>
                <a:latin typeface="Calibri"/>
              </a:rPr>
              <a:t>Après</a:t>
            </a:r>
          </a:p>
        </p:txBody>
      </p:sp>
      <p:sp>
        <p:nvSpPr>
          <p:cNvPr id="12" name="TextBox 11"/>
          <p:cNvSpPr txBox="1"/>
          <p:nvPr/>
        </p:nvSpPr>
        <p:spPr>
          <a:xfrm>
            <a:off x="8869680" y="4297680"/>
            <a:ext cx="3017520" cy="365760"/>
          </a:xfrm>
          <a:prstGeom prst="rect">
            <a:avLst/>
          </a:prstGeom>
          <a:noFill/>
        </p:spPr>
        <p:txBody>
          <a:bodyPr wrap="square" lIns="45720" rIns="45720" tIns="18288" bIns="18288" anchor="t">
            <a:spAutoFit/>
          </a:bodyPr>
          <a:lstStyle/>
          <a:p>
            <a:pPr algn="l"/>
            <a:r>
              <a:rPr sz="1100" b="0" i="0">
                <a:solidFill>
                  <a:srgbClr val="EF4444"/>
                </a:solidFill>
                <a:latin typeface="Consolas"/>
              </a:rPr>
              <a:t>curl → timeout</a:t>
            </a:r>
          </a:p>
        </p:txBody>
      </p:sp>
      <p:sp>
        <p:nvSpPr>
          <p:cNvPr id="13" name="TextBox 12"/>
          <p:cNvSpPr txBox="1"/>
          <p:nvPr/>
        </p:nvSpPr>
        <p:spPr>
          <a:xfrm>
            <a:off x="7589520" y="4754880"/>
            <a:ext cx="1188720" cy="365760"/>
          </a:xfrm>
          <a:prstGeom prst="rect">
            <a:avLst/>
          </a:prstGeom>
          <a:noFill/>
        </p:spPr>
        <p:txBody>
          <a:bodyPr wrap="square" lIns="45720" rIns="45720" tIns="18288" bIns="18288" anchor="t">
            <a:spAutoFit/>
          </a:bodyPr>
          <a:lstStyle/>
          <a:p>
            <a:pPr algn="l"/>
            <a:r>
              <a:rPr sz="1200" b="1" i="0">
                <a:solidFill>
                  <a:srgbClr val="1E2761"/>
                </a:solidFill>
                <a:latin typeface="Calibri"/>
              </a:rPr>
              <a:t>Revert</a:t>
            </a:r>
          </a:p>
        </p:txBody>
      </p:sp>
      <p:sp>
        <p:nvSpPr>
          <p:cNvPr id="14" name="TextBox 13"/>
          <p:cNvSpPr txBox="1"/>
          <p:nvPr/>
        </p:nvSpPr>
        <p:spPr>
          <a:xfrm>
            <a:off x="8869680" y="4754880"/>
            <a:ext cx="3017520" cy="365760"/>
          </a:xfrm>
          <a:prstGeom prst="rect">
            <a:avLst/>
          </a:prstGeom>
          <a:noFill/>
        </p:spPr>
        <p:txBody>
          <a:bodyPr wrap="square" lIns="45720" rIns="45720" tIns="18288" bIns="18288" anchor="t">
            <a:spAutoFit/>
          </a:bodyPr>
          <a:lstStyle/>
          <a:p>
            <a:pPr algn="l"/>
            <a:r>
              <a:rPr sz="1100" b="0" i="0">
                <a:solidFill>
                  <a:srgbClr val="38BDF8"/>
                </a:solidFill>
                <a:latin typeface="Consolas"/>
              </a:rPr>
              <a:t>killswitch_state=inactive</a:t>
            </a:r>
          </a:p>
        </p:txBody>
      </p:sp>
      <p:sp>
        <p:nvSpPr>
          <p:cNvPr id="15" name="TextBox 14"/>
          <p:cNvSpPr txBox="1"/>
          <p:nvPr/>
        </p:nvSpPr>
        <p:spPr>
          <a:xfrm>
            <a:off x="7589520" y="5303520"/>
            <a:ext cx="4297680" cy="640080"/>
          </a:xfrm>
          <a:prstGeom prst="rect">
            <a:avLst/>
          </a:prstGeom>
          <a:noFill/>
        </p:spPr>
        <p:txBody>
          <a:bodyPr wrap="square" lIns="45720" rIns="45720" tIns="18288" bIns="18288" anchor="t">
            <a:spAutoFit/>
          </a:bodyPr>
          <a:lstStyle/>
          <a:p>
            <a:pPr algn="l"/>
            <a:r>
              <a:rPr sz="1100" b="0" i="1">
                <a:solidFill>
                  <a:srgbClr val="64748B"/>
                </a:solidFill>
                <a:latin typeface="Calibri"/>
              </a:rPr>
              <a:t>Usage : isolation post-incident, exercice DRP, basculement traffic, conformité.</a:t>
            </a:r>
          </a:p>
        </p:txBody>
      </p:sp>
      <p:sp>
        <p:nvSpPr>
          <p:cNvPr id="16" name="TextBox 15"/>
          <p:cNvSpPr txBox="1"/>
          <p:nvPr/>
        </p:nvSpPr>
        <p:spPr>
          <a:xfrm>
            <a:off x="457200" y="6446520"/>
            <a:ext cx="5486400" cy="320040"/>
          </a:xfrm>
          <a:prstGeom prst="rect">
            <a:avLst/>
          </a:prstGeom>
          <a:noFill/>
        </p:spPr>
        <p:txBody>
          <a:bodyPr wrap="square" lIns="45720" rIns="45720" tIns="18288" bIns="18288" anchor="t">
            <a:spAutoFit/>
          </a:bodyPr>
          <a:lstStyle/>
          <a:p>
            <a:pPr algn="l"/>
            <a:r>
              <a:rPr sz="900" b="0" i="0">
                <a:solidFill>
                  <a:srgbClr val="64748B"/>
                </a:solidFill>
                <a:latin typeface="Calibri"/>
              </a:rPr>
              <a:t>CIA · Hybrid Infrastructure · GR46</a:t>
            </a:r>
          </a:p>
        </p:txBody>
      </p:sp>
      <p:sp>
        <p:nvSpPr>
          <p:cNvPr id="17" name="TextBox 16"/>
          <p:cNvSpPr txBox="1"/>
          <p:nvPr/>
        </p:nvSpPr>
        <p:spPr>
          <a:xfrm>
            <a:off x="10515600" y="6446520"/>
            <a:ext cx="1188720" cy="320040"/>
          </a:xfrm>
          <a:prstGeom prst="rect">
            <a:avLst/>
          </a:prstGeom>
          <a:noFill/>
        </p:spPr>
        <p:txBody>
          <a:bodyPr wrap="square" lIns="45720" rIns="45720" tIns="18288" bIns="18288" anchor="t">
            <a:spAutoFit/>
          </a:bodyPr>
          <a:lstStyle/>
          <a:p>
            <a:pPr algn="r"/>
            <a:r>
              <a:rPr sz="900" b="0" i="0">
                <a:solidFill>
                  <a:srgbClr val="64748B"/>
                </a:solidFill>
                <a:latin typeface="Calibri"/>
              </a:rPr>
              <a:t>9 / 15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0972800" cy="640080"/>
          </a:xfrm>
          <a:prstGeom prst="rect">
            <a:avLst/>
          </a:prstGeom>
          <a:noFill/>
        </p:spPr>
        <p:txBody>
          <a:bodyPr wrap="square" lIns="45720" rIns="45720" tIns="18288" bIns="18288" anchor="t">
            <a:spAutoFit/>
          </a:bodyPr>
          <a:lstStyle/>
          <a:p>
            <a:pPr algn="l"/>
            <a:r>
              <a:rPr sz="3600" b="1" i="0">
                <a:solidFill>
                  <a:srgbClr val="1E2761"/>
                </a:solidFill>
                <a:latin typeface="Trebuchet MS"/>
              </a:rPr>
              <a:t>Observabilité · pipeline runtime</a:t>
            </a:r>
          </a:p>
        </p:txBody>
      </p:sp>
      <p:sp>
        <p:nvSpPr>
          <p:cNvPr id="3" name="TextBox 2"/>
          <p:cNvSpPr txBox="1"/>
          <p:nvPr/>
        </p:nvSpPr>
        <p:spPr>
          <a:xfrm>
            <a:off x="457200" y="1051560"/>
            <a:ext cx="10972800" cy="457200"/>
          </a:xfrm>
          <a:prstGeom prst="rect">
            <a:avLst/>
          </a:prstGeom>
          <a:noFill/>
        </p:spPr>
        <p:txBody>
          <a:bodyPr wrap="square" lIns="45720" rIns="45720" tIns="18288" bIns="18288" anchor="t">
            <a:spAutoFit/>
          </a:bodyPr>
          <a:lstStyle/>
          <a:p>
            <a:pPr algn="l"/>
            <a:r>
              <a:rPr sz="1400" b="1" i="1">
                <a:solidFill>
                  <a:srgbClr val="38BDF8"/>
                </a:solidFill>
                <a:latin typeface="Calibri"/>
              </a:rPr>
              <a:t>Filebeat → tunnel SSH chiffré → Logstash → Elasticsearch → Kibana — LIVE</a:t>
            </a:r>
          </a:p>
        </p:txBody>
      </p:sp>
      <p:sp>
        <p:nvSpPr>
          <p:cNvPr id="4" name="Rounded Rectangle 3"/>
          <p:cNvSpPr/>
          <p:nvPr/>
        </p:nvSpPr>
        <p:spPr>
          <a:xfrm>
            <a:off x="365760" y="2011680"/>
            <a:ext cx="2103120" cy="1280160"/>
          </a:xfrm>
          <a:prstGeom prst="round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194560"/>
            <a:ext cx="2103120" cy="320040"/>
          </a:xfrm>
          <a:prstGeom prst="rect">
            <a:avLst/>
          </a:prstGeom>
          <a:noFill/>
        </p:spPr>
        <p:txBody>
          <a:bodyPr wrap="square" lIns="45720" rIns="45720" tIns="18288" bIns="18288" anchor="t">
            <a:spAutoFit/>
          </a:bodyPr>
          <a:lstStyle/>
          <a:p>
            <a:pPr algn="ctr"/>
            <a:r>
              <a:rPr sz="1100" b="0" i="1">
                <a:solidFill>
                  <a:srgbClr val="CADCFC"/>
                </a:solidFill>
                <a:latin typeface="Calibri"/>
              </a:rPr>
              <a:t>services-s2</a:t>
            </a:r>
          </a:p>
        </p:txBody>
      </p:sp>
      <p:sp>
        <p:nvSpPr>
          <p:cNvPr id="6" name="TextBox 5"/>
          <p:cNvSpPr txBox="1"/>
          <p:nvPr/>
        </p:nvSpPr>
        <p:spPr>
          <a:xfrm>
            <a:off x="365760" y="2514600"/>
            <a:ext cx="2103120" cy="365760"/>
          </a:xfrm>
          <a:prstGeom prst="rect">
            <a:avLst/>
          </a:prstGeom>
          <a:noFill/>
        </p:spPr>
        <p:txBody>
          <a:bodyPr wrap="square" lIns="45720" rIns="45720" tIns="18288" bIns="18288" anchor="t">
            <a:spAutoFit/>
          </a:bodyPr>
          <a:lstStyle/>
          <a:p>
            <a:pPr algn="ctr"/>
            <a:r>
              <a:rPr sz="1400" b="1" i="0">
                <a:solidFill>
                  <a:srgbClr val="FFFFFF"/>
                </a:solidFill>
                <a:latin typeface="Trebuchet MS"/>
              </a:rPr>
              <a:t>Filebeat</a:t>
            </a:r>
          </a:p>
        </p:txBody>
      </p:sp>
      <p:sp>
        <p:nvSpPr>
          <p:cNvPr id="7" name="TextBox 6"/>
          <p:cNvSpPr txBox="1"/>
          <p:nvPr/>
        </p:nvSpPr>
        <p:spPr>
          <a:xfrm>
            <a:off x="365760" y="2880360"/>
            <a:ext cx="2103120" cy="365760"/>
          </a:xfrm>
          <a:prstGeom prst="rect">
            <a:avLst/>
          </a:prstGeom>
          <a:noFill/>
        </p:spPr>
        <p:txBody>
          <a:bodyPr wrap="square" lIns="45720" rIns="45720" tIns="18288" bIns="18288" anchor="t">
            <a:spAutoFit/>
          </a:bodyPr>
          <a:lstStyle/>
          <a:p>
            <a:pPr algn="ctr"/>
            <a:r>
              <a:rPr sz="900" b="0" i="0">
                <a:solidFill>
                  <a:srgbClr val="CADCFC"/>
                </a:solidFill>
                <a:latin typeface="Calibri"/>
              </a:rPr>
              <a:t>auth.log, syslog, audit</a:t>
            </a:r>
          </a:p>
        </p:txBody>
      </p:sp>
      <p:sp>
        <p:nvSpPr>
          <p:cNvPr id="8" name="Rectangle 7"/>
          <p:cNvSpPr/>
          <p:nvPr/>
        </p:nvSpPr>
        <p:spPr>
          <a:xfrm>
            <a:off x="2478024" y="2615184"/>
            <a:ext cx="164592"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651760" y="2011680"/>
            <a:ext cx="2103120" cy="1280160"/>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51760" y="2194560"/>
            <a:ext cx="2103120" cy="320040"/>
          </a:xfrm>
          <a:prstGeom prst="rect">
            <a:avLst/>
          </a:prstGeom>
          <a:noFill/>
        </p:spPr>
        <p:txBody>
          <a:bodyPr wrap="square" lIns="45720" rIns="45720" tIns="18288" bIns="18288" anchor="t">
            <a:spAutoFit/>
          </a:bodyPr>
          <a:lstStyle/>
          <a:p>
            <a:pPr algn="ctr"/>
            <a:r>
              <a:rPr sz="1100" b="0" i="1">
                <a:solidFill>
                  <a:srgbClr val="CADCFC"/>
                </a:solidFill>
                <a:latin typeface="Calibri"/>
              </a:rPr>
              <a:t>Tunnel SSH</a:t>
            </a:r>
          </a:p>
        </p:txBody>
      </p:sp>
      <p:sp>
        <p:nvSpPr>
          <p:cNvPr id="11" name="TextBox 10"/>
          <p:cNvSpPr txBox="1"/>
          <p:nvPr/>
        </p:nvSpPr>
        <p:spPr>
          <a:xfrm>
            <a:off x="2651760" y="2514600"/>
            <a:ext cx="2103120" cy="365760"/>
          </a:xfrm>
          <a:prstGeom prst="rect">
            <a:avLst/>
          </a:prstGeom>
          <a:noFill/>
        </p:spPr>
        <p:txBody>
          <a:bodyPr wrap="square" lIns="45720" rIns="45720" tIns="18288" bIns="18288" anchor="t">
            <a:spAutoFit/>
          </a:bodyPr>
          <a:lstStyle/>
          <a:p>
            <a:pPr algn="ctr"/>
            <a:r>
              <a:rPr sz="1400" b="1" i="0">
                <a:solidFill>
                  <a:srgbClr val="FFFFFF"/>
                </a:solidFill>
                <a:latin typeface="Trebuchet MS"/>
              </a:rPr>
              <a:t>port 5044</a:t>
            </a:r>
          </a:p>
        </p:txBody>
      </p:sp>
      <p:sp>
        <p:nvSpPr>
          <p:cNvPr id="12" name="TextBox 11"/>
          <p:cNvSpPr txBox="1"/>
          <p:nvPr/>
        </p:nvSpPr>
        <p:spPr>
          <a:xfrm>
            <a:off x="2651760" y="2880360"/>
            <a:ext cx="2103120" cy="365760"/>
          </a:xfrm>
          <a:prstGeom prst="rect">
            <a:avLst/>
          </a:prstGeom>
          <a:noFill/>
        </p:spPr>
        <p:txBody>
          <a:bodyPr wrap="square" lIns="45720" rIns="45720" tIns="18288" bIns="18288" anchor="t">
            <a:spAutoFit/>
          </a:bodyPr>
          <a:lstStyle/>
          <a:p>
            <a:pPr algn="ctr"/>
            <a:r>
              <a:rPr sz="900" b="0" i="0">
                <a:solidFill>
                  <a:srgbClr val="CADCFC"/>
                </a:solidFill>
                <a:latin typeface="Calibri"/>
              </a:rPr>
              <a:t>chiffré, ProxyJump</a:t>
            </a:r>
          </a:p>
        </p:txBody>
      </p:sp>
      <p:sp>
        <p:nvSpPr>
          <p:cNvPr id="13" name="Rectangle 12"/>
          <p:cNvSpPr/>
          <p:nvPr/>
        </p:nvSpPr>
        <p:spPr>
          <a:xfrm>
            <a:off x="4764024" y="2615184"/>
            <a:ext cx="164592"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937760" y="2011680"/>
            <a:ext cx="2103120" cy="1280160"/>
          </a:xfrm>
          <a:prstGeom prst="round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37760" y="2194560"/>
            <a:ext cx="2103120" cy="320040"/>
          </a:xfrm>
          <a:prstGeom prst="rect">
            <a:avLst/>
          </a:prstGeom>
          <a:noFill/>
        </p:spPr>
        <p:txBody>
          <a:bodyPr wrap="square" lIns="45720" rIns="45720" tIns="18288" bIns="18288" anchor="t">
            <a:spAutoFit/>
          </a:bodyPr>
          <a:lstStyle/>
          <a:p>
            <a:pPr algn="ctr"/>
            <a:r>
              <a:rPr sz="1100" b="0" i="1">
                <a:solidFill>
                  <a:srgbClr val="CADCFC"/>
                </a:solidFill>
                <a:latin typeface="Calibri"/>
              </a:rPr>
              <a:t>WSL Docker</a:t>
            </a:r>
          </a:p>
        </p:txBody>
      </p:sp>
      <p:sp>
        <p:nvSpPr>
          <p:cNvPr id="16" name="TextBox 15"/>
          <p:cNvSpPr txBox="1"/>
          <p:nvPr/>
        </p:nvSpPr>
        <p:spPr>
          <a:xfrm>
            <a:off x="4937760" y="2514600"/>
            <a:ext cx="2103120" cy="365760"/>
          </a:xfrm>
          <a:prstGeom prst="rect">
            <a:avLst/>
          </a:prstGeom>
          <a:noFill/>
        </p:spPr>
        <p:txBody>
          <a:bodyPr wrap="square" lIns="45720" rIns="45720" tIns="18288" bIns="18288" anchor="t">
            <a:spAutoFit/>
          </a:bodyPr>
          <a:lstStyle/>
          <a:p>
            <a:pPr algn="ctr"/>
            <a:r>
              <a:rPr sz="1400" b="1" i="0">
                <a:solidFill>
                  <a:srgbClr val="FFFFFF"/>
                </a:solidFill>
                <a:latin typeface="Trebuchet MS"/>
              </a:rPr>
              <a:t>Logstash 8.11</a:t>
            </a:r>
          </a:p>
        </p:txBody>
      </p:sp>
      <p:sp>
        <p:nvSpPr>
          <p:cNvPr id="17" name="TextBox 16"/>
          <p:cNvSpPr txBox="1"/>
          <p:nvPr/>
        </p:nvSpPr>
        <p:spPr>
          <a:xfrm>
            <a:off x="4937760" y="2880360"/>
            <a:ext cx="2103120" cy="365760"/>
          </a:xfrm>
          <a:prstGeom prst="rect">
            <a:avLst/>
          </a:prstGeom>
          <a:noFill/>
        </p:spPr>
        <p:txBody>
          <a:bodyPr wrap="square" lIns="45720" rIns="45720" tIns="18288" bIns="18288" anchor="t">
            <a:spAutoFit/>
          </a:bodyPr>
          <a:lstStyle/>
          <a:p>
            <a:pPr algn="ctr"/>
            <a:r>
              <a:rPr sz="900" b="0" i="0">
                <a:solidFill>
                  <a:srgbClr val="CADCFC"/>
                </a:solidFill>
                <a:latin typeface="Calibri"/>
              </a:rPr>
              <a:t>filter hostname + tag</a:t>
            </a:r>
          </a:p>
        </p:txBody>
      </p:sp>
      <p:sp>
        <p:nvSpPr>
          <p:cNvPr id="18" name="Rectangle 17"/>
          <p:cNvSpPr/>
          <p:nvPr/>
        </p:nvSpPr>
        <p:spPr>
          <a:xfrm>
            <a:off x="7050024" y="2615184"/>
            <a:ext cx="164592"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223760" y="2011680"/>
            <a:ext cx="2103120" cy="1280160"/>
          </a:xfrm>
          <a:prstGeom prst="round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60" y="2194560"/>
            <a:ext cx="2103120" cy="320040"/>
          </a:xfrm>
          <a:prstGeom prst="rect">
            <a:avLst/>
          </a:prstGeom>
          <a:noFill/>
        </p:spPr>
        <p:txBody>
          <a:bodyPr wrap="square" lIns="45720" rIns="45720" tIns="18288" bIns="18288" anchor="t">
            <a:spAutoFit/>
          </a:bodyPr>
          <a:lstStyle/>
          <a:p>
            <a:pPr algn="ctr"/>
            <a:r>
              <a:rPr sz="1100" b="0" i="1">
                <a:solidFill>
                  <a:srgbClr val="CADCFC"/>
                </a:solidFill>
                <a:latin typeface="Calibri"/>
              </a:rPr>
              <a:t>Elastic</a:t>
            </a:r>
          </a:p>
        </p:txBody>
      </p:sp>
      <p:sp>
        <p:nvSpPr>
          <p:cNvPr id="21" name="TextBox 20"/>
          <p:cNvSpPr txBox="1"/>
          <p:nvPr/>
        </p:nvSpPr>
        <p:spPr>
          <a:xfrm>
            <a:off x="7223760" y="2514600"/>
            <a:ext cx="2103120" cy="365760"/>
          </a:xfrm>
          <a:prstGeom prst="rect">
            <a:avLst/>
          </a:prstGeom>
          <a:noFill/>
        </p:spPr>
        <p:txBody>
          <a:bodyPr wrap="square" lIns="45720" rIns="45720" tIns="18288" bIns="18288" anchor="t">
            <a:spAutoFit/>
          </a:bodyPr>
          <a:lstStyle/>
          <a:p>
            <a:pPr algn="ctr"/>
            <a:r>
              <a:rPr sz="1400" b="1" i="0">
                <a:solidFill>
                  <a:srgbClr val="FFFFFF"/>
                </a:solidFill>
                <a:latin typeface="Trebuchet MS"/>
              </a:rPr>
              <a:t>Elasticsearch</a:t>
            </a:r>
          </a:p>
        </p:txBody>
      </p:sp>
      <p:sp>
        <p:nvSpPr>
          <p:cNvPr id="22" name="TextBox 21"/>
          <p:cNvSpPr txBox="1"/>
          <p:nvPr/>
        </p:nvSpPr>
        <p:spPr>
          <a:xfrm>
            <a:off x="7223760" y="2880360"/>
            <a:ext cx="2103120" cy="365760"/>
          </a:xfrm>
          <a:prstGeom prst="rect">
            <a:avLst/>
          </a:prstGeom>
          <a:noFill/>
        </p:spPr>
        <p:txBody>
          <a:bodyPr wrap="square" lIns="45720" rIns="45720" tIns="18288" bIns="18288" anchor="t">
            <a:spAutoFit/>
          </a:bodyPr>
          <a:lstStyle/>
          <a:p>
            <a:pPr algn="ctr"/>
            <a:r>
              <a:rPr sz="900" b="0" i="0">
                <a:solidFill>
                  <a:srgbClr val="CADCFC"/>
                </a:solidFill>
                <a:latin typeface="Calibri"/>
              </a:rPr>
              <a:t>index cia-{hostname}-{date}</a:t>
            </a:r>
          </a:p>
        </p:txBody>
      </p:sp>
      <p:sp>
        <p:nvSpPr>
          <p:cNvPr id="23" name="Rectangle 22"/>
          <p:cNvSpPr/>
          <p:nvPr/>
        </p:nvSpPr>
        <p:spPr>
          <a:xfrm>
            <a:off x="9336024" y="2615184"/>
            <a:ext cx="164592"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509760" y="2011680"/>
            <a:ext cx="2103120" cy="1280160"/>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509760" y="2194560"/>
            <a:ext cx="2103120" cy="320040"/>
          </a:xfrm>
          <a:prstGeom prst="rect">
            <a:avLst/>
          </a:prstGeom>
          <a:noFill/>
        </p:spPr>
        <p:txBody>
          <a:bodyPr wrap="square" lIns="45720" rIns="45720" tIns="18288" bIns="18288" anchor="t">
            <a:spAutoFit/>
          </a:bodyPr>
          <a:lstStyle/>
          <a:p>
            <a:pPr algn="ctr"/>
            <a:r>
              <a:rPr sz="1100" b="0" i="1">
                <a:solidFill>
                  <a:srgbClr val="CADCFC"/>
                </a:solidFill>
                <a:latin typeface="Calibri"/>
              </a:rPr>
              <a:t>Kibana 8.11</a:t>
            </a:r>
          </a:p>
        </p:txBody>
      </p:sp>
      <p:sp>
        <p:nvSpPr>
          <p:cNvPr id="26" name="TextBox 25"/>
          <p:cNvSpPr txBox="1"/>
          <p:nvPr/>
        </p:nvSpPr>
        <p:spPr>
          <a:xfrm>
            <a:off x="9509760" y="2514600"/>
            <a:ext cx="2103120" cy="365760"/>
          </a:xfrm>
          <a:prstGeom prst="rect">
            <a:avLst/>
          </a:prstGeom>
          <a:noFill/>
        </p:spPr>
        <p:txBody>
          <a:bodyPr wrap="square" lIns="45720" rIns="45720" tIns="18288" bIns="18288" anchor="t">
            <a:spAutoFit/>
          </a:bodyPr>
          <a:lstStyle/>
          <a:p>
            <a:pPr algn="ctr"/>
            <a:r>
              <a:rPr sz="1400" b="1" i="0">
                <a:solidFill>
                  <a:srgbClr val="FFFFFF"/>
                </a:solidFill>
                <a:latin typeface="Trebuchet MS"/>
              </a:rPr>
              <a:t>Dashboards</a:t>
            </a:r>
          </a:p>
        </p:txBody>
      </p:sp>
      <p:sp>
        <p:nvSpPr>
          <p:cNvPr id="27" name="TextBox 26"/>
          <p:cNvSpPr txBox="1"/>
          <p:nvPr/>
        </p:nvSpPr>
        <p:spPr>
          <a:xfrm>
            <a:off x="9509760" y="2880360"/>
            <a:ext cx="2103120" cy="365760"/>
          </a:xfrm>
          <a:prstGeom prst="rect">
            <a:avLst/>
          </a:prstGeom>
          <a:noFill/>
        </p:spPr>
        <p:txBody>
          <a:bodyPr wrap="square" lIns="45720" rIns="45720" tIns="18288" bIns="18288" anchor="t">
            <a:spAutoFit/>
          </a:bodyPr>
          <a:lstStyle/>
          <a:p>
            <a:pPr algn="ctr"/>
            <a:r>
              <a:rPr sz="900" b="0" i="0">
                <a:solidFill>
                  <a:srgbClr val="CADCFC"/>
                </a:solidFill>
                <a:latin typeface="Calibri"/>
              </a:rPr>
              <a:t>+ 3 alert rules live</a:t>
            </a:r>
          </a:p>
        </p:txBody>
      </p:sp>
      <p:sp>
        <p:nvSpPr>
          <p:cNvPr id="28" name="Rounded Rectangle 27"/>
          <p:cNvSpPr/>
          <p:nvPr/>
        </p:nvSpPr>
        <p:spPr>
          <a:xfrm>
            <a:off x="457200" y="3840480"/>
            <a:ext cx="3657600" cy="1828800"/>
          </a:xfrm>
          <a:prstGeom prst="round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4023360"/>
            <a:ext cx="3657600" cy="914400"/>
          </a:xfrm>
          <a:prstGeom prst="rect">
            <a:avLst/>
          </a:prstGeom>
          <a:noFill/>
        </p:spPr>
        <p:txBody>
          <a:bodyPr wrap="square" lIns="45720" rIns="45720" tIns="18288" bIns="18288" anchor="t">
            <a:spAutoFit/>
          </a:bodyPr>
          <a:lstStyle/>
          <a:p>
            <a:pPr algn="ctr"/>
            <a:r>
              <a:rPr sz="4800" b="1" i="0">
                <a:solidFill>
                  <a:srgbClr val="38BDF8"/>
                </a:solidFill>
                <a:latin typeface="Trebuchet MS"/>
              </a:rPr>
              <a:t>15 222</a:t>
            </a:r>
          </a:p>
        </p:txBody>
      </p:sp>
      <p:sp>
        <p:nvSpPr>
          <p:cNvPr id="30" name="TextBox 29"/>
          <p:cNvSpPr txBox="1"/>
          <p:nvPr/>
        </p:nvSpPr>
        <p:spPr>
          <a:xfrm>
            <a:off x="457200" y="4937760"/>
            <a:ext cx="3657600" cy="365760"/>
          </a:xfrm>
          <a:prstGeom prst="rect">
            <a:avLst/>
          </a:prstGeom>
          <a:noFill/>
        </p:spPr>
        <p:txBody>
          <a:bodyPr wrap="square" lIns="45720" rIns="45720" tIns="18288" bIns="18288" anchor="t">
            <a:spAutoFit/>
          </a:bodyPr>
          <a:lstStyle/>
          <a:p>
            <a:pPr algn="ctr"/>
            <a:r>
              <a:rPr sz="1400" b="1" i="0">
                <a:solidFill>
                  <a:srgbClr val="1E2761"/>
                </a:solidFill>
                <a:latin typeface="Calibri"/>
              </a:rPr>
              <a:t>events live indexés</a:t>
            </a:r>
          </a:p>
        </p:txBody>
      </p:sp>
      <p:sp>
        <p:nvSpPr>
          <p:cNvPr id="31" name="TextBox 30"/>
          <p:cNvSpPr txBox="1"/>
          <p:nvPr/>
        </p:nvSpPr>
        <p:spPr>
          <a:xfrm>
            <a:off x="457200" y="5303520"/>
            <a:ext cx="3657600" cy="320040"/>
          </a:xfrm>
          <a:prstGeom prst="rect">
            <a:avLst/>
          </a:prstGeom>
          <a:noFill/>
        </p:spPr>
        <p:txBody>
          <a:bodyPr wrap="square" lIns="45720" rIns="45720" tIns="18288" bIns="18288" anchor="t">
            <a:spAutoFit/>
          </a:bodyPr>
          <a:lstStyle/>
          <a:p>
            <a:pPr algn="ctr"/>
            <a:r>
              <a:rPr sz="1000" b="0" i="1">
                <a:solidFill>
                  <a:srgbClr val="64748B"/>
                </a:solidFill>
                <a:latin typeface="Calibri"/>
              </a:rPr>
              <a:t>depuis services-s2 en 24h</a:t>
            </a:r>
          </a:p>
        </p:txBody>
      </p:sp>
      <p:sp>
        <p:nvSpPr>
          <p:cNvPr id="32" name="Rounded Rectangle 31"/>
          <p:cNvSpPr/>
          <p:nvPr/>
        </p:nvSpPr>
        <p:spPr>
          <a:xfrm>
            <a:off x="4297680" y="3840480"/>
            <a:ext cx="3657600" cy="1828800"/>
          </a:xfrm>
          <a:prstGeom prst="round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97680" y="4023360"/>
            <a:ext cx="3657600" cy="914400"/>
          </a:xfrm>
          <a:prstGeom prst="rect">
            <a:avLst/>
          </a:prstGeom>
          <a:noFill/>
        </p:spPr>
        <p:txBody>
          <a:bodyPr wrap="square" lIns="45720" rIns="45720" tIns="18288" bIns="18288" anchor="t">
            <a:spAutoFit/>
          </a:bodyPr>
          <a:lstStyle/>
          <a:p>
            <a:pPr algn="ctr"/>
            <a:r>
              <a:rPr sz="4800" b="1" i="0">
                <a:solidFill>
                  <a:srgbClr val="38BDF8"/>
                </a:solidFill>
                <a:latin typeface="Trebuchet MS"/>
              </a:rPr>
              <a:t>587</a:t>
            </a:r>
          </a:p>
        </p:txBody>
      </p:sp>
      <p:sp>
        <p:nvSpPr>
          <p:cNvPr id="34" name="TextBox 33"/>
          <p:cNvSpPr txBox="1"/>
          <p:nvPr/>
        </p:nvSpPr>
        <p:spPr>
          <a:xfrm>
            <a:off x="4297680" y="4937760"/>
            <a:ext cx="3657600" cy="365760"/>
          </a:xfrm>
          <a:prstGeom prst="rect">
            <a:avLst/>
          </a:prstGeom>
          <a:noFill/>
        </p:spPr>
        <p:txBody>
          <a:bodyPr wrap="square" lIns="45720" rIns="45720" tIns="18288" bIns="18288" anchor="t">
            <a:spAutoFit/>
          </a:bodyPr>
          <a:lstStyle/>
          <a:p>
            <a:pPr algn="ctr"/>
            <a:r>
              <a:rPr sz="1400" b="1" i="0">
                <a:solidFill>
                  <a:srgbClr val="1E2761"/>
                </a:solidFill>
                <a:latin typeface="Calibri"/>
              </a:rPr>
              <a:t>rules executions</a:t>
            </a:r>
          </a:p>
        </p:txBody>
      </p:sp>
      <p:sp>
        <p:nvSpPr>
          <p:cNvPr id="35" name="TextBox 34"/>
          <p:cNvSpPr txBox="1"/>
          <p:nvPr/>
        </p:nvSpPr>
        <p:spPr>
          <a:xfrm>
            <a:off x="4297680" y="5303520"/>
            <a:ext cx="3657600" cy="320040"/>
          </a:xfrm>
          <a:prstGeom prst="rect">
            <a:avLst/>
          </a:prstGeom>
          <a:noFill/>
        </p:spPr>
        <p:txBody>
          <a:bodyPr wrap="square" lIns="45720" rIns="45720" tIns="18288" bIns="18288" anchor="t">
            <a:spAutoFit/>
          </a:bodyPr>
          <a:lstStyle/>
          <a:p>
            <a:pPr algn="ctr"/>
            <a:r>
              <a:rPr sz="1000" b="0" i="1">
                <a:solidFill>
                  <a:srgbClr val="64748B"/>
                </a:solidFill>
                <a:latin typeface="Calibri"/>
              </a:rPr>
              <a:t>alerting check toutes les minutes</a:t>
            </a:r>
          </a:p>
        </p:txBody>
      </p:sp>
      <p:sp>
        <p:nvSpPr>
          <p:cNvPr id="36" name="Rounded Rectangle 35"/>
          <p:cNvSpPr/>
          <p:nvPr/>
        </p:nvSpPr>
        <p:spPr>
          <a:xfrm>
            <a:off x="8138160" y="3840480"/>
            <a:ext cx="3657600" cy="1828800"/>
          </a:xfrm>
          <a:prstGeom prst="round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138160" y="4023360"/>
            <a:ext cx="3657600" cy="914400"/>
          </a:xfrm>
          <a:prstGeom prst="rect">
            <a:avLst/>
          </a:prstGeom>
          <a:noFill/>
        </p:spPr>
        <p:txBody>
          <a:bodyPr wrap="square" lIns="45720" rIns="45720" tIns="18288" bIns="18288" anchor="t">
            <a:spAutoFit/>
          </a:bodyPr>
          <a:lstStyle/>
          <a:p>
            <a:pPr algn="ctr"/>
            <a:r>
              <a:rPr sz="4800" b="1" i="0">
                <a:solidFill>
                  <a:srgbClr val="38BDF8"/>
                </a:solidFill>
                <a:latin typeface="Trebuchet MS"/>
              </a:rPr>
              <a:t>100 %</a:t>
            </a:r>
          </a:p>
        </p:txBody>
      </p:sp>
      <p:sp>
        <p:nvSpPr>
          <p:cNvPr id="38" name="TextBox 37"/>
          <p:cNvSpPr txBox="1"/>
          <p:nvPr/>
        </p:nvSpPr>
        <p:spPr>
          <a:xfrm>
            <a:off x="8138160" y="4937760"/>
            <a:ext cx="3657600" cy="365760"/>
          </a:xfrm>
          <a:prstGeom prst="rect">
            <a:avLst/>
          </a:prstGeom>
          <a:noFill/>
        </p:spPr>
        <p:txBody>
          <a:bodyPr wrap="square" lIns="45720" rIns="45720" tIns="18288" bIns="18288" anchor="t">
            <a:spAutoFit/>
          </a:bodyPr>
          <a:lstStyle/>
          <a:p>
            <a:pPr algn="ctr"/>
            <a:r>
              <a:rPr sz="1400" b="1" i="0">
                <a:solidFill>
                  <a:srgbClr val="1E2761"/>
                </a:solidFill>
                <a:latin typeface="Calibri"/>
              </a:rPr>
              <a:t>open-source stack</a:t>
            </a:r>
          </a:p>
        </p:txBody>
      </p:sp>
      <p:sp>
        <p:nvSpPr>
          <p:cNvPr id="39" name="TextBox 38"/>
          <p:cNvSpPr txBox="1"/>
          <p:nvPr/>
        </p:nvSpPr>
        <p:spPr>
          <a:xfrm>
            <a:off x="8138160" y="5303520"/>
            <a:ext cx="3657600" cy="320040"/>
          </a:xfrm>
          <a:prstGeom prst="rect">
            <a:avLst/>
          </a:prstGeom>
          <a:noFill/>
        </p:spPr>
        <p:txBody>
          <a:bodyPr wrap="square" lIns="45720" rIns="45720" tIns="18288" bIns="18288" anchor="t">
            <a:spAutoFit/>
          </a:bodyPr>
          <a:lstStyle/>
          <a:p>
            <a:pPr algn="ctr"/>
            <a:r>
              <a:rPr sz="1000" b="0" i="1">
                <a:solidFill>
                  <a:srgbClr val="64748B"/>
                </a:solidFill>
                <a:latin typeface="Calibri"/>
              </a:rPr>
              <a:t>ES + Kibana + Logstash + Filebeat 8.11</a:t>
            </a:r>
          </a:p>
        </p:txBody>
      </p:sp>
      <p:sp>
        <p:nvSpPr>
          <p:cNvPr id="40" name="TextBox 39"/>
          <p:cNvSpPr txBox="1"/>
          <p:nvPr/>
        </p:nvSpPr>
        <p:spPr>
          <a:xfrm>
            <a:off x="457200" y="6446520"/>
            <a:ext cx="5486400" cy="320040"/>
          </a:xfrm>
          <a:prstGeom prst="rect">
            <a:avLst/>
          </a:prstGeom>
          <a:noFill/>
        </p:spPr>
        <p:txBody>
          <a:bodyPr wrap="square" lIns="45720" rIns="45720" tIns="18288" bIns="18288" anchor="t">
            <a:spAutoFit/>
          </a:bodyPr>
          <a:lstStyle/>
          <a:p>
            <a:pPr algn="l"/>
            <a:r>
              <a:rPr sz="900" b="0" i="0">
                <a:solidFill>
                  <a:srgbClr val="64748B"/>
                </a:solidFill>
                <a:latin typeface="Calibri"/>
              </a:rPr>
              <a:t>CIA · Hybrid Infrastructure · GR46</a:t>
            </a:r>
          </a:p>
        </p:txBody>
      </p:sp>
      <p:sp>
        <p:nvSpPr>
          <p:cNvPr id="41" name="TextBox 40"/>
          <p:cNvSpPr txBox="1"/>
          <p:nvPr/>
        </p:nvSpPr>
        <p:spPr>
          <a:xfrm>
            <a:off x="10515600" y="6446520"/>
            <a:ext cx="1188720" cy="320040"/>
          </a:xfrm>
          <a:prstGeom prst="rect">
            <a:avLst/>
          </a:prstGeom>
          <a:noFill/>
        </p:spPr>
        <p:txBody>
          <a:bodyPr wrap="square" lIns="45720" rIns="45720" tIns="18288" bIns="18288" anchor="t">
            <a:spAutoFit/>
          </a:bodyPr>
          <a:lstStyle/>
          <a:p>
            <a:pPr algn="r"/>
            <a:r>
              <a:rPr sz="900" b="0" i="0">
                <a:solidFill>
                  <a:srgbClr val="64748B"/>
                </a:solidFill>
                <a:latin typeface="Calibri"/>
              </a:rPr>
              <a:t>10 / 15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0972800" cy="640080"/>
          </a:xfrm>
          <a:prstGeom prst="rect">
            <a:avLst/>
          </a:prstGeom>
          <a:noFill/>
        </p:spPr>
        <p:txBody>
          <a:bodyPr wrap="square" lIns="45720" rIns="45720" tIns="18288" bIns="18288" anchor="t">
            <a:spAutoFit/>
          </a:bodyPr>
          <a:lstStyle/>
          <a:p>
            <a:pPr algn="l"/>
            <a:r>
              <a:rPr sz="3600" b="1" i="0">
                <a:solidFill>
                  <a:srgbClr val="1E2761"/>
                </a:solidFill>
                <a:latin typeface="Trebuchet MS"/>
              </a:rPr>
              <a:t>Dashboards Kibana + Alert rules</a:t>
            </a:r>
          </a:p>
        </p:txBody>
      </p:sp>
      <p:sp>
        <p:nvSpPr>
          <p:cNvPr id="3" name="TextBox 2"/>
          <p:cNvSpPr txBox="1"/>
          <p:nvPr/>
        </p:nvSpPr>
        <p:spPr>
          <a:xfrm>
            <a:off x="457200" y="1051560"/>
            <a:ext cx="10972800" cy="457200"/>
          </a:xfrm>
          <a:prstGeom prst="rect">
            <a:avLst/>
          </a:prstGeom>
          <a:noFill/>
        </p:spPr>
        <p:txBody>
          <a:bodyPr wrap="square" lIns="45720" rIns="45720" tIns="18288" bIns="18288" anchor="t">
            <a:spAutoFit/>
          </a:bodyPr>
          <a:lstStyle/>
          <a:p>
            <a:pPr algn="l"/>
            <a:r>
              <a:rPr sz="1400" b="0" i="1">
                <a:solidFill>
                  <a:srgbClr val="64748B"/>
                </a:solidFill>
                <a:latin typeface="Calibri"/>
              </a:rPr>
              <a:t>2 dashboards versionnés .ndjson · 3 alert rules .ndjson · reproductible en 1 import</a:t>
            </a:r>
          </a:p>
        </p:txBody>
      </p:sp>
      <p:sp>
        <p:nvSpPr>
          <p:cNvPr id="4" name="TextBox 3"/>
          <p:cNvSpPr txBox="1"/>
          <p:nvPr/>
        </p:nvSpPr>
        <p:spPr>
          <a:xfrm>
            <a:off x="457200" y="1645920"/>
            <a:ext cx="5943600" cy="365760"/>
          </a:xfrm>
          <a:prstGeom prst="rect">
            <a:avLst/>
          </a:prstGeom>
          <a:noFill/>
        </p:spPr>
        <p:txBody>
          <a:bodyPr wrap="square" lIns="45720" rIns="45720" tIns="18288" bIns="18288" anchor="t">
            <a:spAutoFit/>
          </a:bodyPr>
          <a:lstStyle/>
          <a:p>
            <a:pPr algn="l"/>
            <a:r>
              <a:rPr sz="1400" b="1" i="0">
                <a:solidFill>
                  <a:srgbClr val="1E2761"/>
                </a:solidFill>
                <a:latin typeface="Calibri"/>
              </a:rPr>
              <a:t>Dashboard SSH Security Monitor</a:t>
            </a:r>
          </a:p>
        </p:txBody>
      </p:sp>
      <p:pic>
        <p:nvPicPr>
          <p:cNvPr id="5" name="Picture 4" descr="kibana-ssh-security-monitor.png"/>
          <p:cNvPicPr>
            <a:picLocks noChangeAspect="1"/>
          </p:cNvPicPr>
          <p:nvPr/>
        </p:nvPicPr>
        <p:blipFill>
          <a:blip r:embed="rId2"/>
          <a:stretch>
            <a:fillRect/>
          </a:stretch>
        </p:blipFill>
        <p:spPr>
          <a:xfrm>
            <a:off x="457200" y="2057400"/>
            <a:ext cx="5943600" cy="2842591"/>
          </a:xfrm>
          <a:prstGeom prst="rect">
            <a:avLst/>
          </a:prstGeom>
        </p:spPr>
      </p:pic>
      <p:sp>
        <p:nvSpPr>
          <p:cNvPr id="6" name="TextBox 5"/>
          <p:cNvSpPr txBox="1"/>
          <p:nvPr/>
        </p:nvSpPr>
        <p:spPr>
          <a:xfrm>
            <a:off x="6675120" y="1645920"/>
            <a:ext cx="5029200" cy="365760"/>
          </a:xfrm>
          <a:prstGeom prst="rect">
            <a:avLst/>
          </a:prstGeom>
          <a:noFill/>
        </p:spPr>
        <p:txBody>
          <a:bodyPr wrap="square" lIns="45720" rIns="45720" tIns="18288" bIns="18288" anchor="t">
            <a:spAutoFit/>
          </a:bodyPr>
          <a:lstStyle/>
          <a:p>
            <a:pPr algn="l"/>
            <a:r>
              <a:rPr sz="1400" b="1" i="0">
                <a:solidFill>
                  <a:srgbClr val="1E2761"/>
                </a:solidFill>
                <a:latin typeface="Calibri"/>
              </a:rPr>
              <a:t>3 alert rules opérationnelles</a:t>
            </a:r>
          </a:p>
        </p:txBody>
      </p:sp>
      <p:pic>
        <p:nvPicPr>
          <p:cNvPr id="7" name="Picture 6" descr="kibana-3-alert-rules.png"/>
          <p:cNvPicPr>
            <a:picLocks noChangeAspect="1"/>
          </p:cNvPicPr>
          <p:nvPr/>
        </p:nvPicPr>
        <p:blipFill>
          <a:blip r:embed="rId3"/>
          <a:stretch>
            <a:fillRect/>
          </a:stretch>
        </p:blipFill>
        <p:spPr>
          <a:xfrm>
            <a:off x="6675120" y="2057400"/>
            <a:ext cx="5029200" cy="2324199"/>
          </a:xfrm>
          <a:prstGeom prst="rect">
            <a:avLst/>
          </a:prstGeom>
        </p:spPr>
      </p:pic>
      <p:sp>
        <p:nvSpPr>
          <p:cNvPr id="8" name="Rectangle 7"/>
          <p:cNvSpPr/>
          <p:nvPr/>
        </p:nvSpPr>
        <p:spPr>
          <a:xfrm>
            <a:off x="457200" y="5212080"/>
            <a:ext cx="731520" cy="36576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5212080"/>
            <a:ext cx="731520" cy="365760"/>
          </a:xfrm>
          <a:prstGeom prst="rect">
            <a:avLst/>
          </a:prstGeom>
          <a:noFill/>
        </p:spPr>
        <p:txBody>
          <a:bodyPr wrap="square" lIns="45720" rIns="45720" tIns="18288" bIns="18288" anchor="ctr">
            <a:spAutoFit/>
          </a:bodyPr>
          <a:lstStyle/>
          <a:p>
            <a:pPr algn="ctr"/>
            <a:r>
              <a:rPr sz="1100" b="1" i="0">
                <a:solidFill>
                  <a:srgbClr val="FFFFFF"/>
                </a:solidFill>
                <a:latin typeface="Calibri"/>
              </a:rPr>
              <a:t>P2</a:t>
            </a:r>
          </a:p>
        </p:txBody>
      </p:sp>
      <p:sp>
        <p:nvSpPr>
          <p:cNvPr id="10" name="TextBox 9"/>
          <p:cNvSpPr txBox="1"/>
          <p:nvPr/>
        </p:nvSpPr>
        <p:spPr>
          <a:xfrm>
            <a:off x="1280160" y="5212080"/>
            <a:ext cx="4114800" cy="365760"/>
          </a:xfrm>
          <a:prstGeom prst="rect">
            <a:avLst/>
          </a:prstGeom>
          <a:noFill/>
        </p:spPr>
        <p:txBody>
          <a:bodyPr wrap="square" lIns="45720" rIns="45720" tIns="18288" bIns="18288" anchor="ctr">
            <a:spAutoFit/>
          </a:bodyPr>
          <a:lstStyle/>
          <a:p>
            <a:pPr algn="l"/>
            <a:r>
              <a:rPr sz="1000" b="1" i="0">
                <a:solidFill>
                  <a:srgbClr val="1E2761"/>
                </a:solidFill>
                <a:latin typeface="Consolas"/>
              </a:rPr>
              <a:t>ALERT-SSH-FAIL-BURST</a:t>
            </a:r>
          </a:p>
        </p:txBody>
      </p:sp>
      <p:sp>
        <p:nvSpPr>
          <p:cNvPr id="11" name="TextBox 10"/>
          <p:cNvSpPr txBox="1"/>
          <p:nvPr/>
        </p:nvSpPr>
        <p:spPr>
          <a:xfrm>
            <a:off x="5486400" y="5212080"/>
            <a:ext cx="6217920" cy="365760"/>
          </a:xfrm>
          <a:prstGeom prst="rect">
            <a:avLst/>
          </a:prstGeom>
          <a:noFill/>
        </p:spPr>
        <p:txBody>
          <a:bodyPr wrap="square" lIns="45720" rIns="45720" tIns="18288" bIns="18288" anchor="ctr">
            <a:spAutoFit/>
          </a:bodyPr>
          <a:lstStyle/>
          <a:p>
            <a:pPr algn="l"/>
            <a:r>
              <a:rPr sz="1000" b="0" i="0">
                <a:solidFill>
                  <a:srgbClr val="64748B"/>
                </a:solidFill>
                <a:latin typeface="Calibri"/>
              </a:rPr>
              <a:t>count('Failed password') &gt; 5 · 5 min · check 1 min</a:t>
            </a:r>
          </a:p>
        </p:txBody>
      </p:sp>
      <p:sp>
        <p:nvSpPr>
          <p:cNvPr id="12" name="Rectangle 11"/>
          <p:cNvSpPr/>
          <p:nvPr/>
        </p:nvSpPr>
        <p:spPr>
          <a:xfrm>
            <a:off x="457200" y="5577840"/>
            <a:ext cx="731520" cy="36576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5577840"/>
            <a:ext cx="731520" cy="365760"/>
          </a:xfrm>
          <a:prstGeom prst="rect">
            <a:avLst/>
          </a:prstGeom>
          <a:noFill/>
        </p:spPr>
        <p:txBody>
          <a:bodyPr wrap="square" lIns="45720" rIns="45720" tIns="18288" bIns="18288" anchor="ctr">
            <a:spAutoFit/>
          </a:bodyPr>
          <a:lstStyle/>
          <a:p>
            <a:pPr algn="ctr"/>
            <a:r>
              <a:rPr sz="1100" b="1" i="0">
                <a:solidFill>
                  <a:srgbClr val="FFFFFF"/>
                </a:solidFill>
                <a:latin typeface="Calibri"/>
              </a:rPr>
              <a:t>P1</a:t>
            </a:r>
          </a:p>
        </p:txBody>
      </p:sp>
      <p:sp>
        <p:nvSpPr>
          <p:cNvPr id="14" name="TextBox 13"/>
          <p:cNvSpPr txBox="1"/>
          <p:nvPr/>
        </p:nvSpPr>
        <p:spPr>
          <a:xfrm>
            <a:off x="1280160" y="5577840"/>
            <a:ext cx="4114800" cy="365760"/>
          </a:xfrm>
          <a:prstGeom prst="rect">
            <a:avLst/>
          </a:prstGeom>
          <a:noFill/>
        </p:spPr>
        <p:txBody>
          <a:bodyPr wrap="square" lIns="45720" rIns="45720" tIns="18288" bIns="18288" anchor="ctr">
            <a:spAutoFit/>
          </a:bodyPr>
          <a:lstStyle/>
          <a:p>
            <a:pPr algn="l"/>
            <a:r>
              <a:rPr sz="1000" b="1" i="0">
                <a:solidFill>
                  <a:srgbClr val="1E2761"/>
                </a:solidFill>
                <a:latin typeface="Consolas"/>
              </a:rPr>
              <a:t>ALERT-AUDIT-TAMPER</a:t>
            </a:r>
          </a:p>
        </p:txBody>
      </p:sp>
      <p:sp>
        <p:nvSpPr>
          <p:cNvPr id="15" name="TextBox 14"/>
          <p:cNvSpPr txBox="1"/>
          <p:nvPr/>
        </p:nvSpPr>
        <p:spPr>
          <a:xfrm>
            <a:off x="5486400" y="5577840"/>
            <a:ext cx="6217920" cy="365760"/>
          </a:xfrm>
          <a:prstGeom prst="rect">
            <a:avLst/>
          </a:prstGeom>
          <a:noFill/>
        </p:spPr>
        <p:txBody>
          <a:bodyPr wrap="square" lIns="45720" rIns="45720" tIns="18288" bIns="18288" anchor="ctr">
            <a:spAutoFit/>
          </a:bodyPr>
          <a:lstStyle/>
          <a:p>
            <a:pPr algn="l"/>
            <a:r>
              <a:rPr sz="1000" b="0" i="0">
                <a:solidFill>
                  <a:srgbClr val="64748B"/>
                </a:solidFill>
                <a:latin typeface="Calibri"/>
              </a:rPr>
              <a:t>match /etc/ssh/ /etc/sudoers /etc/pam.d/ &gt; 0 · 10 min</a:t>
            </a:r>
          </a:p>
        </p:txBody>
      </p:sp>
      <p:sp>
        <p:nvSpPr>
          <p:cNvPr id="16" name="Rectangle 15"/>
          <p:cNvSpPr/>
          <p:nvPr/>
        </p:nvSpPr>
        <p:spPr>
          <a:xfrm>
            <a:off x="457200" y="5943600"/>
            <a:ext cx="731520" cy="3657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5943600"/>
            <a:ext cx="731520" cy="365760"/>
          </a:xfrm>
          <a:prstGeom prst="rect">
            <a:avLst/>
          </a:prstGeom>
          <a:noFill/>
        </p:spPr>
        <p:txBody>
          <a:bodyPr wrap="square" lIns="45720" rIns="45720" tIns="18288" bIns="18288" anchor="ctr">
            <a:spAutoFit/>
          </a:bodyPr>
          <a:lstStyle/>
          <a:p>
            <a:pPr algn="ctr"/>
            <a:r>
              <a:rPr sz="1100" b="1" i="0">
                <a:solidFill>
                  <a:srgbClr val="FFFFFF"/>
                </a:solidFill>
                <a:latin typeface="Calibri"/>
              </a:rPr>
              <a:t>P2</a:t>
            </a:r>
          </a:p>
        </p:txBody>
      </p:sp>
      <p:sp>
        <p:nvSpPr>
          <p:cNvPr id="18" name="TextBox 17"/>
          <p:cNvSpPr txBox="1"/>
          <p:nvPr/>
        </p:nvSpPr>
        <p:spPr>
          <a:xfrm>
            <a:off x="1280160" y="5943600"/>
            <a:ext cx="4114800" cy="365760"/>
          </a:xfrm>
          <a:prstGeom prst="rect">
            <a:avLst/>
          </a:prstGeom>
          <a:noFill/>
        </p:spPr>
        <p:txBody>
          <a:bodyPr wrap="square" lIns="45720" rIns="45720" tIns="18288" bIns="18288" anchor="ctr">
            <a:spAutoFit/>
          </a:bodyPr>
          <a:lstStyle/>
          <a:p>
            <a:pPr algn="l"/>
            <a:r>
              <a:rPr sz="1000" b="1" i="0">
                <a:solidFill>
                  <a:srgbClr val="1E2761"/>
                </a:solidFill>
                <a:latin typeface="Consolas"/>
              </a:rPr>
              <a:t>ALERT-FILEBEAT-HEARTBEAT-LOST</a:t>
            </a:r>
          </a:p>
        </p:txBody>
      </p:sp>
      <p:sp>
        <p:nvSpPr>
          <p:cNvPr id="19" name="TextBox 18"/>
          <p:cNvSpPr txBox="1"/>
          <p:nvPr/>
        </p:nvSpPr>
        <p:spPr>
          <a:xfrm>
            <a:off x="5486400" y="5943600"/>
            <a:ext cx="6217920" cy="365760"/>
          </a:xfrm>
          <a:prstGeom prst="rect">
            <a:avLst/>
          </a:prstGeom>
          <a:noFill/>
        </p:spPr>
        <p:txBody>
          <a:bodyPr wrap="square" lIns="45720" rIns="45720" tIns="18288" bIns="18288" anchor="ctr">
            <a:spAutoFit/>
          </a:bodyPr>
          <a:lstStyle/>
          <a:p>
            <a:pPr algn="l"/>
            <a:r>
              <a:rPr sz="1000" b="0" i="0">
                <a:solidFill>
                  <a:srgbClr val="64748B"/>
                </a:solidFill>
                <a:latin typeface="Calibri"/>
              </a:rPr>
              <a:t>count(*) &lt; 1 · 10 min · auto-déclenché 2x organique</a:t>
            </a:r>
          </a:p>
        </p:txBody>
      </p:sp>
      <p:sp>
        <p:nvSpPr>
          <p:cNvPr id="20" name="TextBox 19"/>
          <p:cNvSpPr txBox="1"/>
          <p:nvPr/>
        </p:nvSpPr>
        <p:spPr>
          <a:xfrm>
            <a:off x="457200" y="6446520"/>
            <a:ext cx="5486400" cy="320040"/>
          </a:xfrm>
          <a:prstGeom prst="rect">
            <a:avLst/>
          </a:prstGeom>
          <a:noFill/>
        </p:spPr>
        <p:txBody>
          <a:bodyPr wrap="square" lIns="45720" rIns="45720" tIns="18288" bIns="18288" anchor="t">
            <a:spAutoFit/>
          </a:bodyPr>
          <a:lstStyle/>
          <a:p>
            <a:pPr algn="l"/>
            <a:r>
              <a:rPr sz="900" b="0" i="0">
                <a:solidFill>
                  <a:srgbClr val="64748B"/>
                </a:solidFill>
                <a:latin typeface="Calibri"/>
              </a:rPr>
              <a:t>CIA · Hybrid Infrastructure · GR46</a:t>
            </a:r>
          </a:p>
        </p:txBody>
      </p:sp>
      <p:sp>
        <p:nvSpPr>
          <p:cNvPr id="21" name="TextBox 20"/>
          <p:cNvSpPr txBox="1"/>
          <p:nvPr/>
        </p:nvSpPr>
        <p:spPr>
          <a:xfrm>
            <a:off x="10515600" y="6446520"/>
            <a:ext cx="1188720" cy="320040"/>
          </a:xfrm>
          <a:prstGeom prst="rect">
            <a:avLst/>
          </a:prstGeom>
          <a:noFill/>
        </p:spPr>
        <p:txBody>
          <a:bodyPr wrap="square" lIns="45720" rIns="45720" tIns="18288" bIns="18288" anchor="t">
            <a:spAutoFit/>
          </a:bodyPr>
          <a:lstStyle/>
          <a:p>
            <a:pPr algn="r"/>
            <a:r>
              <a:rPr sz="900" b="0" i="0">
                <a:solidFill>
                  <a:srgbClr val="64748B"/>
                </a:solidFill>
                <a:latin typeface="Calibri"/>
              </a:rPr>
              <a:t>11 / 15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972800" cy="640080"/>
          </a:xfrm>
          <a:prstGeom prst="rect">
            <a:avLst/>
          </a:prstGeom>
          <a:noFill/>
        </p:spPr>
        <p:txBody>
          <a:bodyPr wrap="square" lIns="45720" rIns="45720" tIns="18288" bIns="18288" anchor="t">
            <a:spAutoFit/>
          </a:bodyPr>
          <a:lstStyle/>
          <a:p>
            <a:pPr algn="l"/>
            <a:r>
              <a:rPr sz="3200" b="1" i="0">
                <a:solidFill>
                  <a:srgbClr val="FFFFFF"/>
                </a:solidFill>
                <a:latin typeface="Trebuchet MS"/>
              </a:rPr>
              <a:t>ALERTING LIVE · preuve runtime</a:t>
            </a:r>
          </a:p>
        </p:txBody>
      </p:sp>
      <p:sp>
        <p:nvSpPr>
          <p:cNvPr id="4" name="TextBox 3"/>
          <p:cNvSpPr txBox="1"/>
          <p:nvPr/>
        </p:nvSpPr>
        <p:spPr>
          <a:xfrm>
            <a:off x="640080" y="1051560"/>
            <a:ext cx="10972800" cy="457200"/>
          </a:xfrm>
          <a:prstGeom prst="rect">
            <a:avLst/>
          </a:prstGeom>
          <a:noFill/>
        </p:spPr>
        <p:txBody>
          <a:bodyPr wrap="square" lIns="45720" rIns="45720" tIns="18288" bIns="18288" anchor="t">
            <a:spAutoFit/>
          </a:bodyPr>
          <a:lstStyle/>
          <a:p>
            <a:pPr algn="l"/>
            <a:r>
              <a:rPr sz="1400" b="0" i="1">
                <a:solidFill>
                  <a:srgbClr val="CADCFC"/>
                </a:solidFill>
                <a:latin typeface="Calibri"/>
              </a:rPr>
              <a:t>Burst injecté en démo · rule déclenchée · payload custom logué · 12 events détectés</a:t>
            </a:r>
          </a:p>
        </p:txBody>
      </p:sp>
      <p:sp>
        <p:nvSpPr>
          <p:cNvPr id="5" name="TextBox 4"/>
          <p:cNvSpPr txBox="1"/>
          <p:nvPr/>
        </p:nvSpPr>
        <p:spPr>
          <a:xfrm>
            <a:off x="457200" y="1691640"/>
            <a:ext cx="5943600" cy="365760"/>
          </a:xfrm>
          <a:prstGeom prst="rect">
            <a:avLst/>
          </a:prstGeom>
          <a:noFill/>
        </p:spPr>
        <p:txBody>
          <a:bodyPr wrap="square" lIns="45720" rIns="45720" tIns="18288" bIns="18288" anchor="t">
            <a:spAutoFit/>
          </a:bodyPr>
          <a:lstStyle/>
          <a:p>
            <a:pPr algn="l"/>
            <a:r>
              <a:rPr sz="1200" b="1" i="0">
                <a:solidFill>
                  <a:srgbClr val="CADCFC"/>
                </a:solidFill>
                <a:latin typeface="Calibri"/>
              </a:rPr>
              <a:t>Rule ALERT-SSH-FAIL-BURST · onglet Alerts</a:t>
            </a:r>
          </a:p>
        </p:txBody>
      </p:sp>
      <p:pic>
        <p:nvPicPr>
          <p:cNvPr id="6" name="Picture 5" descr="kibana-rule-ssh-burst-active.png"/>
          <p:cNvPicPr>
            <a:picLocks noChangeAspect="1"/>
          </p:cNvPicPr>
          <p:nvPr/>
        </p:nvPicPr>
        <p:blipFill>
          <a:blip r:embed="rId2"/>
          <a:stretch>
            <a:fillRect/>
          </a:stretch>
        </p:blipFill>
        <p:spPr>
          <a:xfrm>
            <a:off x="457200" y="2103120"/>
            <a:ext cx="5852160" cy="3142940"/>
          </a:xfrm>
          <a:prstGeom prst="rect">
            <a:avLst/>
          </a:prstGeom>
        </p:spPr>
      </p:pic>
      <p:sp>
        <p:nvSpPr>
          <p:cNvPr id="7" name="TextBox 6"/>
          <p:cNvSpPr txBox="1"/>
          <p:nvPr/>
        </p:nvSpPr>
        <p:spPr>
          <a:xfrm>
            <a:off x="6583680" y="1691640"/>
            <a:ext cx="5303520" cy="365760"/>
          </a:xfrm>
          <a:prstGeom prst="rect">
            <a:avLst/>
          </a:prstGeom>
          <a:noFill/>
        </p:spPr>
        <p:txBody>
          <a:bodyPr wrap="square" lIns="45720" rIns="45720" tIns="18288" bIns="18288" anchor="t">
            <a:spAutoFit/>
          </a:bodyPr>
          <a:lstStyle/>
          <a:p>
            <a:pPr algn="l"/>
            <a:r>
              <a:rPr sz="1200" b="1" i="0">
                <a:solidFill>
                  <a:srgbClr val="CADCFC"/>
                </a:solidFill>
                <a:latin typeface="Calibri"/>
              </a:rPr>
              <a:t>Server Log Kibana — payload custom</a:t>
            </a:r>
          </a:p>
        </p:txBody>
      </p:sp>
      <p:pic>
        <p:nvPicPr>
          <p:cNvPr id="8" name="Picture 7" descr="kibana-server-log-alerts-fired.png"/>
          <p:cNvPicPr>
            <a:picLocks noChangeAspect="1"/>
          </p:cNvPicPr>
          <p:nvPr/>
        </p:nvPicPr>
        <p:blipFill>
          <a:blip r:embed="rId3"/>
          <a:stretch>
            <a:fillRect/>
          </a:stretch>
        </p:blipFill>
        <p:spPr>
          <a:xfrm>
            <a:off x="6583680" y="2103120"/>
            <a:ext cx="5303520" cy="622018"/>
          </a:xfrm>
          <a:prstGeom prst="rect">
            <a:avLst/>
          </a:prstGeom>
        </p:spPr>
      </p:pic>
      <p:sp>
        <p:nvSpPr>
          <p:cNvPr id="9" name="Rounded Rectangle 8"/>
          <p:cNvSpPr/>
          <p:nvPr/>
        </p:nvSpPr>
        <p:spPr>
          <a:xfrm>
            <a:off x="457200" y="5532120"/>
            <a:ext cx="11430000" cy="868680"/>
          </a:xfrm>
          <a:prstGeom prst="roundRect">
            <a:avLst/>
          </a:prstGeom>
          <a:solidFill>
            <a:srgbClr val="101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5623560"/>
            <a:ext cx="10972800" cy="365760"/>
          </a:xfrm>
          <a:prstGeom prst="rect">
            <a:avLst/>
          </a:prstGeom>
          <a:noFill/>
        </p:spPr>
        <p:txBody>
          <a:bodyPr wrap="square" lIns="45720" rIns="45720" tIns="18288" bIns="18288" anchor="t">
            <a:spAutoFit/>
          </a:bodyPr>
          <a:lstStyle/>
          <a:p>
            <a:pPr algn="l"/>
            <a:r>
              <a:rPr sz="1200" b="1" i="0">
                <a:solidFill>
                  <a:srgbClr val="38BDF8"/>
                </a:solidFill>
                <a:latin typeface="Consolas"/>
              </a:rPr>
              <a:t>🚨 ALERT-SSH-FAIL-BURST (P2) — 12 SSH Failed passwords detectees en 5 min sur infra CIA.</a:t>
            </a:r>
          </a:p>
        </p:txBody>
      </p:sp>
      <p:sp>
        <p:nvSpPr>
          <p:cNvPr id="11" name="TextBox 10"/>
          <p:cNvSpPr txBox="1"/>
          <p:nvPr/>
        </p:nvSpPr>
        <p:spPr>
          <a:xfrm>
            <a:off x="640080" y="5943600"/>
            <a:ext cx="10972800" cy="365760"/>
          </a:xfrm>
          <a:prstGeom prst="rect">
            <a:avLst/>
          </a:prstGeom>
          <a:noFill/>
        </p:spPr>
        <p:txBody>
          <a:bodyPr wrap="square" lIns="45720" rIns="45720" tIns="18288" bIns="18288" anchor="t">
            <a:spAutoFit/>
          </a:bodyPr>
          <a:lstStyle/>
          <a:p>
            <a:pPr algn="l"/>
            <a:r>
              <a:rPr sz="1100" b="0" i="0">
                <a:solidFill>
                  <a:srgbClr val="CADCFC"/>
                </a:solidFill>
                <a:latin typeface="Consolas"/>
              </a:rPr>
              <a:t>Date 2026-06-21T09:10:19.309Z. Investigation: Discover → message: "Failed password" → Last 15 min.</a:t>
            </a:r>
          </a:p>
        </p:txBody>
      </p:sp>
      <p:sp>
        <p:nvSpPr>
          <p:cNvPr id="12" name="TextBox 11"/>
          <p:cNvSpPr txBox="1"/>
          <p:nvPr/>
        </p:nvSpPr>
        <p:spPr>
          <a:xfrm>
            <a:off x="457200" y="6446520"/>
            <a:ext cx="5486400" cy="320040"/>
          </a:xfrm>
          <a:prstGeom prst="rect">
            <a:avLst/>
          </a:prstGeom>
          <a:noFill/>
        </p:spPr>
        <p:txBody>
          <a:bodyPr wrap="square" lIns="45720" rIns="45720" tIns="18288" bIns="18288" anchor="t">
            <a:spAutoFit/>
          </a:bodyPr>
          <a:lstStyle/>
          <a:p>
            <a:pPr algn="l"/>
            <a:r>
              <a:rPr sz="900" b="0" i="0">
                <a:solidFill>
                  <a:srgbClr val="CADCFC"/>
                </a:solidFill>
                <a:latin typeface="Calibri"/>
              </a:rPr>
              <a:t>CIA · Hybrid Infrastructure · GR46</a:t>
            </a:r>
          </a:p>
        </p:txBody>
      </p:sp>
      <p:sp>
        <p:nvSpPr>
          <p:cNvPr id="13" name="TextBox 12"/>
          <p:cNvSpPr txBox="1"/>
          <p:nvPr/>
        </p:nvSpPr>
        <p:spPr>
          <a:xfrm>
            <a:off x="10515600" y="6446520"/>
            <a:ext cx="1188720" cy="320040"/>
          </a:xfrm>
          <a:prstGeom prst="rect">
            <a:avLst/>
          </a:prstGeom>
          <a:noFill/>
        </p:spPr>
        <p:txBody>
          <a:bodyPr wrap="square" lIns="45720" rIns="45720" tIns="18288" bIns="18288" anchor="t">
            <a:spAutoFit/>
          </a:bodyPr>
          <a:lstStyle/>
          <a:p>
            <a:pPr algn="r"/>
            <a:r>
              <a:rPr sz="900" b="0" i="0">
                <a:solidFill>
                  <a:srgbClr val="CADCFC"/>
                </a:solidFill>
                <a:latin typeface="Calibri"/>
              </a:rPr>
              <a:t>12 / 15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0972800" cy="640080"/>
          </a:xfrm>
          <a:prstGeom prst="rect">
            <a:avLst/>
          </a:prstGeom>
          <a:noFill/>
        </p:spPr>
        <p:txBody>
          <a:bodyPr wrap="square" lIns="45720" rIns="45720" tIns="18288" bIns="18288" anchor="t">
            <a:spAutoFit/>
          </a:bodyPr>
          <a:lstStyle/>
          <a:p>
            <a:pPr algn="l"/>
            <a:r>
              <a:rPr sz="3600" b="1" i="0">
                <a:solidFill>
                  <a:srgbClr val="1E2761"/>
                </a:solidFill>
                <a:latin typeface="Trebuchet MS"/>
              </a:rPr>
              <a:t>Qualité &amp; CI/CD</a:t>
            </a:r>
          </a:p>
        </p:txBody>
      </p:sp>
      <p:sp>
        <p:nvSpPr>
          <p:cNvPr id="3" name="TextBox 2"/>
          <p:cNvSpPr txBox="1"/>
          <p:nvPr/>
        </p:nvSpPr>
        <p:spPr>
          <a:xfrm>
            <a:off x="457200" y="1051560"/>
            <a:ext cx="10972800" cy="457200"/>
          </a:xfrm>
          <a:prstGeom prst="rect">
            <a:avLst/>
          </a:prstGeom>
          <a:noFill/>
        </p:spPr>
        <p:txBody>
          <a:bodyPr wrap="square" lIns="45720" rIns="45720" tIns="18288" bIns="18288" anchor="t">
            <a:spAutoFit/>
          </a:bodyPr>
          <a:lstStyle/>
          <a:p>
            <a:pPr algn="l"/>
            <a:r>
              <a:rPr sz="1400" b="0" i="1">
                <a:solidFill>
                  <a:srgbClr val="64748B"/>
                </a:solidFill>
                <a:latin typeface="Calibri"/>
              </a:rPr>
              <a:t>Pre-commit local · 5 workflows GitHub Actions · 163 runs · 100 % Phase A green</a:t>
            </a:r>
          </a:p>
        </p:txBody>
      </p:sp>
      <p:pic>
        <p:nvPicPr>
          <p:cNvPr id="4" name="Picture 3" descr="12-ci-actions-green.png"/>
          <p:cNvPicPr>
            <a:picLocks noChangeAspect="1"/>
          </p:cNvPicPr>
          <p:nvPr/>
        </p:nvPicPr>
        <p:blipFill>
          <a:blip r:embed="rId2"/>
          <a:stretch>
            <a:fillRect/>
          </a:stretch>
        </p:blipFill>
        <p:spPr>
          <a:xfrm>
            <a:off x="457200" y="1828800"/>
            <a:ext cx="6858000" cy="4842196"/>
          </a:xfrm>
          <a:prstGeom prst="rect">
            <a:avLst/>
          </a:prstGeom>
        </p:spPr>
      </p:pic>
      <p:sp>
        <p:nvSpPr>
          <p:cNvPr id="5" name="TextBox 4"/>
          <p:cNvSpPr txBox="1"/>
          <p:nvPr/>
        </p:nvSpPr>
        <p:spPr>
          <a:xfrm>
            <a:off x="7589520" y="1828800"/>
            <a:ext cx="4297680" cy="457200"/>
          </a:xfrm>
          <a:prstGeom prst="rect">
            <a:avLst/>
          </a:prstGeom>
          <a:noFill/>
        </p:spPr>
        <p:txBody>
          <a:bodyPr wrap="square" lIns="45720" rIns="45720" tIns="18288" bIns="18288" anchor="t">
            <a:spAutoFit/>
          </a:bodyPr>
          <a:lstStyle/>
          <a:p>
            <a:pPr algn="l"/>
            <a:r>
              <a:rPr sz="1800" b="1" i="0">
                <a:solidFill>
                  <a:srgbClr val="1E2761"/>
                </a:solidFill>
                <a:latin typeface="Trebuchet MS"/>
              </a:rPr>
              <a:t>5 workflows actifs</a:t>
            </a:r>
          </a:p>
        </p:txBody>
      </p:sp>
      <p:sp>
        <p:nvSpPr>
          <p:cNvPr id="6" name="Rounded Rectangle 5"/>
          <p:cNvSpPr/>
          <p:nvPr/>
        </p:nvSpPr>
        <p:spPr>
          <a:xfrm>
            <a:off x="7589520" y="2377440"/>
            <a:ext cx="4297680" cy="457200"/>
          </a:xfrm>
          <a:prstGeom prst="round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680960" y="2468880"/>
            <a:ext cx="274320" cy="274320"/>
          </a:xfrm>
          <a:prstGeom prst="round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2441448"/>
            <a:ext cx="274320" cy="274320"/>
          </a:xfrm>
          <a:prstGeom prst="rect">
            <a:avLst/>
          </a:prstGeom>
          <a:noFill/>
        </p:spPr>
        <p:txBody>
          <a:bodyPr wrap="square" lIns="45720" rIns="45720" tIns="18288" bIns="18288" anchor="ctr">
            <a:spAutoFit/>
          </a:bodyPr>
          <a:lstStyle/>
          <a:p>
            <a:pPr algn="ctr"/>
            <a:r>
              <a:rPr sz="1200" b="1" i="0">
                <a:solidFill>
                  <a:srgbClr val="FFFFFF"/>
                </a:solidFill>
                <a:latin typeface="Calibri"/>
              </a:rPr>
              <a:t>✓</a:t>
            </a:r>
          </a:p>
        </p:txBody>
      </p:sp>
      <p:sp>
        <p:nvSpPr>
          <p:cNvPr id="9" name="TextBox 8"/>
          <p:cNvSpPr txBox="1"/>
          <p:nvPr/>
        </p:nvSpPr>
        <p:spPr>
          <a:xfrm>
            <a:off x="8092440" y="2423160"/>
            <a:ext cx="1371600" cy="228600"/>
          </a:xfrm>
          <a:prstGeom prst="rect">
            <a:avLst/>
          </a:prstGeom>
          <a:noFill/>
        </p:spPr>
        <p:txBody>
          <a:bodyPr wrap="square" lIns="45720" rIns="45720" tIns="18288" bIns="18288" anchor="t">
            <a:spAutoFit/>
          </a:bodyPr>
          <a:lstStyle/>
          <a:p>
            <a:pPr algn="l"/>
            <a:r>
              <a:rPr sz="1200" b="1" i="0">
                <a:solidFill>
                  <a:srgbClr val="1E2761"/>
                </a:solidFill>
                <a:latin typeface="Consolas"/>
              </a:rPr>
              <a:t>quality</a:t>
            </a:r>
          </a:p>
        </p:txBody>
      </p:sp>
      <p:sp>
        <p:nvSpPr>
          <p:cNvPr id="10" name="TextBox 9"/>
          <p:cNvSpPr txBox="1"/>
          <p:nvPr/>
        </p:nvSpPr>
        <p:spPr>
          <a:xfrm>
            <a:off x="8092440" y="2624328"/>
            <a:ext cx="3657600" cy="228600"/>
          </a:xfrm>
          <a:prstGeom prst="rect">
            <a:avLst/>
          </a:prstGeom>
          <a:noFill/>
        </p:spPr>
        <p:txBody>
          <a:bodyPr wrap="square" lIns="45720" rIns="45720" tIns="18288" bIns="18288" anchor="t">
            <a:spAutoFit/>
          </a:bodyPr>
          <a:lstStyle/>
          <a:p>
            <a:pPr algn="l"/>
            <a:r>
              <a:rPr sz="900" b="0" i="0">
                <a:solidFill>
                  <a:srgbClr val="64748B"/>
                </a:solidFill>
                <a:latin typeface="Calibri"/>
              </a:rPr>
              <a:t>markdownlint · yamllint · terraform fmt</a:t>
            </a:r>
          </a:p>
        </p:txBody>
      </p:sp>
      <p:sp>
        <p:nvSpPr>
          <p:cNvPr id="11" name="Rounded Rectangle 10"/>
          <p:cNvSpPr/>
          <p:nvPr/>
        </p:nvSpPr>
        <p:spPr>
          <a:xfrm>
            <a:off x="7589520" y="2880360"/>
            <a:ext cx="4297680" cy="457200"/>
          </a:xfrm>
          <a:prstGeom prst="round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680960" y="2971800"/>
            <a:ext cx="274320" cy="274320"/>
          </a:xfrm>
          <a:prstGeom prst="round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0" y="2944368"/>
            <a:ext cx="274320" cy="274320"/>
          </a:xfrm>
          <a:prstGeom prst="rect">
            <a:avLst/>
          </a:prstGeom>
          <a:noFill/>
        </p:spPr>
        <p:txBody>
          <a:bodyPr wrap="square" lIns="45720" rIns="45720" tIns="18288" bIns="18288" anchor="ctr">
            <a:spAutoFit/>
          </a:bodyPr>
          <a:lstStyle/>
          <a:p>
            <a:pPr algn="ctr"/>
            <a:r>
              <a:rPr sz="1200" b="1" i="0">
                <a:solidFill>
                  <a:srgbClr val="FFFFFF"/>
                </a:solidFill>
                <a:latin typeface="Calibri"/>
              </a:rPr>
              <a:t>✓</a:t>
            </a:r>
          </a:p>
        </p:txBody>
      </p:sp>
      <p:sp>
        <p:nvSpPr>
          <p:cNvPr id="14" name="TextBox 13"/>
          <p:cNvSpPr txBox="1"/>
          <p:nvPr/>
        </p:nvSpPr>
        <p:spPr>
          <a:xfrm>
            <a:off x="8092440" y="2926080"/>
            <a:ext cx="1371600" cy="228600"/>
          </a:xfrm>
          <a:prstGeom prst="rect">
            <a:avLst/>
          </a:prstGeom>
          <a:noFill/>
        </p:spPr>
        <p:txBody>
          <a:bodyPr wrap="square" lIns="45720" rIns="45720" tIns="18288" bIns="18288" anchor="t">
            <a:spAutoFit/>
          </a:bodyPr>
          <a:lstStyle/>
          <a:p>
            <a:pPr algn="l"/>
            <a:r>
              <a:rPr sz="1200" b="1" i="0">
                <a:solidFill>
                  <a:srgbClr val="1E2761"/>
                </a:solidFill>
                <a:latin typeface="Consolas"/>
              </a:rPr>
              <a:t>security-scan</a:t>
            </a:r>
          </a:p>
        </p:txBody>
      </p:sp>
      <p:sp>
        <p:nvSpPr>
          <p:cNvPr id="15" name="TextBox 14"/>
          <p:cNvSpPr txBox="1"/>
          <p:nvPr/>
        </p:nvSpPr>
        <p:spPr>
          <a:xfrm>
            <a:off x="8092440" y="3127248"/>
            <a:ext cx="3657600" cy="228600"/>
          </a:xfrm>
          <a:prstGeom prst="rect">
            <a:avLst/>
          </a:prstGeom>
          <a:noFill/>
        </p:spPr>
        <p:txBody>
          <a:bodyPr wrap="square" lIns="45720" rIns="45720" tIns="18288" bIns="18288" anchor="t">
            <a:spAutoFit/>
          </a:bodyPr>
          <a:lstStyle/>
          <a:p>
            <a:pPr algn="l"/>
            <a:r>
              <a:rPr sz="900" b="0" i="0">
                <a:solidFill>
                  <a:srgbClr val="64748B"/>
                </a:solidFill>
                <a:latin typeface="Calibri"/>
              </a:rPr>
              <a:t>checkov · gitleaks · trivy · tflint</a:t>
            </a:r>
          </a:p>
        </p:txBody>
      </p:sp>
      <p:sp>
        <p:nvSpPr>
          <p:cNvPr id="16" name="Rounded Rectangle 15"/>
          <p:cNvSpPr/>
          <p:nvPr/>
        </p:nvSpPr>
        <p:spPr>
          <a:xfrm>
            <a:off x="7589520" y="3383280"/>
            <a:ext cx="4297680" cy="457200"/>
          </a:xfrm>
          <a:prstGeom prst="round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680960" y="3474720"/>
            <a:ext cx="274320" cy="274320"/>
          </a:xfrm>
          <a:prstGeom prst="round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80960" y="3447288"/>
            <a:ext cx="274320" cy="274320"/>
          </a:xfrm>
          <a:prstGeom prst="rect">
            <a:avLst/>
          </a:prstGeom>
          <a:noFill/>
        </p:spPr>
        <p:txBody>
          <a:bodyPr wrap="square" lIns="45720" rIns="45720" tIns="18288" bIns="18288" anchor="ctr">
            <a:spAutoFit/>
          </a:bodyPr>
          <a:lstStyle/>
          <a:p>
            <a:pPr algn="ctr"/>
            <a:r>
              <a:rPr sz="1200" b="1" i="0">
                <a:solidFill>
                  <a:srgbClr val="FFFFFF"/>
                </a:solidFill>
                <a:latin typeface="Calibri"/>
              </a:rPr>
              <a:t>✓</a:t>
            </a:r>
          </a:p>
        </p:txBody>
      </p:sp>
      <p:sp>
        <p:nvSpPr>
          <p:cNvPr id="19" name="TextBox 18"/>
          <p:cNvSpPr txBox="1"/>
          <p:nvPr/>
        </p:nvSpPr>
        <p:spPr>
          <a:xfrm>
            <a:off x="8092440" y="3429000"/>
            <a:ext cx="1371600" cy="228600"/>
          </a:xfrm>
          <a:prstGeom prst="rect">
            <a:avLst/>
          </a:prstGeom>
          <a:noFill/>
        </p:spPr>
        <p:txBody>
          <a:bodyPr wrap="square" lIns="45720" rIns="45720" tIns="18288" bIns="18288" anchor="t">
            <a:spAutoFit/>
          </a:bodyPr>
          <a:lstStyle/>
          <a:p>
            <a:pPr algn="l"/>
            <a:r>
              <a:rPr sz="1200" b="1" i="0">
                <a:solidFill>
                  <a:srgbClr val="1E2761"/>
                </a:solidFill>
                <a:latin typeface="Consolas"/>
              </a:rPr>
              <a:t>ansible</a:t>
            </a:r>
          </a:p>
        </p:txBody>
      </p:sp>
      <p:sp>
        <p:nvSpPr>
          <p:cNvPr id="20" name="TextBox 19"/>
          <p:cNvSpPr txBox="1"/>
          <p:nvPr/>
        </p:nvSpPr>
        <p:spPr>
          <a:xfrm>
            <a:off x="8092440" y="3630168"/>
            <a:ext cx="3657600" cy="228600"/>
          </a:xfrm>
          <a:prstGeom prst="rect">
            <a:avLst/>
          </a:prstGeom>
          <a:noFill/>
        </p:spPr>
        <p:txBody>
          <a:bodyPr wrap="square" lIns="45720" rIns="45720" tIns="18288" bIns="18288" anchor="t">
            <a:spAutoFit/>
          </a:bodyPr>
          <a:lstStyle/>
          <a:p>
            <a:pPr algn="l"/>
            <a:r>
              <a:rPr sz="900" b="0" i="0">
                <a:solidFill>
                  <a:srgbClr val="64748B"/>
                </a:solidFill>
                <a:latin typeface="Calibri"/>
              </a:rPr>
              <a:t>ansible-lint · syntax-check · molecule (planifié)</a:t>
            </a:r>
          </a:p>
        </p:txBody>
      </p:sp>
      <p:sp>
        <p:nvSpPr>
          <p:cNvPr id="21" name="Rounded Rectangle 20"/>
          <p:cNvSpPr/>
          <p:nvPr/>
        </p:nvSpPr>
        <p:spPr>
          <a:xfrm>
            <a:off x="7589520" y="3886200"/>
            <a:ext cx="4297680" cy="457200"/>
          </a:xfrm>
          <a:prstGeom prst="round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680960" y="3977640"/>
            <a:ext cx="274320" cy="274320"/>
          </a:xfrm>
          <a:prstGeom prst="round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0" y="3950208"/>
            <a:ext cx="274320" cy="274320"/>
          </a:xfrm>
          <a:prstGeom prst="rect">
            <a:avLst/>
          </a:prstGeom>
          <a:noFill/>
        </p:spPr>
        <p:txBody>
          <a:bodyPr wrap="square" lIns="45720" rIns="45720" tIns="18288" bIns="18288" anchor="ctr">
            <a:spAutoFit/>
          </a:bodyPr>
          <a:lstStyle/>
          <a:p>
            <a:pPr algn="ctr"/>
            <a:r>
              <a:rPr sz="1200" b="1" i="0">
                <a:solidFill>
                  <a:srgbClr val="FFFFFF"/>
                </a:solidFill>
                <a:latin typeface="Calibri"/>
              </a:rPr>
              <a:t>✓</a:t>
            </a:r>
          </a:p>
        </p:txBody>
      </p:sp>
      <p:sp>
        <p:nvSpPr>
          <p:cNvPr id="24" name="TextBox 23"/>
          <p:cNvSpPr txBox="1"/>
          <p:nvPr/>
        </p:nvSpPr>
        <p:spPr>
          <a:xfrm>
            <a:off x="8092440" y="3931920"/>
            <a:ext cx="1371600" cy="228600"/>
          </a:xfrm>
          <a:prstGeom prst="rect">
            <a:avLst/>
          </a:prstGeom>
          <a:noFill/>
        </p:spPr>
        <p:txBody>
          <a:bodyPr wrap="square" lIns="45720" rIns="45720" tIns="18288" bIns="18288" anchor="t">
            <a:spAutoFit/>
          </a:bodyPr>
          <a:lstStyle/>
          <a:p>
            <a:pPr algn="l"/>
            <a:r>
              <a:rPr sz="1200" b="1" i="0">
                <a:solidFill>
                  <a:srgbClr val="1E2761"/>
                </a:solidFill>
                <a:latin typeface="Consolas"/>
              </a:rPr>
              <a:t>terraform</a:t>
            </a:r>
          </a:p>
        </p:txBody>
      </p:sp>
      <p:sp>
        <p:nvSpPr>
          <p:cNvPr id="25" name="TextBox 24"/>
          <p:cNvSpPr txBox="1"/>
          <p:nvPr/>
        </p:nvSpPr>
        <p:spPr>
          <a:xfrm>
            <a:off x="8092440" y="4133088"/>
            <a:ext cx="3657600" cy="228600"/>
          </a:xfrm>
          <a:prstGeom prst="rect">
            <a:avLst/>
          </a:prstGeom>
          <a:noFill/>
        </p:spPr>
        <p:txBody>
          <a:bodyPr wrap="square" lIns="45720" rIns="45720" tIns="18288" bIns="18288" anchor="t">
            <a:spAutoFit/>
          </a:bodyPr>
          <a:lstStyle/>
          <a:p>
            <a:pPr algn="l"/>
            <a:r>
              <a:rPr sz="900" b="0" i="0">
                <a:solidFill>
                  <a:srgbClr val="64748B"/>
                </a:solidFill>
                <a:latin typeface="Calibri"/>
              </a:rPr>
              <a:t>terraform validate · plan dry-run · checkov</a:t>
            </a:r>
          </a:p>
        </p:txBody>
      </p:sp>
      <p:sp>
        <p:nvSpPr>
          <p:cNvPr id="26" name="Rounded Rectangle 25"/>
          <p:cNvSpPr/>
          <p:nvPr/>
        </p:nvSpPr>
        <p:spPr>
          <a:xfrm>
            <a:off x="7589520" y="4389120"/>
            <a:ext cx="4297680" cy="457200"/>
          </a:xfrm>
          <a:prstGeom prst="round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7680960" y="4480560"/>
            <a:ext cx="274320" cy="274320"/>
          </a:xfrm>
          <a:prstGeom prst="round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0" y="4453128"/>
            <a:ext cx="274320" cy="274320"/>
          </a:xfrm>
          <a:prstGeom prst="rect">
            <a:avLst/>
          </a:prstGeom>
          <a:noFill/>
        </p:spPr>
        <p:txBody>
          <a:bodyPr wrap="square" lIns="45720" rIns="45720" tIns="18288" bIns="18288" anchor="ctr">
            <a:spAutoFit/>
          </a:bodyPr>
          <a:lstStyle/>
          <a:p>
            <a:pPr algn="ctr"/>
            <a:r>
              <a:rPr sz="1200" b="1" i="0">
                <a:solidFill>
                  <a:srgbClr val="FFFFFF"/>
                </a:solidFill>
                <a:latin typeface="Calibri"/>
              </a:rPr>
              <a:t>✓</a:t>
            </a:r>
          </a:p>
        </p:txBody>
      </p:sp>
      <p:sp>
        <p:nvSpPr>
          <p:cNvPr id="29" name="TextBox 28"/>
          <p:cNvSpPr txBox="1"/>
          <p:nvPr/>
        </p:nvSpPr>
        <p:spPr>
          <a:xfrm>
            <a:off x="8092440" y="4434840"/>
            <a:ext cx="1371600" cy="228600"/>
          </a:xfrm>
          <a:prstGeom prst="rect">
            <a:avLst/>
          </a:prstGeom>
          <a:noFill/>
        </p:spPr>
        <p:txBody>
          <a:bodyPr wrap="square" lIns="45720" rIns="45720" tIns="18288" bIns="18288" anchor="t">
            <a:spAutoFit/>
          </a:bodyPr>
          <a:lstStyle/>
          <a:p>
            <a:pPr algn="l"/>
            <a:r>
              <a:rPr sz="1200" b="1" i="0">
                <a:solidFill>
                  <a:srgbClr val="1E2761"/>
                </a:solidFill>
                <a:latin typeface="Consolas"/>
              </a:rPr>
              <a:t>release</a:t>
            </a:r>
          </a:p>
        </p:txBody>
      </p:sp>
      <p:sp>
        <p:nvSpPr>
          <p:cNvPr id="30" name="TextBox 29"/>
          <p:cNvSpPr txBox="1"/>
          <p:nvPr/>
        </p:nvSpPr>
        <p:spPr>
          <a:xfrm>
            <a:off x="8092440" y="4636008"/>
            <a:ext cx="3657600" cy="228600"/>
          </a:xfrm>
          <a:prstGeom prst="rect">
            <a:avLst/>
          </a:prstGeom>
          <a:noFill/>
        </p:spPr>
        <p:txBody>
          <a:bodyPr wrap="square" lIns="45720" rIns="45720" tIns="18288" bIns="18288" anchor="t">
            <a:spAutoFit/>
          </a:bodyPr>
          <a:lstStyle/>
          <a:p>
            <a:pPr algn="l"/>
            <a:r>
              <a:rPr sz="900" b="0" i="0">
                <a:solidFill>
                  <a:srgbClr val="64748B"/>
                </a:solidFill>
                <a:latin typeface="Calibri"/>
              </a:rPr>
              <a:t>tag-driven · auto-changelog · pptx export</a:t>
            </a:r>
          </a:p>
        </p:txBody>
      </p:sp>
      <p:sp>
        <p:nvSpPr>
          <p:cNvPr id="31" name="Rounded Rectangle 30"/>
          <p:cNvSpPr/>
          <p:nvPr/>
        </p:nvSpPr>
        <p:spPr>
          <a:xfrm>
            <a:off x="7589520" y="5029200"/>
            <a:ext cx="4297680" cy="914400"/>
          </a:xfrm>
          <a:prstGeom prst="round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26680" y="5120640"/>
            <a:ext cx="4023360" cy="274320"/>
          </a:xfrm>
          <a:prstGeom prst="rect">
            <a:avLst/>
          </a:prstGeom>
          <a:noFill/>
        </p:spPr>
        <p:txBody>
          <a:bodyPr wrap="square" lIns="45720" rIns="45720" tIns="18288" bIns="18288" anchor="t">
            <a:spAutoFit/>
          </a:bodyPr>
          <a:lstStyle/>
          <a:p>
            <a:pPr algn="l"/>
            <a:r>
              <a:rPr sz="1200" b="1" i="0">
                <a:solidFill>
                  <a:srgbClr val="CADCFC"/>
                </a:solidFill>
                <a:latin typeface="Calibri"/>
              </a:rPr>
              <a:t>Conventional Commits</a:t>
            </a:r>
          </a:p>
        </p:txBody>
      </p:sp>
      <p:sp>
        <p:nvSpPr>
          <p:cNvPr id="33" name="TextBox 32"/>
          <p:cNvSpPr txBox="1"/>
          <p:nvPr/>
        </p:nvSpPr>
        <p:spPr>
          <a:xfrm>
            <a:off x="7726680" y="5394960"/>
            <a:ext cx="4023360" cy="548640"/>
          </a:xfrm>
          <a:prstGeom prst="rect">
            <a:avLst/>
          </a:prstGeom>
          <a:noFill/>
        </p:spPr>
        <p:txBody>
          <a:bodyPr wrap="square" lIns="45720" rIns="45720" tIns="18288" bIns="18288" anchor="t">
            <a:spAutoFit/>
          </a:bodyPr>
          <a:lstStyle/>
          <a:p>
            <a:pPr algn="l"/>
            <a:r>
              <a:rPr sz="1000" b="0" i="0">
                <a:solidFill>
                  <a:srgbClr val="CADCFC"/>
                </a:solidFill>
                <a:latin typeface="Calibri"/>
              </a:rPr>
              <a:t>feat / fix / docs / chore + scope obligatoire
PR template · reviewers · CODEOWNERS</a:t>
            </a:r>
          </a:p>
        </p:txBody>
      </p:sp>
      <p:sp>
        <p:nvSpPr>
          <p:cNvPr id="34" name="TextBox 33"/>
          <p:cNvSpPr txBox="1"/>
          <p:nvPr/>
        </p:nvSpPr>
        <p:spPr>
          <a:xfrm>
            <a:off x="457200" y="6446520"/>
            <a:ext cx="5486400" cy="320040"/>
          </a:xfrm>
          <a:prstGeom prst="rect">
            <a:avLst/>
          </a:prstGeom>
          <a:noFill/>
        </p:spPr>
        <p:txBody>
          <a:bodyPr wrap="square" lIns="45720" rIns="45720" tIns="18288" bIns="18288" anchor="t">
            <a:spAutoFit/>
          </a:bodyPr>
          <a:lstStyle/>
          <a:p>
            <a:pPr algn="l"/>
            <a:r>
              <a:rPr sz="900" b="0" i="0">
                <a:solidFill>
                  <a:srgbClr val="64748B"/>
                </a:solidFill>
                <a:latin typeface="Calibri"/>
              </a:rPr>
              <a:t>CIA · Hybrid Infrastructure · GR46</a:t>
            </a:r>
          </a:p>
        </p:txBody>
      </p:sp>
      <p:sp>
        <p:nvSpPr>
          <p:cNvPr id="35" name="TextBox 34"/>
          <p:cNvSpPr txBox="1"/>
          <p:nvPr/>
        </p:nvSpPr>
        <p:spPr>
          <a:xfrm>
            <a:off x="10515600" y="6446520"/>
            <a:ext cx="1188720" cy="320040"/>
          </a:xfrm>
          <a:prstGeom prst="rect">
            <a:avLst/>
          </a:prstGeom>
          <a:noFill/>
        </p:spPr>
        <p:txBody>
          <a:bodyPr wrap="square" lIns="45720" rIns="45720" tIns="18288" bIns="18288" anchor="t">
            <a:spAutoFit/>
          </a:bodyPr>
          <a:lstStyle/>
          <a:p>
            <a:pPr algn="r"/>
            <a:r>
              <a:rPr sz="900" b="0" i="0">
                <a:solidFill>
                  <a:srgbClr val="64748B"/>
                </a:solidFill>
                <a:latin typeface="Calibri"/>
              </a:rPr>
              <a:t>13 / 15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0972800" cy="640080"/>
          </a:xfrm>
          <a:prstGeom prst="rect">
            <a:avLst/>
          </a:prstGeom>
          <a:noFill/>
        </p:spPr>
        <p:txBody>
          <a:bodyPr wrap="square" lIns="45720" rIns="45720" tIns="18288" bIns="18288" anchor="t">
            <a:spAutoFit/>
          </a:bodyPr>
          <a:lstStyle/>
          <a:p>
            <a:pPr algn="l"/>
            <a:r>
              <a:rPr sz="3600" b="1" i="0">
                <a:solidFill>
                  <a:srgbClr val="1E2761"/>
                </a:solidFill>
                <a:latin typeface="Trebuchet MS"/>
              </a:rPr>
              <a:t>Golden path · nouveau site</a:t>
            </a:r>
          </a:p>
        </p:txBody>
      </p:sp>
      <p:sp>
        <p:nvSpPr>
          <p:cNvPr id="3" name="TextBox 2"/>
          <p:cNvSpPr txBox="1"/>
          <p:nvPr/>
        </p:nvSpPr>
        <p:spPr>
          <a:xfrm>
            <a:off x="457200" y="1051560"/>
            <a:ext cx="10972800" cy="457200"/>
          </a:xfrm>
          <a:prstGeom prst="rect">
            <a:avLst/>
          </a:prstGeom>
          <a:noFill/>
        </p:spPr>
        <p:txBody>
          <a:bodyPr wrap="square" lIns="45720" rIns="45720" tIns="18288" bIns="18288" anchor="t">
            <a:spAutoFit/>
          </a:bodyPr>
          <a:lstStyle/>
          <a:p>
            <a:pPr algn="l"/>
            <a:r>
              <a:rPr sz="1400" b="0" i="1">
                <a:solidFill>
                  <a:srgbClr val="64748B"/>
                </a:solidFill>
                <a:latin typeface="Calibri"/>
              </a:rPr>
              <a:t>On-prem Proxmox ou cloud Azure · matrice de décision · reproduction en 1 run</a:t>
            </a:r>
          </a:p>
        </p:txBody>
      </p:sp>
      <p:sp>
        <p:nvSpPr>
          <p:cNvPr id="4" name="Rounded Rectangle 3"/>
          <p:cNvSpPr/>
          <p:nvPr/>
        </p:nvSpPr>
        <p:spPr>
          <a:xfrm>
            <a:off x="457200" y="1828800"/>
            <a:ext cx="5486400" cy="4114800"/>
          </a:xfrm>
          <a:prstGeom prst="round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0"/>
            <a:ext cx="5486400" cy="365760"/>
          </a:xfrm>
          <a:prstGeom prst="rect">
            <a:avLst/>
          </a:prstGeom>
          <a:noFill/>
        </p:spPr>
        <p:txBody>
          <a:bodyPr wrap="square" lIns="45720" rIns="45720" tIns="18288" bIns="18288" anchor="t">
            <a:spAutoFit/>
          </a:bodyPr>
          <a:lstStyle/>
          <a:p>
            <a:pPr algn="ctr"/>
            <a:r>
              <a:rPr sz="1600" b="1" i="0">
                <a:solidFill>
                  <a:srgbClr val="38BDF8"/>
                </a:solidFill>
                <a:latin typeface="Calibri"/>
              </a:rPr>
              <a:t>ON-PREM PROXMOX</a:t>
            </a:r>
          </a:p>
        </p:txBody>
      </p:sp>
      <p:sp>
        <p:nvSpPr>
          <p:cNvPr id="6" name="TextBox 5"/>
          <p:cNvSpPr txBox="1"/>
          <p:nvPr/>
        </p:nvSpPr>
        <p:spPr>
          <a:xfrm>
            <a:off x="457200" y="2423160"/>
            <a:ext cx="5486400" cy="274320"/>
          </a:xfrm>
          <a:prstGeom prst="rect">
            <a:avLst/>
          </a:prstGeom>
          <a:noFill/>
        </p:spPr>
        <p:txBody>
          <a:bodyPr wrap="square" lIns="45720" rIns="45720" tIns="18288" bIns="18288" anchor="t">
            <a:spAutoFit/>
          </a:bodyPr>
          <a:lstStyle/>
          <a:p>
            <a:pPr algn="ctr"/>
            <a:r>
              <a:rPr sz="1200" b="0" i="1">
                <a:solidFill>
                  <a:srgbClr val="CADCFC"/>
                </a:solidFill>
                <a:latin typeface="Calibri"/>
              </a:rPr>
              <a:t>École · convention · gratuit</a:t>
            </a:r>
          </a:p>
        </p:txBody>
      </p:sp>
      <p:sp>
        <p:nvSpPr>
          <p:cNvPr id="7" name="TextBox 6"/>
          <p:cNvSpPr txBox="1"/>
          <p:nvPr/>
        </p:nvSpPr>
        <p:spPr>
          <a:xfrm>
            <a:off x="822960" y="2834640"/>
            <a:ext cx="4754880" cy="274320"/>
          </a:xfrm>
          <a:prstGeom prst="rect">
            <a:avLst/>
          </a:prstGeom>
          <a:noFill/>
        </p:spPr>
        <p:txBody>
          <a:bodyPr wrap="square" lIns="45720" rIns="45720" tIns="18288" bIns="18288" anchor="t">
            <a:spAutoFit/>
          </a:bodyPr>
          <a:lstStyle/>
          <a:p>
            <a:pPr algn="l"/>
            <a:r>
              <a:rPr sz="1400" b="1" i="0">
                <a:solidFill>
                  <a:srgbClr val="FFFFFF"/>
                </a:solidFill>
                <a:latin typeface="Calibri"/>
              </a:rPr>
              <a:t>⏱  1 jour</a:t>
            </a:r>
          </a:p>
        </p:txBody>
      </p:sp>
      <p:sp>
        <p:nvSpPr>
          <p:cNvPr id="8" name="TextBox 7"/>
          <p:cNvSpPr txBox="1"/>
          <p:nvPr/>
        </p:nvSpPr>
        <p:spPr>
          <a:xfrm>
            <a:off x="822960" y="3108960"/>
            <a:ext cx="4754880" cy="228600"/>
          </a:xfrm>
          <a:prstGeom prst="rect">
            <a:avLst/>
          </a:prstGeom>
          <a:noFill/>
        </p:spPr>
        <p:txBody>
          <a:bodyPr wrap="square" lIns="45720" rIns="45720" tIns="18288" bIns="18288" anchor="t">
            <a:spAutoFit/>
          </a:bodyPr>
          <a:lstStyle/>
          <a:p>
            <a:pPr algn="l"/>
            <a:r>
              <a:rPr sz="1000" b="0" i="1">
                <a:solidFill>
                  <a:srgbClr val="CADCFC"/>
                </a:solidFill>
                <a:latin typeface="Calibri"/>
              </a:rPr>
              <a:t>convention école → provision</a:t>
            </a:r>
          </a:p>
        </p:txBody>
      </p:sp>
      <p:sp>
        <p:nvSpPr>
          <p:cNvPr id="9" name="TextBox 8"/>
          <p:cNvSpPr txBox="1"/>
          <p:nvPr/>
        </p:nvSpPr>
        <p:spPr>
          <a:xfrm>
            <a:off x="822960" y="3383280"/>
            <a:ext cx="4754880" cy="274320"/>
          </a:xfrm>
          <a:prstGeom prst="rect">
            <a:avLst/>
          </a:prstGeom>
          <a:noFill/>
        </p:spPr>
        <p:txBody>
          <a:bodyPr wrap="square" lIns="45720" rIns="45720" tIns="18288" bIns="18288" anchor="t">
            <a:spAutoFit/>
          </a:bodyPr>
          <a:lstStyle/>
          <a:p>
            <a:pPr algn="l"/>
            <a:r>
              <a:rPr sz="1400" b="1" i="0">
                <a:solidFill>
                  <a:srgbClr val="FFFFFF"/>
                </a:solidFill>
                <a:latin typeface="Calibri"/>
              </a:rPr>
              <a:t>💰 Inclus</a:t>
            </a:r>
          </a:p>
        </p:txBody>
      </p:sp>
      <p:sp>
        <p:nvSpPr>
          <p:cNvPr id="10" name="TextBox 9"/>
          <p:cNvSpPr txBox="1"/>
          <p:nvPr/>
        </p:nvSpPr>
        <p:spPr>
          <a:xfrm>
            <a:off x="822960" y="3657600"/>
            <a:ext cx="4754880" cy="228600"/>
          </a:xfrm>
          <a:prstGeom prst="rect">
            <a:avLst/>
          </a:prstGeom>
          <a:noFill/>
        </p:spPr>
        <p:txBody>
          <a:bodyPr wrap="square" lIns="45720" rIns="45720" tIns="18288" bIns="18288" anchor="t">
            <a:spAutoFit/>
          </a:bodyPr>
          <a:lstStyle/>
          <a:p>
            <a:pPr algn="l"/>
            <a:r>
              <a:rPr sz="1000" b="0" i="1">
                <a:solidFill>
                  <a:srgbClr val="CADCFC"/>
                </a:solidFill>
                <a:latin typeface="Calibri"/>
              </a:rPr>
              <a:t>matériel école dédié</a:t>
            </a:r>
          </a:p>
        </p:txBody>
      </p:sp>
      <p:sp>
        <p:nvSpPr>
          <p:cNvPr id="11" name="TextBox 10"/>
          <p:cNvSpPr txBox="1"/>
          <p:nvPr/>
        </p:nvSpPr>
        <p:spPr>
          <a:xfrm>
            <a:off x="822960" y="3931920"/>
            <a:ext cx="4754880" cy="274320"/>
          </a:xfrm>
          <a:prstGeom prst="rect">
            <a:avLst/>
          </a:prstGeom>
          <a:noFill/>
        </p:spPr>
        <p:txBody>
          <a:bodyPr wrap="square" lIns="45720" rIns="45720" tIns="18288" bIns="18288" anchor="t">
            <a:spAutoFit/>
          </a:bodyPr>
          <a:lstStyle/>
          <a:p>
            <a:pPr algn="l"/>
            <a:r>
              <a:rPr sz="1400" b="1" i="0">
                <a:solidFill>
                  <a:srgbClr val="FFFFFF"/>
                </a:solidFill>
                <a:latin typeface="Calibri"/>
              </a:rPr>
              <a:t>⚡ &lt; 5 ms</a:t>
            </a:r>
          </a:p>
        </p:txBody>
      </p:sp>
      <p:sp>
        <p:nvSpPr>
          <p:cNvPr id="12" name="TextBox 11"/>
          <p:cNvSpPr txBox="1"/>
          <p:nvPr/>
        </p:nvSpPr>
        <p:spPr>
          <a:xfrm>
            <a:off x="822960" y="4206240"/>
            <a:ext cx="4754880" cy="228600"/>
          </a:xfrm>
          <a:prstGeom prst="rect">
            <a:avLst/>
          </a:prstGeom>
          <a:noFill/>
        </p:spPr>
        <p:txBody>
          <a:bodyPr wrap="square" lIns="45720" rIns="45720" tIns="18288" bIns="18288" anchor="t">
            <a:spAutoFit/>
          </a:bodyPr>
          <a:lstStyle/>
          <a:p>
            <a:pPr algn="l"/>
            <a:r>
              <a:rPr sz="1000" b="0" i="1">
                <a:solidFill>
                  <a:srgbClr val="CADCFC"/>
                </a:solidFill>
                <a:latin typeface="Calibri"/>
              </a:rPr>
              <a:t>latence LAN école</a:t>
            </a:r>
          </a:p>
        </p:txBody>
      </p:sp>
      <p:sp>
        <p:nvSpPr>
          <p:cNvPr id="13" name="TextBox 12"/>
          <p:cNvSpPr txBox="1"/>
          <p:nvPr/>
        </p:nvSpPr>
        <p:spPr>
          <a:xfrm>
            <a:off x="822960" y="4480560"/>
            <a:ext cx="4754880" cy="274320"/>
          </a:xfrm>
          <a:prstGeom prst="rect">
            <a:avLst/>
          </a:prstGeom>
          <a:noFill/>
        </p:spPr>
        <p:txBody>
          <a:bodyPr wrap="square" lIns="45720" rIns="45720" tIns="18288" bIns="18288" anchor="t">
            <a:spAutoFit/>
          </a:bodyPr>
          <a:lstStyle/>
          <a:p>
            <a:pPr algn="l"/>
            <a:r>
              <a:rPr sz="1400" b="1" i="0">
                <a:solidFill>
                  <a:srgbClr val="FFFFFF"/>
                </a:solidFill>
                <a:latin typeface="Calibri"/>
              </a:rPr>
              <a:t>📦 Templates</a:t>
            </a:r>
          </a:p>
        </p:txBody>
      </p:sp>
      <p:sp>
        <p:nvSpPr>
          <p:cNvPr id="14" name="TextBox 13"/>
          <p:cNvSpPr txBox="1"/>
          <p:nvPr/>
        </p:nvSpPr>
        <p:spPr>
          <a:xfrm>
            <a:off x="822960" y="4754880"/>
            <a:ext cx="4754880" cy="228600"/>
          </a:xfrm>
          <a:prstGeom prst="rect">
            <a:avLst/>
          </a:prstGeom>
          <a:noFill/>
        </p:spPr>
        <p:txBody>
          <a:bodyPr wrap="square" lIns="45720" rIns="45720" tIns="18288" bIns="18288" anchor="t">
            <a:spAutoFit/>
          </a:bodyPr>
          <a:lstStyle/>
          <a:p>
            <a:pPr algn="l"/>
            <a:r>
              <a:rPr sz="1000" b="0" i="1">
                <a:solidFill>
                  <a:srgbClr val="CADCFC"/>
                </a:solidFill>
                <a:latin typeface="Calibri"/>
              </a:rPr>
              <a:t>Ubuntu/pfSense locaux</a:t>
            </a:r>
          </a:p>
        </p:txBody>
      </p:sp>
      <p:sp>
        <p:nvSpPr>
          <p:cNvPr id="15" name="TextBox 14"/>
          <p:cNvSpPr txBox="1"/>
          <p:nvPr/>
        </p:nvSpPr>
        <p:spPr>
          <a:xfrm>
            <a:off x="822960" y="5029200"/>
            <a:ext cx="4754880" cy="274320"/>
          </a:xfrm>
          <a:prstGeom prst="rect">
            <a:avLst/>
          </a:prstGeom>
          <a:noFill/>
        </p:spPr>
        <p:txBody>
          <a:bodyPr wrap="square" lIns="45720" rIns="45720" tIns="18288" bIns="18288" anchor="t">
            <a:spAutoFit/>
          </a:bodyPr>
          <a:lstStyle/>
          <a:p>
            <a:pPr algn="l"/>
            <a:r>
              <a:rPr sz="1400" b="1" i="0">
                <a:solidFill>
                  <a:srgbClr val="FFFFFF"/>
                </a:solidFill>
                <a:latin typeface="Calibri"/>
              </a:rPr>
              <a:t>✅ Stable</a:t>
            </a:r>
          </a:p>
        </p:txBody>
      </p:sp>
      <p:sp>
        <p:nvSpPr>
          <p:cNvPr id="16" name="TextBox 15"/>
          <p:cNvSpPr txBox="1"/>
          <p:nvPr/>
        </p:nvSpPr>
        <p:spPr>
          <a:xfrm>
            <a:off x="822960" y="5303520"/>
            <a:ext cx="4754880" cy="228600"/>
          </a:xfrm>
          <a:prstGeom prst="rect">
            <a:avLst/>
          </a:prstGeom>
          <a:noFill/>
        </p:spPr>
        <p:txBody>
          <a:bodyPr wrap="square" lIns="45720" rIns="45720" tIns="18288" bIns="18288" anchor="t">
            <a:spAutoFit/>
          </a:bodyPr>
          <a:lstStyle/>
          <a:p>
            <a:pPr algn="l"/>
            <a:r>
              <a:rPr sz="1000" b="0" i="1">
                <a:solidFill>
                  <a:srgbClr val="CADCFC"/>
                </a:solidFill>
                <a:latin typeface="Calibri"/>
              </a:rPr>
              <a:t>services persistants critiques</a:t>
            </a:r>
          </a:p>
        </p:txBody>
      </p:sp>
      <p:sp>
        <p:nvSpPr>
          <p:cNvPr id="17" name="Rounded Rectangle 16"/>
          <p:cNvSpPr/>
          <p:nvPr/>
        </p:nvSpPr>
        <p:spPr>
          <a:xfrm>
            <a:off x="6309360" y="1828800"/>
            <a:ext cx="5486400" cy="4114800"/>
          </a:xfrm>
          <a:prstGeom prst="roundRect">
            <a:avLst/>
          </a:prstGeom>
          <a:solidFill>
            <a:srgbClr val="101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0" y="2011680"/>
            <a:ext cx="5486400" cy="365760"/>
          </a:xfrm>
          <a:prstGeom prst="rect">
            <a:avLst/>
          </a:prstGeom>
          <a:noFill/>
        </p:spPr>
        <p:txBody>
          <a:bodyPr wrap="square" lIns="45720" rIns="45720" tIns="18288" bIns="18288" anchor="t">
            <a:spAutoFit/>
          </a:bodyPr>
          <a:lstStyle/>
          <a:p>
            <a:pPr algn="ctr"/>
            <a:r>
              <a:rPr sz="1600" b="1" i="0">
                <a:solidFill>
                  <a:srgbClr val="38BDF8"/>
                </a:solidFill>
                <a:latin typeface="Calibri"/>
              </a:rPr>
              <a:t>CLOUD AZURE (Site C)</a:t>
            </a:r>
          </a:p>
        </p:txBody>
      </p:sp>
      <p:sp>
        <p:nvSpPr>
          <p:cNvPr id="19" name="TextBox 18"/>
          <p:cNvSpPr txBox="1"/>
          <p:nvPr/>
        </p:nvSpPr>
        <p:spPr>
          <a:xfrm>
            <a:off x="6309360" y="2423160"/>
            <a:ext cx="5486400" cy="274320"/>
          </a:xfrm>
          <a:prstGeom prst="rect">
            <a:avLst/>
          </a:prstGeom>
          <a:noFill/>
        </p:spPr>
        <p:txBody>
          <a:bodyPr wrap="square" lIns="45720" rIns="45720" tIns="18288" bIns="18288" anchor="t">
            <a:spAutoFit/>
          </a:bodyPr>
          <a:lstStyle/>
          <a:p>
            <a:pPr algn="ctr"/>
            <a:r>
              <a:rPr sz="1200" b="0" i="1">
                <a:solidFill>
                  <a:srgbClr val="CADCFC"/>
                </a:solidFill>
                <a:latin typeface="Calibri"/>
              </a:rPr>
              <a:t>Students subscription · code complet livré</a:t>
            </a:r>
          </a:p>
        </p:txBody>
      </p:sp>
      <p:sp>
        <p:nvSpPr>
          <p:cNvPr id="20" name="TextBox 19"/>
          <p:cNvSpPr txBox="1"/>
          <p:nvPr/>
        </p:nvSpPr>
        <p:spPr>
          <a:xfrm>
            <a:off x="6675120" y="2834640"/>
            <a:ext cx="4754880" cy="274320"/>
          </a:xfrm>
          <a:prstGeom prst="rect">
            <a:avLst/>
          </a:prstGeom>
          <a:noFill/>
        </p:spPr>
        <p:txBody>
          <a:bodyPr wrap="square" lIns="45720" rIns="45720" tIns="18288" bIns="18288" anchor="t">
            <a:spAutoFit/>
          </a:bodyPr>
          <a:lstStyle/>
          <a:p>
            <a:pPr algn="l"/>
            <a:r>
              <a:rPr sz="1400" b="1" i="0">
                <a:solidFill>
                  <a:srgbClr val="FFFFFF"/>
                </a:solidFill>
                <a:latin typeface="Calibri"/>
              </a:rPr>
              <a:t>⏱  5 min</a:t>
            </a:r>
          </a:p>
        </p:txBody>
      </p:sp>
      <p:sp>
        <p:nvSpPr>
          <p:cNvPr id="21" name="TextBox 20"/>
          <p:cNvSpPr txBox="1"/>
          <p:nvPr/>
        </p:nvSpPr>
        <p:spPr>
          <a:xfrm>
            <a:off x="6675120" y="3108960"/>
            <a:ext cx="4754880" cy="228600"/>
          </a:xfrm>
          <a:prstGeom prst="rect">
            <a:avLst/>
          </a:prstGeom>
          <a:noFill/>
        </p:spPr>
        <p:txBody>
          <a:bodyPr wrap="square" lIns="45720" rIns="45720" tIns="18288" bIns="18288" anchor="t">
            <a:spAutoFit/>
          </a:bodyPr>
          <a:lstStyle/>
          <a:p>
            <a:pPr algn="l"/>
            <a:r>
              <a:rPr sz="1000" b="0" i="1">
                <a:solidFill>
                  <a:srgbClr val="CADCFC"/>
                </a:solidFill>
                <a:latin typeface="Calibri"/>
              </a:rPr>
              <a:t>code Terraform azurerm prêt</a:t>
            </a:r>
          </a:p>
        </p:txBody>
      </p:sp>
      <p:sp>
        <p:nvSpPr>
          <p:cNvPr id="22" name="TextBox 21"/>
          <p:cNvSpPr txBox="1"/>
          <p:nvPr/>
        </p:nvSpPr>
        <p:spPr>
          <a:xfrm>
            <a:off x="6675120" y="3383280"/>
            <a:ext cx="4754880" cy="274320"/>
          </a:xfrm>
          <a:prstGeom prst="rect">
            <a:avLst/>
          </a:prstGeom>
          <a:noFill/>
        </p:spPr>
        <p:txBody>
          <a:bodyPr wrap="square" lIns="45720" rIns="45720" tIns="18288" bIns="18288" anchor="t">
            <a:spAutoFit/>
          </a:bodyPr>
          <a:lstStyle/>
          <a:p>
            <a:pPr algn="l"/>
            <a:r>
              <a:rPr sz="1400" b="1" i="0">
                <a:solidFill>
                  <a:srgbClr val="FFFFFF"/>
                </a:solidFill>
                <a:latin typeface="Calibri"/>
              </a:rPr>
              <a:t>💰 ~10 €/mois</a:t>
            </a:r>
          </a:p>
        </p:txBody>
      </p:sp>
      <p:sp>
        <p:nvSpPr>
          <p:cNvPr id="23" name="TextBox 22"/>
          <p:cNvSpPr txBox="1"/>
          <p:nvPr/>
        </p:nvSpPr>
        <p:spPr>
          <a:xfrm>
            <a:off x="6675120" y="3657600"/>
            <a:ext cx="4754880" cy="228600"/>
          </a:xfrm>
          <a:prstGeom prst="rect">
            <a:avLst/>
          </a:prstGeom>
          <a:noFill/>
        </p:spPr>
        <p:txBody>
          <a:bodyPr wrap="square" lIns="45720" rIns="45720" tIns="18288" bIns="18288" anchor="t">
            <a:spAutoFit/>
          </a:bodyPr>
          <a:lstStyle/>
          <a:p>
            <a:pPr algn="l"/>
            <a:r>
              <a:rPr sz="1000" b="0" i="1">
                <a:solidFill>
                  <a:srgbClr val="CADCFC"/>
                </a:solidFill>
                <a:latin typeface="Calibri"/>
              </a:rPr>
              <a:t>B2s H24 · démo = quelques €</a:t>
            </a:r>
          </a:p>
        </p:txBody>
      </p:sp>
      <p:sp>
        <p:nvSpPr>
          <p:cNvPr id="24" name="TextBox 23"/>
          <p:cNvSpPr txBox="1"/>
          <p:nvPr/>
        </p:nvSpPr>
        <p:spPr>
          <a:xfrm>
            <a:off x="6675120" y="3931920"/>
            <a:ext cx="4754880" cy="274320"/>
          </a:xfrm>
          <a:prstGeom prst="rect">
            <a:avLst/>
          </a:prstGeom>
          <a:noFill/>
        </p:spPr>
        <p:txBody>
          <a:bodyPr wrap="square" lIns="45720" rIns="45720" tIns="18288" bIns="18288" anchor="t">
            <a:spAutoFit/>
          </a:bodyPr>
          <a:lstStyle/>
          <a:p>
            <a:pPr algn="l"/>
            <a:r>
              <a:rPr sz="1400" b="1" i="0">
                <a:solidFill>
                  <a:srgbClr val="FFFFFF"/>
                </a:solidFill>
                <a:latin typeface="Calibri"/>
              </a:rPr>
              <a:t>⚡ 15-30 ms</a:t>
            </a:r>
          </a:p>
        </p:txBody>
      </p:sp>
      <p:sp>
        <p:nvSpPr>
          <p:cNvPr id="25" name="TextBox 24"/>
          <p:cNvSpPr txBox="1"/>
          <p:nvPr/>
        </p:nvSpPr>
        <p:spPr>
          <a:xfrm>
            <a:off x="6675120" y="4206240"/>
            <a:ext cx="4754880" cy="228600"/>
          </a:xfrm>
          <a:prstGeom prst="rect">
            <a:avLst/>
          </a:prstGeom>
          <a:noFill/>
        </p:spPr>
        <p:txBody>
          <a:bodyPr wrap="square" lIns="45720" rIns="45720" tIns="18288" bIns="18288" anchor="t">
            <a:spAutoFit/>
          </a:bodyPr>
          <a:lstStyle/>
          <a:p>
            <a:pPr algn="l"/>
            <a:r>
              <a:rPr sz="1000" b="0" i="1">
                <a:solidFill>
                  <a:srgbClr val="CADCFC"/>
                </a:solidFill>
                <a:latin typeface="Calibri"/>
              </a:rPr>
              <a:t>francecentral / germanywestcentral</a:t>
            </a:r>
          </a:p>
        </p:txBody>
      </p:sp>
      <p:sp>
        <p:nvSpPr>
          <p:cNvPr id="26" name="TextBox 25"/>
          <p:cNvSpPr txBox="1"/>
          <p:nvPr/>
        </p:nvSpPr>
        <p:spPr>
          <a:xfrm>
            <a:off x="6675120" y="4480560"/>
            <a:ext cx="4754880" cy="274320"/>
          </a:xfrm>
          <a:prstGeom prst="rect">
            <a:avLst/>
          </a:prstGeom>
          <a:noFill/>
        </p:spPr>
        <p:txBody>
          <a:bodyPr wrap="square" lIns="45720" rIns="45720" tIns="18288" bIns="18288" anchor="t">
            <a:spAutoFit/>
          </a:bodyPr>
          <a:lstStyle/>
          <a:p>
            <a:pPr algn="l"/>
            <a:r>
              <a:rPr sz="1400" b="1" i="0">
                <a:solidFill>
                  <a:srgbClr val="FFFFFF"/>
                </a:solidFill>
                <a:latin typeface="Calibri"/>
              </a:rPr>
              <a:t>📦 Cloud-init</a:t>
            </a:r>
          </a:p>
        </p:txBody>
      </p:sp>
      <p:sp>
        <p:nvSpPr>
          <p:cNvPr id="27" name="TextBox 26"/>
          <p:cNvSpPr txBox="1"/>
          <p:nvPr/>
        </p:nvSpPr>
        <p:spPr>
          <a:xfrm>
            <a:off x="6675120" y="4754880"/>
            <a:ext cx="4754880" cy="228600"/>
          </a:xfrm>
          <a:prstGeom prst="rect">
            <a:avLst/>
          </a:prstGeom>
          <a:noFill/>
        </p:spPr>
        <p:txBody>
          <a:bodyPr wrap="square" lIns="45720" rIns="45720" tIns="18288" bIns="18288" anchor="t">
            <a:spAutoFit/>
          </a:bodyPr>
          <a:lstStyle/>
          <a:p>
            <a:pPr algn="l"/>
            <a:r>
              <a:rPr sz="1000" b="0" i="1">
                <a:solidFill>
                  <a:srgbClr val="CADCFC"/>
                </a:solidFill>
                <a:latin typeface="Calibri"/>
              </a:rPr>
              <a:t>Docker CE auto-installé</a:t>
            </a:r>
          </a:p>
        </p:txBody>
      </p:sp>
      <p:sp>
        <p:nvSpPr>
          <p:cNvPr id="28" name="TextBox 27"/>
          <p:cNvSpPr txBox="1"/>
          <p:nvPr/>
        </p:nvSpPr>
        <p:spPr>
          <a:xfrm>
            <a:off x="6675120" y="5029200"/>
            <a:ext cx="4754880" cy="274320"/>
          </a:xfrm>
          <a:prstGeom prst="rect">
            <a:avLst/>
          </a:prstGeom>
          <a:noFill/>
        </p:spPr>
        <p:txBody>
          <a:bodyPr wrap="square" lIns="45720" rIns="45720" tIns="18288" bIns="18288" anchor="t">
            <a:spAutoFit/>
          </a:bodyPr>
          <a:lstStyle/>
          <a:p>
            <a:pPr algn="l"/>
            <a:r>
              <a:rPr sz="1400" b="1" i="0">
                <a:solidFill>
                  <a:srgbClr val="FFFFFF"/>
                </a:solidFill>
                <a:latin typeface="Calibri"/>
              </a:rPr>
              <a:t>⚠ 7/8 runtime</a:t>
            </a:r>
          </a:p>
        </p:txBody>
      </p:sp>
      <p:sp>
        <p:nvSpPr>
          <p:cNvPr id="29" name="TextBox 28"/>
          <p:cNvSpPr txBox="1"/>
          <p:nvPr/>
        </p:nvSpPr>
        <p:spPr>
          <a:xfrm>
            <a:off x="6675120" y="5303520"/>
            <a:ext cx="4754880" cy="228600"/>
          </a:xfrm>
          <a:prstGeom prst="rect">
            <a:avLst/>
          </a:prstGeom>
          <a:noFill/>
        </p:spPr>
        <p:txBody>
          <a:bodyPr wrap="square" lIns="45720" rIns="45720" tIns="18288" bIns="18288" anchor="t">
            <a:spAutoFit/>
          </a:bodyPr>
          <a:lstStyle/>
          <a:p>
            <a:pPr algn="l"/>
            <a:r>
              <a:rPr sz="1000" b="0" i="1">
                <a:solidFill>
                  <a:srgbClr val="CADCFC"/>
                </a:solidFill>
                <a:latin typeface="Calibri"/>
              </a:rPr>
              <a:t>VM bloquée capacity Students</a:t>
            </a:r>
          </a:p>
        </p:txBody>
      </p:sp>
      <p:sp>
        <p:nvSpPr>
          <p:cNvPr id="30" name="Rounded Rectangle 29"/>
          <p:cNvSpPr/>
          <p:nvPr/>
        </p:nvSpPr>
        <p:spPr>
          <a:xfrm>
            <a:off x="457200" y="6126480"/>
            <a:ext cx="11247120" cy="365760"/>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6144768"/>
            <a:ext cx="11247120" cy="365760"/>
          </a:xfrm>
          <a:prstGeom prst="rect">
            <a:avLst/>
          </a:prstGeom>
          <a:noFill/>
        </p:spPr>
        <p:txBody>
          <a:bodyPr wrap="square" lIns="45720" rIns="45720" tIns="18288" bIns="18288" anchor="ctr">
            <a:spAutoFit/>
          </a:bodyPr>
          <a:lstStyle/>
          <a:p>
            <a:pPr algn="ctr"/>
            <a:r>
              <a:rPr sz="1200" b="1" i="0">
                <a:solidFill>
                  <a:srgbClr val="FFFFFF"/>
                </a:solidFill>
                <a:latin typeface="Calibri"/>
              </a:rPr>
              <a:t>Règle GR46 : on-prem pour les services critiques · cloud off-site pour bonus DR + observabilité</a:t>
            </a:r>
          </a:p>
        </p:txBody>
      </p:sp>
      <p:sp>
        <p:nvSpPr>
          <p:cNvPr id="32" name="TextBox 31"/>
          <p:cNvSpPr txBox="1"/>
          <p:nvPr/>
        </p:nvSpPr>
        <p:spPr>
          <a:xfrm>
            <a:off x="457200" y="6446520"/>
            <a:ext cx="5486400" cy="320040"/>
          </a:xfrm>
          <a:prstGeom prst="rect">
            <a:avLst/>
          </a:prstGeom>
          <a:noFill/>
        </p:spPr>
        <p:txBody>
          <a:bodyPr wrap="square" lIns="45720" rIns="45720" tIns="18288" bIns="18288" anchor="t">
            <a:spAutoFit/>
          </a:bodyPr>
          <a:lstStyle/>
          <a:p>
            <a:pPr algn="l"/>
            <a:r>
              <a:rPr sz="900" b="0" i="0">
                <a:solidFill>
                  <a:srgbClr val="64748B"/>
                </a:solidFill>
                <a:latin typeface="Calibri"/>
              </a:rPr>
              <a:t>CIA · Hybrid Infrastructure · GR46</a:t>
            </a:r>
          </a:p>
        </p:txBody>
      </p:sp>
      <p:sp>
        <p:nvSpPr>
          <p:cNvPr id="33" name="TextBox 32"/>
          <p:cNvSpPr txBox="1"/>
          <p:nvPr/>
        </p:nvSpPr>
        <p:spPr>
          <a:xfrm>
            <a:off x="10515600" y="6446520"/>
            <a:ext cx="1188720" cy="320040"/>
          </a:xfrm>
          <a:prstGeom prst="rect">
            <a:avLst/>
          </a:prstGeom>
          <a:noFill/>
        </p:spPr>
        <p:txBody>
          <a:bodyPr wrap="square" lIns="45720" rIns="45720" tIns="18288" bIns="18288" anchor="t">
            <a:spAutoFit/>
          </a:bodyPr>
          <a:lstStyle/>
          <a:p>
            <a:pPr algn="r"/>
            <a:r>
              <a:rPr sz="900" b="0" i="0">
                <a:solidFill>
                  <a:srgbClr val="64748B"/>
                </a:solidFill>
                <a:latin typeface="Calibri"/>
              </a:rPr>
              <a:t>14 / 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972800" cy="640080"/>
          </a:xfrm>
          <a:prstGeom prst="rect">
            <a:avLst/>
          </a:prstGeom>
          <a:noFill/>
        </p:spPr>
        <p:txBody>
          <a:bodyPr wrap="square" lIns="45720" rIns="45720" tIns="18288" bIns="18288" anchor="t">
            <a:spAutoFit/>
          </a:bodyPr>
          <a:lstStyle/>
          <a:p>
            <a:pPr algn="l"/>
            <a:r>
              <a:rPr sz="4000" b="1" i="0">
                <a:solidFill>
                  <a:srgbClr val="FFFFFF"/>
                </a:solidFill>
                <a:latin typeface="Trebuchet MS"/>
              </a:rPr>
              <a:t>Bilan &amp; ouverture</a:t>
            </a:r>
          </a:p>
        </p:txBody>
      </p:sp>
      <p:sp>
        <p:nvSpPr>
          <p:cNvPr id="4" name="TextBox 3"/>
          <p:cNvSpPr txBox="1"/>
          <p:nvPr/>
        </p:nvSpPr>
        <p:spPr>
          <a:xfrm>
            <a:off x="640080" y="1051560"/>
            <a:ext cx="10972800" cy="457200"/>
          </a:xfrm>
          <a:prstGeom prst="rect">
            <a:avLst/>
          </a:prstGeom>
          <a:noFill/>
        </p:spPr>
        <p:txBody>
          <a:bodyPr wrap="square" lIns="45720" rIns="45720" tIns="18288" bIns="18288" anchor="t">
            <a:spAutoFit/>
          </a:bodyPr>
          <a:lstStyle/>
          <a:p>
            <a:pPr algn="l"/>
            <a:r>
              <a:rPr sz="1400" b="0" i="1">
                <a:solidFill>
                  <a:srgbClr val="CADCFC"/>
                </a:solidFill>
                <a:latin typeface="Calibri"/>
              </a:rPr>
              <a:t>Ce qui marche · ce qui a coincé · ce qu'on ferait différemment</a:t>
            </a:r>
          </a:p>
        </p:txBody>
      </p:sp>
      <p:sp>
        <p:nvSpPr>
          <p:cNvPr id="5" name="Rounded Rectangle 4"/>
          <p:cNvSpPr/>
          <p:nvPr/>
        </p:nvSpPr>
        <p:spPr>
          <a:xfrm>
            <a:off x="457200" y="1828800"/>
            <a:ext cx="3657600" cy="4114800"/>
          </a:xfrm>
          <a:prstGeom prst="roundRect">
            <a:avLst/>
          </a:prstGeom>
          <a:solidFill>
            <a:srgbClr val="101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 y="1828800"/>
            <a:ext cx="3657600" cy="548640"/>
          </a:xfrm>
          <a:prstGeom prst="round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920240"/>
            <a:ext cx="3657600" cy="365760"/>
          </a:xfrm>
          <a:prstGeom prst="rect">
            <a:avLst/>
          </a:prstGeom>
          <a:noFill/>
        </p:spPr>
        <p:txBody>
          <a:bodyPr wrap="square" lIns="45720" rIns="45720" tIns="18288" bIns="18288" anchor="t">
            <a:spAutoFit/>
          </a:bodyPr>
          <a:lstStyle/>
          <a:p>
            <a:pPr algn="ctr"/>
            <a:r>
              <a:rPr sz="1800" b="1" i="0">
                <a:solidFill>
                  <a:srgbClr val="FFFFFF"/>
                </a:solidFill>
                <a:latin typeface="Trebuchet MS"/>
              </a:rPr>
              <a:t>WINS</a:t>
            </a:r>
          </a:p>
        </p:txBody>
      </p:sp>
      <p:sp>
        <p:nvSpPr>
          <p:cNvPr id="8" name="TextBox 7"/>
          <p:cNvSpPr txBox="1"/>
          <p:nvPr/>
        </p:nvSpPr>
        <p:spPr>
          <a:xfrm>
            <a:off x="731520" y="2651760"/>
            <a:ext cx="3200400" cy="274320"/>
          </a:xfrm>
          <a:prstGeom prst="rect">
            <a:avLst/>
          </a:prstGeom>
          <a:noFill/>
        </p:spPr>
        <p:txBody>
          <a:bodyPr wrap="square" lIns="45720" rIns="45720" tIns="18288" bIns="18288" anchor="t">
            <a:spAutoFit/>
          </a:bodyPr>
          <a:lstStyle/>
          <a:p>
            <a:pPr algn="l"/>
            <a:r>
              <a:rPr sz="1200" b="1" i="0">
                <a:solidFill>
                  <a:srgbClr val="38BDF8"/>
                </a:solidFill>
                <a:latin typeface="Calibri"/>
              </a:rPr>
              <a:t>GitOps marche</a:t>
            </a:r>
          </a:p>
        </p:txBody>
      </p:sp>
      <p:sp>
        <p:nvSpPr>
          <p:cNvPr id="9" name="TextBox 8"/>
          <p:cNvSpPr txBox="1"/>
          <p:nvPr/>
        </p:nvSpPr>
        <p:spPr>
          <a:xfrm>
            <a:off x="731520" y="2926080"/>
            <a:ext cx="3200400" cy="502920"/>
          </a:xfrm>
          <a:prstGeom prst="rect">
            <a:avLst/>
          </a:prstGeom>
          <a:noFill/>
        </p:spPr>
        <p:txBody>
          <a:bodyPr wrap="square" lIns="45720" rIns="45720" tIns="18288" bIns="18288" anchor="t">
            <a:spAutoFit/>
          </a:bodyPr>
          <a:lstStyle/>
          <a:p>
            <a:pPr algn="l"/>
            <a:r>
              <a:rPr sz="900" b="0" i="1">
                <a:solidFill>
                  <a:srgbClr val="CADCFC"/>
                </a:solidFill>
                <a:latin typeface="Calibri"/>
              </a:rPr>
              <a:t>Migration dev nested → école sans réécriture, juste 3 fichiers (tfvars, inv, secrets)</a:t>
            </a:r>
          </a:p>
        </p:txBody>
      </p:sp>
      <p:sp>
        <p:nvSpPr>
          <p:cNvPr id="10" name="TextBox 9"/>
          <p:cNvSpPr txBox="1"/>
          <p:nvPr/>
        </p:nvSpPr>
        <p:spPr>
          <a:xfrm>
            <a:off x="731520" y="3474720"/>
            <a:ext cx="3200400" cy="274320"/>
          </a:xfrm>
          <a:prstGeom prst="rect">
            <a:avLst/>
          </a:prstGeom>
          <a:noFill/>
        </p:spPr>
        <p:txBody>
          <a:bodyPr wrap="square" lIns="45720" rIns="45720" tIns="18288" bIns="18288" anchor="t">
            <a:spAutoFit/>
          </a:bodyPr>
          <a:lstStyle/>
          <a:p>
            <a:pPr algn="l"/>
            <a:r>
              <a:rPr sz="1200" b="1" i="0">
                <a:solidFill>
                  <a:srgbClr val="38BDF8"/>
                </a:solidFill>
                <a:latin typeface="Calibri"/>
              </a:rPr>
              <a:t>Obs runtime live</a:t>
            </a:r>
          </a:p>
        </p:txBody>
      </p:sp>
      <p:sp>
        <p:nvSpPr>
          <p:cNvPr id="11" name="TextBox 10"/>
          <p:cNvSpPr txBox="1"/>
          <p:nvPr/>
        </p:nvSpPr>
        <p:spPr>
          <a:xfrm>
            <a:off x="731520" y="3749040"/>
            <a:ext cx="3200400" cy="502920"/>
          </a:xfrm>
          <a:prstGeom prst="rect">
            <a:avLst/>
          </a:prstGeom>
          <a:noFill/>
        </p:spPr>
        <p:txBody>
          <a:bodyPr wrap="square" lIns="45720" rIns="45720" tIns="18288" bIns="18288" anchor="t">
            <a:spAutoFit/>
          </a:bodyPr>
          <a:lstStyle/>
          <a:p>
            <a:pPr algn="l"/>
            <a:r>
              <a:rPr sz="900" b="0" i="1">
                <a:solidFill>
                  <a:srgbClr val="CADCFC"/>
                </a:solidFill>
                <a:latin typeface="Calibri"/>
              </a:rPr>
              <a:t>Pipeline Filebeat → tunnel SSH → Logstash → ES → Kibana, 15k+ events réels</a:t>
            </a:r>
          </a:p>
        </p:txBody>
      </p:sp>
      <p:sp>
        <p:nvSpPr>
          <p:cNvPr id="12" name="TextBox 11"/>
          <p:cNvSpPr txBox="1"/>
          <p:nvPr/>
        </p:nvSpPr>
        <p:spPr>
          <a:xfrm>
            <a:off x="731520" y="4297680"/>
            <a:ext cx="3200400" cy="274320"/>
          </a:xfrm>
          <a:prstGeom prst="rect">
            <a:avLst/>
          </a:prstGeom>
          <a:noFill/>
        </p:spPr>
        <p:txBody>
          <a:bodyPr wrap="square" lIns="45720" rIns="45720" tIns="18288" bIns="18288" anchor="t">
            <a:spAutoFit/>
          </a:bodyPr>
          <a:lstStyle/>
          <a:p>
            <a:pPr algn="l"/>
            <a:r>
              <a:rPr sz="1200" b="1" i="0">
                <a:solidFill>
                  <a:srgbClr val="38BDF8"/>
                </a:solidFill>
                <a:latin typeface="Calibri"/>
              </a:rPr>
              <a:t>Alerting prouvé</a:t>
            </a:r>
          </a:p>
        </p:txBody>
      </p:sp>
      <p:sp>
        <p:nvSpPr>
          <p:cNvPr id="13" name="TextBox 12"/>
          <p:cNvSpPr txBox="1"/>
          <p:nvPr/>
        </p:nvSpPr>
        <p:spPr>
          <a:xfrm>
            <a:off x="731520" y="4572000"/>
            <a:ext cx="3200400" cy="502920"/>
          </a:xfrm>
          <a:prstGeom prst="rect">
            <a:avLst/>
          </a:prstGeom>
          <a:noFill/>
        </p:spPr>
        <p:txBody>
          <a:bodyPr wrap="square" lIns="45720" rIns="45720" tIns="18288" bIns="18288" anchor="t">
            <a:spAutoFit/>
          </a:bodyPr>
          <a:lstStyle/>
          <a:p>
            <a:pPr algn="l"/>
            <a:r>
              <a:rPr sz="900" b="0" i="1">
                <a:solidFill>
                  <a:srgbClr val="CADCFC"/>
                </a:solidFill>
                <a:latin typeface="Calibri"/>
              </a:rPr>
              <a:t>ALERT-SSH-FAIL-BURST déclenchée live, ALERT-FILEBEAT-HEARTBEAT déclenchée organiquement</a:t>
            </a:r>
          </a:p>
        </p:txBody>
      </p:sp>
      <p:sp>
        <p:nvSpPr>
          <p:cNvPr id="14" name="TextBox 13"/>
          <p:cNvSpPr txBox="1"/>
          <p:nvPr/>
        </p:nvSpPr>
        <p:spPr>
          <a:xfrm>
            <a:off x="731520" y="5120640"/>
            <a:ext cx="3200400" cy="274320"/>
          </a:xfrm>
          <a:prstGeom prst="rect">
            <a:avLst/>
          </a:prstGeom>
          <a:noFill/>
        </p:spPr>
        <p:txBody>
          <a:bodyPr wrap="square" lIns="45720" rIns="45720" tIns="18288" bIns="18288" anchor="t">
            <a:spAutoFit/>
          </a:bodyPr>
          <a:lstStyle/>
          <a:p>
            <a:pPr algn="l"/>
            <a:r>
              <a:rPr sz="1200" b="1" i="0">
                <a:solidFill>
                  <a:srgbClr val="38BDF8"/>
                </a:solidFill>
                <a:latin typeface="Calibri"/>
              </a:rPr>
              <a:t>Defense in depth</a:t>
            </a:r>
          </a:p>
        </p:txBody>
      </p:sp>
      <p:sp>
        <p:nvSpPr>
          <p:cNvPr id="15" name="TextBox 14"/>
          <p:cNvSpPr txBox="1"/>
          <p:nvPr/>
        </p:nvSpPr>
        <p:spPr>
          <a:xfrm>
            <a:off x="731520" y="5394960"/>
            <a:ext cx="3200400" cy="502920"/>
          </a:xfrm>
          <a:prstGeom prst="rect">
            <a:avLst/>
          </a:prstGeom>
          <a:noFill/>
        </p:spPr>
        <p:txBody>
          <a:bodyPr wrap="square" lIns="45720" rIns="45720" tIns="18288" bIns="18288" anchor="t">
            <a:spAutoFit/>
          </a:bodyPr>
          <a:lstStyle/>
          <a:p>
            <a:pPr algn="l"/>
            <a:r>
              <a:rPr sz="900" b="0" i="1">
                <a:solidFill>
                  <a:srgbClr val="CADCFC"/>
                </a:solidFill>
                <a:latin typeface="Calibri"/>
              </a:rPr>
              <a:t>Bastion MFA + sshd Match user + SOPS+age + killswitch — 4 couches étanches</a:t>
            </a:r>
          </a:p>
        </p:txBody>
      </p:sp>
      <p:sp>
        <p:nvSpPr>
          <p:cNvPr id="16" name="Rounded Rectangle 15"/>
          <p:cNvSpPr/>
          <p:nvPr/>
        </p:nvSpPr>
        <p:spPr>
          <a:xfrm>
            <a:off x="4297680" y="1828800"/>
            <a:ext cx="3657600" cy="4114800"/>
          </a:xfrm>
          <a:prstGeom prst="roundRect">
            <a:avLst/>
          </a:prstGeom>
          <a:solidFill>
            <a:srgbClr val="101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297680" y="1828800"/>
            <a:ext cx="3657600" cy="54864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97680" y="1920240"/>
            <a:ext cx="3657600" cy="365760"/>
          </a:xfrm>
          <a:prstGeom prst="rect">
            <a:avLst/>
          </a:prstGeom>
          <a:noFill/>
        </p:spPr>
        <p:txBody>
          <a:bodyPr wrap="square" lIns="45720" rIns="45720" tIns="18288" bIns="18288" anchor="t">
            <a:spAutoFit/>
          </a:bodyPr>
          <a:lstStyle/>
          <a:p>
            <a:pPr algn="ctr"/>
            <a:r>
              <a:rPr sz="1800" b="1" i="0">
                <a:solidFill>
                  <a:srgbClr val="FFFFFF"/>
                </a:solidFill>
                <a:latin typeface="Trebuchet MS"/>
              </a:rPr>
              <a:t>COINCES</a:t>
            </a:r>
          </a:p>
        </p:txBody>
      </p:sp>
      <p:sp>
        <p:nvSpPr>
          <p:cNvPr id="19" name="TextBox 18"/>
          <p:cNvSpPr txBox="1"/>
          <p:nvPr/>
        </p:nvSpPr>
        <p:spPr>
          <a:xfrm>
            <a:off x="4572000" y="2651760"/>
            <a:ext cx="3200400" cy="274320"/>
          </a:xfrm>
          <a:prstGeom prst="rect">
            <a:avLst/>
          </a:prstGeom>
          <a:noFill/>
        </p:spPr>
        <p:txBody>
          <a:bodyPr wrap="square" lIns="45720" rIns="45720" tIns="18288" bIns="18288" anchor="t">
            <a:spAutoFit/>
          </a:bodyPr>
          <a:lstStyle/>
          <a:p>
            <a:pPr algn="l"/>
            <a:r>
              <a:rPr sz="1200" b="1" i="0">
                <a:solidFill>
                  <a:srgbClr val="38BDF8"/>
                </a:solidFill>
                <a:latin typeface="Calibri"/>
              </a:rPr>
              <a:t>Nested virt VMware</a:t>
            </a:r>
          </a:p>
        </p:txBody>
      </p:sp>
      <p:sp>
        <p:nvSpPr>
          <p:cNvPr id="20" name="TextBox 19"/>
          <p:cNvSpPr txBox="1"/>
          <p:nvPr/>
        </p:nvSpPr>
        <p:spPr>
          <a:xfrm>
            <a:off x="4572000" y="2926080"/>
            <a:ext cx="3200400" cy="502920"/>
          </a:xfrm>
          <a:prstGeom prst="rect">
            <a:avLst/>
          </a:prstGeom>
          <a:noFill/>
        </p:spPr>
        <p:txBody>
          <a:bodyPr wrap="square" lIns="45720" rIns="45720" tIns="18288" bIns="18288" anchor="t">
            <a:spAutoFit/>
          </a:bodyPr>
          <a:lstStyle/>
          <a:p>
            <a:pPr algn="l"/>
            <a:r>
              <a:rPr sz="900" b="0" i="1">
                <a:solidFill>
                  <a:srgbClr val="CADCFC"/>
                </a:solidFill>
                <a:latin typeface="Calibri"/>
              </a:rPr>
              <a:t>VT-x à débloquer côté BIOS + Hyper-V → 2 jours perdus</a:t>
            </a:r>
          </a:p>
        </p:txBody>
      </p:sp>
      <p:sp>
        <p:nvSpPr>
          <p:cNvPr id="21" name="TextBox 20"/>
          <p:cNvSpPr txBox="1"/>
          <p:nvPr/>
        </p:nvSpPr>
        <p:spPr>
          <a:xfrm>
            <a:off x="4572000" y="3474720"/>
            <a:ext cx="3200400" cy="274320"/>
          </a:xfrm>
          <a:prstGeom prst="rect">
            <a:avLst/>
          </a:prstGeom>
          <a:noFill/>
        </p:spPr>
        <p:txBody>
          <a:bodyPr wrap="square" lIns="45720" rIns="45720" tIns="18288" bIns="18288" anchor="t">
            <a:spAutoFit/>
          </a:bodyPr>
          <a:lstStyle/>
          <a:p>
            <a:pPr algn="l"/>
            <a:r>
              <a:rPr sz="1200" b="1" i="0">
                <a:solidFill>
                  <a:srgbClr val="38BDF8"/>
                </a:solidFill>
                <a:latin typeface="Calibri"/>
              </a:rPr>
              <a:t>API pfSense</a:t>
            </a:r>
          </a:p>
        </p:txBody>
      </p:sp>
      <p:sp>
        <p:nvSpPr>
          <p:cNvPr id="22" name="TextBox 21"/>
          <p:cNvSpPr txBox="1"/>
          <p:nvPr/>
        </p:nvSpPr>
        <p:spPr>
          <a:xfrm>
            <a:off x="4572000" y="3749040"/>
            <a:ext cx="3200400" cy="502920"/>
          </a:xfrm>
          <a:prstGeom prst="rect">
            <a:avLst/>
          </a:prstGeom>
          <a:noFill/>
        </p:spPr>
        <p:txBody>
          <a:bodyPr wrap="square" lIns="45720" rIns="45720" tIns="18288" bIns="18288" anchor="t">
            <a:spAutoFit/>
          </a:bodyPr>
          <a:lstStyle/>
          <a:p>
            <a:pPr algn="l"/>
            <a:r>
              <a:rPr sz="900" b="0" i="1">
                <a:solidFill>
                  <a:srgbClr val="CADCFC"/>
                </a:solidFill>
                <a:latin typeface="Calibri"/>
              </a:rPr>
              <a:t>courbe d'apprentissage (auth, XML structure, reload semantics)</a:t>
            </a:r>
          </a:p>
        </p:txBody>
      </p:sp>
      <p:sp>
        <p:nvSpPr>
          <p:cNvPr id="23" name="TextBox 22"/>
          <p:cNvSpPr txBox="1"/>
          <p:nvPr/>
        </p:nvSpPr>
        <p:spPr>
          <a:xfrm>
            <a:off x="4572000" y="4297680"/>
            <a:ext cx="3200400" cy="274320"/>
          </a:xfrm>
          <a:prstGeom prst="rect">
            <a:avLst/>
          </a:prstGeom>
          <a:noFill/>
        </p:spPr>
        <p:txBody>
          <a:bodyPr wrap="square" lIns="45720" rIns="45720" tIns="18288" bIns="18288" anchor="t">
            <a:spAutoFit/>
          </a:bodyPr>
          <a:lstStyle/>
          <a:p>
            <a:pPr algn="l"/>
            <a:r>
              <a:rPr sz="1200" b="1" i="0">
                <a:solidFill>
                  <a:srgbClr val="38BDF8"/>
                </a:solidFill>
                <a:latin typeface="Calibri"/>
              </a:rPr>
              <a:t>Disk full services-s2</a:t>
            </a:r>
          </a:p>
        </p:txBody>
      </p:sp>
      <p:sp>
        <p:nvSpPr>
          <p:cNvPr id="24" name="TextBox 23"/>
          <p:cNvSpPr txBox="1"/>
          <p:nvPr/>
        </p:nvSpPr>
        <p:spPr>
          <a:xfrm>
            <a:off x="4572000" y="4572000"/>
            <a:ext cx="3200400" cy="502920"/>
          </a:xfrm>
          <a:prstGeom prst="rect">
            <a:avLst/>
          </a:prstGeom>
          <a:noFill/>
        </p:spPr>
        <p:txBody>
          <a:bodyPr wrap="square" lIns="45720" rIns="45720" tIns="18288" bIns="18288" anchor="t">
            <a:spAutoFit/>
          </a:bodyPr>
          <a:lstStyle/>
          <a:p>
            <a:pPr algn="l"/>
            <a:r>
              <a:rPr sz="900" b="0" i="1">
                <a:solidFill>
                  <a:srgbClr val="CADCFC"/>
                </a:solidFill>
                <a:latin typeface="Calibri"/>
              </a:rPr>
              <a:t>qm resize bloqué par permissions école → bastion en dual-duty</a:t>
            </a:r>
          </a:p>
        </p:txBody>
      </p:sp>
      <p:sp>
        <p:nvSpPr>
          <p:cNvPr id="25" name="TextBox 24"/>
          <p:cNvSpPr txBox="1"/>
          <p:nvPr/>
        </p:nvSpPr>
        <p:spPr>
          <a:xfrm>
            <a:off x="4572000" y="5120640"/>
            <a:ext cx="3200400" cy="274320"/>
          </a:xfrm>
          <a:prstGeom prst="rect">
            <a:avLst/>
          </a:prstGeom>
          <a:noFill/>
        </p:spPr>
        <p:txBody>
          <a:bodyPr wrap="square" lIns="45720" rIns="45720" tIns="18288" bIns="18288" anchor="t">
            <a:spAutoFit/>
          </a:bodyPr>
          <a:lstStyle/>
          <a:p>
            <a:pPr algn="l"/>
            <a:r>
              <a:rPr sz="1200" b="1" i="0">
                <a:solidFill>
                  <a:srgbClr val="38BDF8"/>
                </a:solidFill>
                <a:latin typeface="Calibri"/>
              </a:rPr>
              <a:t>Capacity Azure Students</a:t>
            </a:r>
          </a:p>
        </p:txBody>
      </p:sp>
      <p:sp>
        <p:nvSpPr>
          <p:cNvPr id="26" name="TextBox 25"/>
          <p:cNvSpPr txBox="1"/>
          <p:nvPr/>
        </p:nvSpPr>
        <p:spPr>
          <a:xfrm>
            <a:off x="4572000" y="5394960"/>
            <a:ext cx="3200400" cy="502920"/>
          </a:xfrm>
          <a:prstGeom prst="rect">
            <a:avLst/>
          </a:prstGeom>
          <a:noFill/>
        </p:spPr>
        <p:txBody>
          <a:bodyPr wrap="square" lIns="45720" rIns="45720" tIns="18288" bIns="18288" anchor="t">
            <a:spAutoFit/>
          </a:bodyPr>
          <a:lstStyle/>
          <a:p>
            <a:pPr algn="l"/>
            <a:r>
              <a:rPr sz="900" b="0" i="1">
                <a:solidFill>
                  <a:srgbClr val="CADCFC"/>
                </a:solidFill>
                <a:latin typeface="Calibri"/>
              </a:rPr>
              <a:t>8 SKU × 3 régions testés, pénurie B-series globale ce week-end</a:t>
            </a:r>
          </a:p>
        </p:txBody>
      </p:sp>
      <p:sp>
        <p:nvSpPr>
          <p:cNvPr id="27" name="Rounded Rectangle 26"/>
          <p:cNvSpPr/>
          <p:nvPr/>
        </p:nvSpPr>
        <p:spPr>
          <a:xfrm>
            <a:off x="8138160" y="1828800"/>
            <a:ext cx="3657600" cy="4114800"/>
          </a:xfrm>
          <a:prstGeom prst="roundRect">
            <a:avLst/>
          </a:prstGeom>
          <a:solidFill>
            <a:srgbClr val="101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138160" y="1828800"/>
            <a:ext cx="3657600" cy="548640"/>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138160" y="1920240"/>
            <a:ext cx="3657600" cy="365760"/>
          </a:xfrm>
          <a:prstGeom prst="rect">
            <a:avLst/>
          </a:prstGeom>
          <a:noFill/>
        </p:spPr>
        <p:txBody>
          <a:bodyPr wrap="square" lIns="45720" rIns="45720" tIns="18288" bIns="18288" anchor="t">
            <a:spAutoFit/>
          </a:bodyPr>
          <a:lstStyle/>
          <a:p>
            <a:pPr algn="ctr"/>
            <a:r>
              <a:rPr sz="1800" b="1" i="0">
                <a:solidFill>
                  <a:srgbClr val="FFFFFF"/>
                </a:solidFill>
                <a:latin typeface="Trebuchet MS"/>
              </a:rPr>
              <a:t>FUTURE WORK</a:t>
            </a:r>
          </a:p>
        </p:txBody>
      </p:sp>
      <p:sp>
        <p:nvSpPr>
          <p:cNvPr id="30" name="TextBox 29"/>
          <p:cNvSpPr txBox="1"/>
          <p:nvPr/>
        </p:nvSpPr>
        <p:spPr>
          <a:xfrm>
            <a:off x="8412480" y="2651760"/>
            <a:ext cx="3200400" cy="274320"/>
          </a:xfrm>
          <a:prstGeom prst="rect">
            <a:avLst/>
          </a:prstGeom>
          <a:noFill/>
        </p:spPr>
        <p:txBody>
          <a:bodyPr wrap="square" lIns="45720" rIns="45720" tIns="18288" bIns="18288" anchor="t">
            <a:spAutoFit/>
          </a:bodyPr>
          <a:lstStyle/>
          <a:p>
            <a:pPr algn="l"/>
            <a:r>
              <a:rPr sz="1200" b="1" i="0">
                <a:solidFill>
                  <a:srgbClr val="38BDF8"/>
                </a:solidFill>
                <a:latin typeface="Calibri"/>
              </a:rPr>
              <a:t>Multi-site horizontal</a:t>
            </a:r>
          </a:p>
        </p:txBody>
      </p:sp>
      <p:sp>
        <p:nvSpPr>
          <p:cNvPr id="31" name="TextBox 30"/>
          <p:cNvSpPr txBox="1"/>
          <p:nvPr/>
        </p:nvSpPr>
        <p:spPr>
          <a:xfrm>
            <a:off x="8412480" y="2926080"/>
            <a:ext cx="3200400" cy="502920"/>
          </a:xfrm>
          <a:prstGeom prst="rect">
            <a:avLst/>
          </a:prstGeom>
          <a:noFill/>
        </p:spPr>
        <p:txBody>
          <a:bodyPr wrap="square" lIns="45720" rIns="45720" tIns="18288" bIns="18288" anchor="t">
            <a:spAutoFit/>
          </a:bodyPr>
          <a:lstStyle/>
          <a:p>
            <a:pPr algn="l"/>
            <a:r>
              <a:rPr sz="900" b="0" i="1">
                <a:solidFill>
                  <a:srgbClr val="CADCFC"/>
                </a:solidFill>
                <a:latin typeface="Calibri"/>
              </a:rPr>
              <a:t>Site C-D en cascade via golden path, quota Azure obtenu</a:t>
            </a:r>
          </a:p>
        </p:txBody>
      </p:sp>
      <p:sp>
        <p:nvSpPr>
          <p:cNvPr id="32" name="TextBox 31"/>
          <p:cNvSpPr txBox="1"/>
          <p:nvPr/>
        </p:nvSpPr>
        <p:spPr>
          <a:xfrm>
            <a:off x="8412480" y="3474720"/>
            <a:ext cx="3200400" cy="274320"/>
          </a:xfrm>
          <a:prstGeom prst="rect">
            <a:avLst/>
          </a:prstGeom>
          <a:noFill/>
        </p:spPr>
        <p:txBody>
          <a:bodyPr wrap="square" lIns="45720" rIns="45720" tIns="18288" bIns="18288" anchor="t">
            <a:spAutoFit/>
          </a:bodyPr>
          <a:lstStyle/>
          <a:p>
            <a:pPr algn="l"/>
            <a:r>
              <a:rPr sz="1200" b="1" i="0">
                <a:solidFill>
                  <a:srgbClr val="38BDF8"/>
                </a:solidFill>
                <a:latin typeface="Calibri"/>
              </a:rPr>
              <a:t>OpenTofu migration</a:t>
            </a:r>
          </a:p>
        </p:txBody>
      </p:sp>
      <p:sp>
        <p:nvSpPr>
          <p:cNvPr id="33" name="TextBox 32"/>
          <p:cNvSpPr txBox="1"/>
          <p:nvPr/>
        </p:nvSpPr>
        <p:spPr>
          <a:xfrm>
            <a:off x="8412480" y="3749040"/>
            <a:ext cx="3200400" cy="502920"/>
          </a:xfrm>
          <a:prstGeom prst="rect">
            <a:avLst/>
          </a:prstGeom>
          <a:noFill/>
        </p:spPr>
        <p:txBody>
          <a:bodyPr wrap="square" lIns="45720" rIns="45720" tIns="18288" bIns="18288" anchor="t">
            <a:spAutoFit/>
          </a:bodyPr>
          <a:lstStyle/>
          <a:p>
            <a:pPr algn="l"/>
            <a:r>
              <a:rPr sz="900" b="0" i="1">
                <a:solidFill>
                  <a:srgbClr val="CADCFC"/>
                </a:solidFill>
                <a:latin typeface="Calibri"/>
              </a:rPr>
              <a:t>Évaluer le fork open-source vs Terraform BSL</a:t>
            </a:r>
          </a:p>
        </p:txBody>
      </p:sp>
      <p:sp>
        <p:nvSpPr>
          <p:cNvPr id="34" name="TextBox 33"/>
          <p:cNvSpPr txBox="1"/>
          <p:nvPr/>
        </p:nvSpPr>
        <p:spPr>
          <a:xfrm>
            <a:off x="8412480" y="4297680"/>
            <a:ext cx="3200400" cy="274320"/>
          </a:xfrm>
          <a:prstGeom prst="rect">
            <a:avLst/>
          </a:prstGeom>
          <a:noFill/>
        </p:spPr>
        <p:txBody>
          <a:bodyPr wrap="square" lIns="45720" rIns="45720" tIns="18288" bIns="18288" anchor="t">
            <a:spAutoFit/>
          </a:bodyPr>
          <a:lstStyle/>
          <a:p>
            <a:pPr algn="l"/>
            <a:r>
              <a:rPr sz="1200" b="1" i="0">
                <a:solidFill>
                  <a:srgbClr val="38BDF8"/>
                </a:solidFill>
                <a:latin typeface="Calibri"/>
              </a:rPr>
              <a:t>Behavioral detection</a:t>
            </a:r>
          </a:p>
        </p:txBody>
      </p:sp>
      <p:sp>
        <p:nvSpPr>
          <p:cNvPr id="35" name="TextBox 34"/>
          <p:cNvSpPr txBox="1"/>
          <p:nvPr/>
        </p:nvSpPr>
        <p:spPr>
          <a:xfrm>
            <a:off x="8412480" y="4572000"/>
            <a:ext cx="3200400" cy="502920"/>
          </a:xfrm>
          <a:prstGeom prst="rect">
            <a:avLst/>
          </a:prstGeom>
          <a:noFill/>
        </p:spPr>
        <p:txBody>
          <a:bodyPr wrap="square" lIns="45720" rIns="45720" tIns="18288" bIns="18288" anchor="t">
            <a:spAutoFit/>
          </a:bodyPr>
          <a:lstStyle/>
          <a:p>
            <a:pPr algn="l"/>
            <a:r>
              <a:rPr sz="900" b="0" i="1">
                <a:solidFill>
                  <a:srgbClr val="CADCFC"/>
                </a:solidFill>
                <a:latin typeface="Calibri"/>
              </a:rPr>
              <a:t>ML jobs Elastic + corrélation cross-host (bonus v3)</a:t>
            </a:r>
          </a:p>
        </p:txBody>
      </p:sp>
      <p:sp>
        <p:nvSpPr>
          <p:cNvPr id="36" name="TextBox 35"/>
          <p:cNvSpPr txBox="1"/>
          <p:nvPr/>
        </p:nvSpPr>
        <p:spPr>
          <a:xfrm>
            <a:off x="8412480" y="5120640"/>
            <a:ext cx="3200400" cy="274320"/>
          </a:xfrm>
          <a:prstGeom prst="rect">
            <a:avLst/>
          </a:prstGeom>
          <a:noFill/>
        </p:spPr>
        <p:txBody>
          <a:bodyPr wrap="square" lIns="45720" rIns="45720" tIns="18288" bIns="18288" anchor="t">
            <a:spAutoFit/>
          </a:bodyPr>
          <a:lstStyle/>
          <a:p>
            <a:pPr algn="l"/>
            <a:r>
              <a:rPr sz="1200" b="1" i="0">
                <a:solidFill>
                  <a:srgbClr val="38BDF8"/>
                </a:solidFill>
                <a:latin typeface="Calibri"/>
              </a:rPr>
              <a:t>Slack/Webhook connector</a:t>
            </a:r>
          </a:p>
        </p:txBody>
      </p:sp>
      <p:sp>
        <p:nvSpPr>
          <p:cNvPr id="37" name="TextBox 36"/>
          <p:cNvSpPr txBox="1"/>
          <p:nvPr/>
        </p:nvSpPr>
        <p:spPr>
          <a:xfrm>
            <a:off x="8412480" y="5394960"/>
            <a:ext cx="3200400" cy="502920"/>
          </a:xfrm>
          <a:prstGeom prst="rect">
            <a:avLst/>
          </a:prstGeom>
          <a:noFill/>
        </p:spPr>
        <p:txBody>
          <a:bodyPr wrap="square" lIns="45720" rIns="45720" tIns="18288" bIns="18288" anchor="t">
            <a:spAutoFit/>
          </a:bodyPr>
          <a:lstStyle/>
          <a:p>
            <a:pPr algn="l"/>
            <a:r>
              <a:rPr sz="900" b="0" i="1">
                <a:solidFill>
                  <a:srgbClr val="CADCFC"/>
                </a:solidFill>
                <a:latin typeface="Calibri"/>
              </a:rPr>
              <a:t>Remplacer Server log par notif externe en prod</a:t>
            </a:r>
          </a:p>
        </p:txBody>
      </p:sp>
      <p:sp>
        <p:nvSpPr>
          <p:cNvPr id="38" name="Rectangle 37"/>
          <p:cNvSpPr/>
          <p:nvPr/>
        </p:nvSpPr>
        <p:spPr>
          <a:xfrm>
            <a:off x="640080" y="6263640"/>
            <a:ext cx="10881360"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080" y="6355080"/>
            <a:ext cx="5486400" cy="365760"/>
          </a:xfrm>
          <a:prstGeom prst="rect">
            <a:avLst/>
          </a:prstGeom>
          <a:noFill/>
        </p:spPr>
        <p:txBody>
          <a:bodyPr wrap="square" lIns="45720" rIns="45720" tIns="18288" bIns="18288" anchor="t">
            <a:spAutoFit/>
          </a:bodyPr>
          <a:lstStyle/>
          <a:p>
            <a:pPr algn="l"/>
            <a:r>
              <a:rPr sz="1400" b="1" i="0">
                <a:solidFill>
                  <a:srgbClr val="FFFFFF"/>
                </a:solidFill>
                <a:latin typeface="Calibri"/>
              </a:rPr>
              <a:t>Merci · Q&amp;R 10 min</a:t>
            </a:r>
          </a:p>
        </p:txBody>
      </p:sp>
      <p:sp>
        <p:nvSpPr>
          <p:cNvPr id="40" name="TextBox 39"/>
          <p:cNvSpPr txBox="1"/>
          <p:nvPr/>
        </p:nvSpPr>
        <p:spPr>
          <a:xfrm>
            <a:off x="6400800" y="6355080"/>
            <a:ext cx="5120640" cy="365760"/>
          </a:xfrm>
          <a:prstGeom prst="rect">
            <a:avLst/>
          </a:prstGeom>
          <a:noFill/>
        </p:spPr>
        <p:txBody>
          <a:bodyPr wrap="square" lIns="45720" rIns="45720" tIns="18288" bIns="18288" anchor="t">
            <a:spAutoFit/>
          </a:bodyPr>
          <a:lstStyle/>
          <a:p>
            <a:pPr algn="r"/>
            <a:r>
              <a:rPr sz="1100" b="0" i="0">
                <a:solidFill>
                  <a:srgbClr val="CADCFC"/>
                </a:solidFill>
                <a:latin typeface="Consolas"/>
              </a:rPr>
              <a:t>github.com/Desmondluz/hybrid-infra-proxmox-spe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